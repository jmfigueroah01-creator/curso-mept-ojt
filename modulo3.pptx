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3" r:id="rId2"/>
    <p:sldId id="266" r:id="rId3"/>
    <p:sldId id="267" r:id="rId4"/>
    <p:sldId id="302" r:id="rId5"/>
    <p:sldId id="291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2" r:id="rId18"/>
    <p:sldId id="295" r:id="rId19"/>
    <p:sldId id="296" r:id="rId20"/>
    <p:sldId id="297" r:id="rId21"/>
    <p:sldId id="298" r:id="rId22"/>
    <p:sldId id="299" r:id="rId23"/>
    <p:sldId id="300" r:id="rId24"/>
    <p:sldId id="301" r:id="rId25"/>
    <p:sldId id="290" r:id="rId2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2"/>
    <a:srgbClr val="0B3041"/>
    <a:srgbClr val="CCCCFF"/>
    <a:srgbClr val="BC9C16"/>
    <a:srgbClr val="E4CDAC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104" d="100"/>
          <a:sy n="104" d="100"/>
        </p:scale>
        <p:origin x="7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custSel addSld delSld modSld">
      <pc:chgData name="Jose Manuel Figueroa Hernandez" userId="c23fd2b0-07fd-455e-80a2-756e0be2378e" providerId="ADAL" clId="{19EAFD33-AF50-43D6-BF52-FC06C69CD06D}" dt="2026-09-23T23:56:02.138" v="1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23:55:23.468" v="0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23:55:24.949" v="1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23:55:26.261" v="2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23:55:27.252" v="3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23:55:28.179" v="4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23:55:29.777" v="5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23:55:30.653" v="6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23:55:45.488" v="8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23:55:45.488" v="8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23:55:48.932" v="9" actId="47"/>
        <pc:sldMkLst>
          <pc:docMk/>
          <pc:sldMk cId="0" sldId="264"/>
        </pc:sldMkLst>
      </pc:sldChg>
      <pc:sldChg chg="add del">
        <pc:chgData name="Jose Manuel Figueroa Hernandez" userId="c23fd2b0-07fd-455e-80a2-756e0be2378e" providerId="ADAL" clId="{19EAFD33-AF50-43D6-BF52-FC06C69CD06D}" dt="2026-09-23T23:56:02.138" v="12" actId="47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24/09/2026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7541" y="1734589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3</a:t>
            </a:r>
          </a:p>
          <a:p>
            <a:pPr algn="ctr">
              <a:spcAft>
                <a:spcPts val="800"/>
              </a:spcAft>
            </a:pP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Proceso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ejecución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959678"/>
            <a:ext cx="2739383" cy="27393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7040880" cy="34009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Imagina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alguien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dentro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un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año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Podría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saber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qué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hiciste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cuándo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Qué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demostraría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y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compárala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Proceso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en el puesto de trabajo con un sistema que garantice el adiestramiento continuo del IVA.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Todos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IVA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´s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 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deben realizar su 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OJT.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Plan,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5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años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impreso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digital.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2614"/>
            <a:ext cx="10424160" cy="664092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Código vigente: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P-DCIA-CPEPT-01-R04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(MEPT R06, numeral 5.3).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5.2, 5.3.3, 5.3.4 y 5.3.8.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51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26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Responsabilidades en el proceso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figura tiene una intervención definida en el proceso P-DCIA-CPEPT-01-R04: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Ejecutivo, de Área o Comandante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44368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Aprueba las gestiones para que los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 de su área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realicen su OJT.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28600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944368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Recibe el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reporte de acciones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en el Programa OJT.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28600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944368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las gestiones para la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programación OJT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Coord. de Programas para la Capacitación de Autoridades Aeronáuticas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36007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Recibe copia de los formatos OJT para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actualizar el expediente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cada 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3977639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 / IOJT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636007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y propone el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 de entrenamiento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lo ejecuta con el IVA aprendiz.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977639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636007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Realiza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 entrenamiento OJT.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760720"/>
            <a:ext cx="101041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Este proceso es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auditable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conforme al Manual de Aseguramiento de la Calidad del CIAAC.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760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5.2.2 y 5.3.5.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676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88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Esquema del proceso OJT</a:t>
            </a:r>
          </a:p>
        </p:txBody>
      </p:sp>
      <p:pic>
        <p:nvPicPr>
          <p:cNvPr id="3" name="Picture 2" descr="snake_roa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10663008" cy="4526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80172" y="1691903"/>
            <a:ext cx="1373580" cy="1007293"/>
          </a:xfrm>
          <a:prstGeom prst="roundRect">
            <a:avLst>
              <a:gd name="adj" fmla="val 12000"/>
            </a:avLst>
          </a:prstGeom>
          <a:solidFill>
            <a:srgbClr val="C8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7. Registro y evaluación del aprendiz en la plataforma electrónica.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5.1 (Infograma del proceso general OJT).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15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Las seis etapas del proceso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1. Ingreso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91724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informa quién aprobó el curso básico; la CPEPT registra y notifica.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752149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2. Plan individual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291724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ICOJT revisa funciones y tareas con el IOJT.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52149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3. Programación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291724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propone eventos por tarea y nivel; el ICOJT valida.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85934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4. Autorización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25509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titular del área autoriza y emite oficio de comisión.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785934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5. Entrenamiento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325509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 1 → registro → Nivel 2 → registro → Nivel 3 → registro.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785934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6. Expediente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325509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 íntegra al expediente e informe a la Dirección del CIAAC.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5.3.7 (TD-DCIA-CPEPT-01-R04, 25 pasos resumidos).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302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Y PLAZOS PARA LA INTEGRACIÓN DOCUMENTAL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Fase de entrenamiento: paso a paso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1051560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Si el IVA no se presenta: se notifica la justificación y el ICOJT reprograma.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5.4 (fase de entrenamiento del proceso P-DCIA-CPEPT-01-R04).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173736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Recibe la programación autorizada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697480" y="2011680"/>
            <a:ext cx="320040" cy="32918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063240" y="173736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 instruye la tarea y el nivel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212080" y="2011680"/>
            <a:ext cx="320040" cy="32918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77840" y="173736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 evalúa el desempeño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726679" y="2011680"/>
            <a:ext cx="320040" cy="32918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Diamond 29"/>
          <p:cNvSpPr/>
          <p:nvPr/>
        </p:nvSpPr>
        <p:spPr>
          <a:xfrm>
            <a:off x="8092440" y="1572768"/>
            <a:ext cx="1737360" cy="1188720"/>
          </a:xfrm>
          <a:prstGeom prst="diamond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¿Aprueba?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875520" y="2057400"/>
            <a:ext cx="365760" cy="274320"/>
          </a:xfrm>
          <a:prstGeom prst="rightArrow">
            <a:avLst/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80" y="1627632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1691640"/>
            <a:ext cx="1691640" cy="960120"/>
          </a:xfrm>
          <a:prstGeom prst="roundRect">
            <a:avLst>
              <a:gd name="adj" fmla="val 8000"/>
            </a:avLst>
          </a:prstGeom>
          <a:solidFill>
            <a:srgbClr val="F8ECEA"/>
          </a:solidFill>
          <a:ln w="15875">
            <a:solidFill>
              <a:srgbClr val="A3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Brechas y refuerzo; el ICOJT reprograma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61120" y="2761488"/>
            <a:ext cx="0" cy="365760"/>
          </a:xfrm>
          <a:prstGeom prst="line">
            <a:avLst/>
          </a:prstGeom>
          <a:ln w="31750">
            <a:solidFill>
              <a:srgbClr val="2F7A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600200" y="3127248"/>
            <a:ext cx="7360920" cy="0"/>
          </a:xfrm>
          <a:prstGeom prst="line">
            <a:avLst/>
          </a:prstGeom>
          <a:ln w="31750">
            <a:solidFill>
              <a:srgbClr val="2F7A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00200" y="3127248"/>
            <a:ext cx="0" cy="420624"/>
          </a:xfrm>
          <a:prstGeom prst="line">
            <a:avLst/>
          </a:prstGeom>
          <a:ln w="31750">
            <a:solidFill>
              <a:srgbClr val="2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052560" y="2724912"/>
            <a:ext cx="548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2F7A4D"/>
                </a:solidFill>
                <a:latin typeface="Montserrat SemiBold"/>
                <a:ea typeface="Montserrat SemiBold"/>
                <a:cs typeface="Montserrat SemiBold"/>
              </a:rPr>
              <a:t>Sí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IOJT llena, firma y registra en el Módulo OJT</a:t>
            </a:r>
          </a:p>
        </p:txBody>
      </p:sp>
      <p:sp>
        <p:nvSpPr>
          <p:cNvPr id="39" name="Oval 38"/>
          <p:cNvSpPr/>
          <p:nvPr/>
        </p:nvSpPr>
        <p:spPr>
          <a:xfrm>
            <a:off x="640080" y="3685032"/>
            <a:ext cx="329184" cy="329184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090672" y="4050791"/>
            <a:ext cx="301752" cy="310896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429000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IVA AP resguarda el original y envía copia al ICOJT</a:t>
            </a:r>
          </a:p>
        </p:txBody>
      </p:sp>
      <p:sp>
        <p:nvSpPr>
          <p:cNvPr id="42" name="Oval 41"/>
          <p:cNvSpPr/>
          <p:nvPr/>
        </p:nvSpPr>
        <p:spPr>
          <a:xfrm>
            <a:off x="3520440" y="3685032"/>
            <a:ext cx="329184" cy="329184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71031" y="4050791"/>
            <a:ext cx="301752" cy="310896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09359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ICOJT revisa y notifica a la CPEPT</a:t>
            </a:r>
          </a:p>
        </p:txBody>
      </p:sp>
      <p:sp>
        <p:nvSpPr>
          <p:cNvPr id="45" name="Oval 44"/>
          <p:cNvSpPr/>
          <p:nvPr/>
        </p:nvSpPr>
        <p:spPr>
          <a:xfrm>
            <a:off x="6400799" y="3685032"/>
            <a:ext cx="329184" cy="329184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851392" y="4050791"/>
            <a:ext cx="301752" cy="310896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189719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2F7A4D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 verifica y da seguimiento</a:t>
            </a:r>
          </a:p>
        </p:txBody>
      </p:sp>
      <p:sp>
        <p:nvSpPr>
          <p:cNvPr id="48" name="Oval 47"/>
          <p:cNvSpPr/>
          <p:nvPr/>
        </p:nvSpPr>
        <p:spPr>
          <a:xfrm>
            <a:off x="9281159" y="3685032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2F7A4D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97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89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86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78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475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67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214"/>
                            </p:stCondLst>
                            <p:childTnLst>
                              <p:par>
                                <p:cTn id="4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579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976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368"/>
                            </p:stCondLst>
                            <p:childTnLst>
                              <p:par>
                                <p:cTn id="6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715"/>
                            </p:stCondLst>
                            <p:childTnLst>
                              <p:par>
                                <p:cTn id="6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4980"/>
                            </p:stCondLst>
                            <p:childTnLst>
                              <p:par>
                                <p:cTn id="7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345"/>
                            </p:stCondLst>
                            <p:childTnLst>
                              <p:par>
                                <p:cTn id="7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742"/>
                            </p:stCondLst>
                            <p:childTnLst>
                              <p:par>
                                <p:cTn id="8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6134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6531"/>
                            </p:stCondLst>
                            <p:childTnLst>
                              <p:par>
                                <p:cTn id="10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6923"/>
                            </p:stCondLst>
                            <p:childTnLst>
                              <p:par>
                                <p:cTn id="10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7320"/>
                            </p:stCondLst>
                            <p:childTnLst>
                              <p:par>
                                <p:cTn id="1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7712"/>
                            </p:stCondLst>
                            <p:childTnLst>
                              <p:par>
                                <p:cTn id="1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8209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8684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3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7" grpId="0" animBg="1"/>
      <p:bldP spid="4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Y PLAZOS PARA LA INTEGRACIÓN DOCUMENTAL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Plazos para entregar la documentación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 días naturales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remite formato, bitácora y evidencias al ICOJT tras concluir el nivel.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41648" y="2208713"/>
            <a:ext cx="182880" cy="33204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196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días naturales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Máximo para que el ICOJT devuelva la documentación incompleta con observaciones.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62088" y="2208713"/>
            <a:ext cx="182880" cy="33204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77240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 días naturales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que el IVA AP atienda las observaciones.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9602"/>
            <a:ext cx="10424160" cy="705598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devolución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nivel y se conserva en el expediente.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5.4 (plazos para la integración y validación de la documentación OJT).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75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Documentos del Anexo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 de la especialidad y cumplimiento de cada nivel.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 de cada tarea genérica.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Cumplimiento y evaluación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del evento y retroalimentación.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4544"/>
            <a:ext cx="10424160" cy="84638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siempre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</a:t>
            </a:r>
            <a:r>
              <a:rPr sz="22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vigente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1.</a:t>
            </a:r>
          </a:p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vincula a</a:t>
            </a:r>
            <a:r>
              <a:rPr lang="es-MX"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2.2 y 5.5.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5532120"/>
            <a:ext cx="10104120" cy="6583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la R06, cada documento se vincula 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 aprendiz, una tarea, un nivel y un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complementos autorizados no sustituyen el entrenamiento.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5532120"/>
            <a:ext cx="658368" cy="65836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51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676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288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¿Cómo se llena el formato general OJT?</a:t>
            </a:r>
          </a:p>
        </p:txBody>
      </p:sp>
      <p:pic>
        <p:nvPicPr>
          <p:cNvPr id="3" name="Picture 2" descr="s48_f585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10643"/>
            <a:ext cx="3524909" cy="415058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846320" y="1810257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710643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Datos generales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Nombre, área y credencial AFAC del IVA AP y del IOJT.</a:t>
            </a:r>
          </a:p>
        </p:txBody>
      </p:sp>
      <p:sp>
        <p:nvSpPr>
          <p:cNvPr id="6" name="Oval 5"/>
          <p:cNvSpPr/>
          <p:nvPr/>
        </p:nvSpPr>
        <p:spPr>
          <a:xfrm>
            <a:off x="4846320" y="2640373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540759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Tareas de la especialidad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tarea genérica y su referencia al manual técnico.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3470489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370875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Cumplimiento por nivel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Columnas Evaluador / Evaluado para los niveles 1, 2 y 3.</a:t>
            </a:r>
          </a:p>
        </p:txBody>
      </p:sp>
      <p:sp>
        <p:nvSpPr>
          <p:cNvPr id="10" name="Oval 9"/>
          <p:cNvSpPr/>
          <p:nvPr/>
        </p:nvSpPr>
        <p:spPr>
          <a:xfrm>
            <a:off x="4846320" y="4300606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200992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Iniciales, rúbrica y fecha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cada participante, con la fecha real del evento.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5130722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5031108"/>
            <a:ext cx="5760720" cy="5847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 dirty="0" err="1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Observaciones</a:t>
            </a:r>
            <a:endParaRPr sz="1600" b="1" i="0" u="none" dirty="0">
              <a:solidFill>
                <a:srgbClr val="9A7323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Documentos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acreditan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)</a:t>
            </a:r>
            <a:r>
              <a:rPr lang="es-MX"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sz="1600" b="0" i="0" u="none" dirty="0" err="1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Anexo 1 del MEPT (ejemplo: formato de Operaciones Tierra) y numeral 4.4.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17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67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34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1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968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435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882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 que todo registro debe contener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Identidad de los participantes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Tarea, subtarea y nivel</a:t>
            </a:r>
          </a:p>
        </p:txBody>
      </p:sp>
      <p:sp>
        <p:nvSpPr>
          <p:cNvPr id="6" name="Oval 5"/>
          <p:cNvSpPr/>
          <p:nvPr/>
        </p:nvSpPr>
        <p:spPr>
          <a:xfrm>
            <a:off x="416052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 y su versión vigente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Contexto y fechas reales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 evaluados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Observaciones e intervenciones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Localizador de la evidencia</a:t>
            </a:r>
          </a:p>
        </p:txBody>
      </p:sp>
      <p:sp>
        <p:nvSpPr>
          <p:cNvPr id="18" name="Oval 17"/>
          <p:cNvSpPr/>
          <p:nvPr/>
        </p:nvSpPr>
        <p:spPr>
          <a:xfrm>
            <a:off x="416052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Firmas o validaciones</a:t>
            </a:r>
          </a:p>
        </p:txBody>
      </p:sp>
      <p:sp>
        <p:nvSpPr>
          <p:cNvPr id="20" name="Oval 19"/>
          <p:cNvSpPr/>
          <p:nvPr/>
        </p:nvSpPr>
        <p:spPr>
          <a:xfrm>
            <a:off x="768096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303520"/>
            <a:ext cx="10104120" cy="77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 de cada evento, el instrumento indica objetivo, procedimiento, condiciones, puntos críticos y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criterio de aceptación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no se improvisan criterios después de evaluar.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30352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87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454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151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763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Firma, entrega y resguardo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Llena, firma y registra en el Módulo OJT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9463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8892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original; envía copia y evidencias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1830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93776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Revisa, integra el expediente del área y notifica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86714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08660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Verifica y registra el alcance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01598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23544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Coord. de Programas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el expediente de capacitación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4544"/>
            <a:ext cx="10424160" cy="1079151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lleva su formato original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cada evento.</a:t>
            </a:r>
          </a:p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Conservación: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5 años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impreso y digital (CIAAC).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j) y k), 3.4.8 e) y k), 5.3.7, 5.3.8 y 5.4.2.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264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656"/>
                            </p:stCondLst>
                            <p:childTnLst>
                              <p:par>
                                <p:cTn id="6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153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4628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Errores que invalidan un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93655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Dos niveles de una tarea en la misma fecha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793655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93655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 copiada o renombrada para otro evento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38829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38829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Fechas de la comisión en lugar de los días reales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38829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038829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Lista firmada solo por el instructor como única evidencia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84003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284003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Alterar fechas o eliminar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284003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284003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Registrar como cumplida una tarea sin oportunidad operativa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3.4.11 y 4.2.4 b), d), e), g) e i).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440680"/>
            <a:ext cx="101041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se detecta alguno de estos errores, se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documenta la inconsistencia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se programan los eventos faltantes;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nunca se alteran fechas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440680"/>
            <a:ext cx="685800" cy="6858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354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966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3.4 MODIFICACIÓN, ADICIÓN O EXCLUSIÓN DE TAREAS/SUBTAREAS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se modifican las tareas?</a:t>
            </a:r>
          </a:p>
        </p:txBody>
      </p:sp>
      <p:pic>
        <p:nvPicPr>
          <p:cNvPr id="3" name="Picture 2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959678"/>
            <a:ext cx="2656371" cy="2656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7132320" cy="286232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modificarse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adicionarse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o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excluirse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desarrollo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aviación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Cambios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legislación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nacional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internacional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necesidades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4.9 y 4.10.3.</a:t>
            </a:r>
          </a:p>
        </p:txBody>
      </p:sp>
      <p:sp>
        <p:nvSpPr>
          <p:cNvPr id="6" name="Rounded Rectangular Callout 5"/>
          <p:cNvSpPr/>
          <p:nvPr/>
        </p:nvSpPr>
        <p:spPr>
          <a:xfrm>
            <a:off x="731520" y="4937760"/>
            <a:ext cx="8503919" cy="914400"/>
          </a:xfrm>
          <a:prstGeom prst="wedgeRoundRectCallout">
            <a:avLst>
              <a:gd name="adj1" fmla="val 44807"/>
              <a:gd name="adj2" fmla="val -771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cambio en las normas o en los manuales técnicos puede modificar tu formato. La CPEPT conserva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la versión anterior y la nueva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el cambio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 sí solo nuevas tareas.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467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3.4 MODIFICACIÓN, ADICIÓN O EXCLUSIÓN DE TAREAS/SUBTAREAS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Procedimiento de modificación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Área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Solicita por oficio a la CPEPT: tarea y justificación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8152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33756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Envía la propuesta por correo a las áreas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7900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3504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Áreas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Comentan en 2 días hábiles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7648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3252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si procede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2743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procede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25509"/>
            <a:ext cx="5029200" cy="1079151"/>
          </a:xfrm>
          <a:prstGeom prst="roundRect">
            <a:avLst>
              <a:gd name="adj" fmla="val 3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Oficio con los motivos al área.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2743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25509"/>
            <a:ext cx="5029200" cy="1079151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actualiza formatos, bitácoras y Módulo OJT; el área lo aplica.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7672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Actualizar un formato no acredita nuevas tareas ni niveles.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4.10 (P-DCIA-CPEPT-04-R04).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334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80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298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4773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 de la plataforma de la AFAC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52149"/>
            <a:ext cx="10424160" cy="8301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Medio institucional válido para </a:t>
            </a: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gestionar, registrar, consultar y dar seguimiento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Programa OJT.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Física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Digital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Mixta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2922"/>
            <a:ext cx="10424160" cy="20752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Mismos requisitos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 cualquier medio.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Cargar un documento </a:t>
            </a: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ni autoriza.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uso es gradual, por Dirección.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4.11.1, 4.11.2 y 4.11.4.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7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476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951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Perfiles y buenas prácticas en el Módulo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Captura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8892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Revisión documental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660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Autorización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 institucional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Acceso personal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compartas tu cuenta.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Guardar ≠ aprobar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Guardar no equivale a aprobar.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Evalúa a tu instructor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 terminar cada actividad, responde la evaluación en tu perfil.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4.11.3 y 5.6.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5577840"/>
            <a:ext cx="1010412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opinión sobre el instructor es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confidencial y complementaria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no modifica el resultado de tu nivel.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77840"/>
            <a:ext cx="594360" cy="59436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322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789"/>
                            </p:stCondLst>
                            <p:childTnLst>
                              <p:par>
                                <p:cTn id="4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486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98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Tu OJT en físico y en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Programa OJT puede documentarse por medios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físicos, digitales o mixtos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El medio cambia,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las reglas no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172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Expediente físico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Formato OJT y bitácoras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firmas y rúbricas.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93592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lo llevas a cada evento.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15384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 al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expediente del área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del CIAAC.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37176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procedimiento físico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sigue vigente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33172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 (digital)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97180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Programación, convocatoria y </a:t>
            </a: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registro de resultados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593592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Carga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formato, bitácora y evidencias por folio.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215384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Convalidaciones y </a:t>
            </a: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reporte de avance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 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837176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Acceso </a:t>
            </a: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personal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según tu perfil.</a:t>
            </a:r>
          </a:p>
        </p:txBody>
      </p:sp>
      <p:sp>
        <p:nvSpPr>
          <p:cNvPr id="14" name="Oval 13"/>
          <p:cNvSpPr/>
          <p:nvPr/>
        </p:nvSpPr>
        <p:spPr>
          <a:xfrm>
            <a:off x="5623560" y="3611880"/>
            <a:ext cx="640080" cy="64008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553212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registro electrónico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firmas, autorizaciones ni originales: los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vincula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hace trazable su seguimiento. Ante cualquier diferencia, manda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3212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4.11.1 y 4.11.2; MEPT, Anexo 2 (Manual de usuario del Módulo OJT), numerales 1.2 y 1.3.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12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979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76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88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Ruta operativa del Módulo OJT</a:t>
            </a:r>
          </a:p>
        </p:txBody>
      </p:sp>
      <p:pic>
        <p:nvPicPr>
          <p:cNvPr id="3" name="Picture 2" descr="mu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1887246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069080"/>
            <a:ext cx="2194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Menú OJT de la plataforma</a:t>
            </a:r>
          </a:p>
        </p:txBody>
      </p:sp>
      <p:sp>
        <p:nvSpPr>
          <p:cNvPr id="5" name="Oval 4"/>
          <p:cNvSpPr/>
          <p:nvPr/>
        </p:nvSpPr>
        <p:spPr>
          <a:xfrm>
            <a:off x="3383280" y="1636776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600200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Catálogos: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Especialidad, tareas y subtareas vigentes</a:t>
            </a:r>
          </a:p>
        </p:txBody>
      </p:sp>
      <p:sp>
        <p:nvSpPr>
          <p:cNvPr id="7" name="Oval 6"/>
          <p:cNvSpPr/>
          <p:nvPr/>
        </p:nvSpPr>
        <p:spPr>
          <a:xfrm>
            <a:off x="3383280" y="2240280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203704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Instructores: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Alta de instructores designados</a:t>
            </a:r>
          </a:p>
        </p:txBody>
      </p:sp>
      <p:sp>
        <p:nvSpPr>
          <p:cNvPr id="9" name="Oval 8"/>
          <p:cNvSpPr/>
          <p:nvPr/>
        </p:nvSpPr>
        <p:spPr>
          <a:xfrm>
            <a:off x="3383280" y="2843784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807208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Programación: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Tarea, nivel, instructor, fechas y sede</a:t>
            </a:r>
          </a:p>
        </p:txBody>
      </p:sp>
      <p:sp>
        <p:nvSpPr>
          <p:cNvPr id="11" name="Oval 10"/>
          <p:cNvSpPr/>
          <p:nvPr/>
        </p:nvSpPr>
        <p:spPr>
          <a:xfrm>
            <a:off x="3383280" y="3447288"/>
            <a:ext cx="457200" cy="457200"/>
          </a:xfrm>
          <a:prstGeom prst="ellipse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3410712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Convocatoria: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Confirmas o justificas tu asistencia</a:t>
            </a:r>
          </a:p>
        </p:txBody>
      </p:sp>
      <p:sp>
        <p:nvSpPr>
          <p:cNvPr id="13" name="Oval 12"/>
          <p:cNvSpPr/>
          <p:nvPr/>
        </p:nvSpPr>
        <p:spPr>
          <a:xfrm>
            <a:off x="3383280" y="4050792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4014216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Ejecución: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realiza el evento del nivel</a:t>
            </a:r>
          </a:p>
        </p:txBody>
      </p:sp>
      <p:sp>
        <p:nvSpPr>
          <p:cNvPr id="15" name="Oval 14"/>
          <p:cNvSpPr/>
          <p:nvPr/>
        </p:nvSpPr>
        <p:spPr>
          <a:xfrm>
            <a:off x="3383280" y="4654296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4617720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Acreditación o convalidación: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Resultado con evidencia</a:t>
            </a:r>
          </a:p>
        </p:txBody>
      </p:sp>
      <p:sp>
        <p:nvSpPr>
          <p:cNvPr id="17" name="Oval 16"/>
          <p:cNvSpPr/>
          <p:nvPr/>
        </p:nvSpPr>
        <p:spPr>
          <a:xfrm>
            <a:off x="3383280" y="5257800"/>
            <a:ext cx="457200" cy="457200"/>
          </a:xfrm>
          <a:prstGeom prst="ellipse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5221224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r>
              <a:rPr sz="14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Reporte</a:t>
            </a:r>
            <a:r>
              <a:rPr lang="es-MX" sz="14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consulta tu avance y cumplimiento por tarea y nivel (PDF)</a:t>
            </a:r>
            <a:endParaRPr sz="14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" y="5897880"/>
            <a:ext cx="10424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 dorado, los pasos donde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tú</a:t>
            </a:r>
            <a:r>
              <a:rPr sz="13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intervienes directamente en la plataforma.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2 y 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17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67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34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31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56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81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106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601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68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565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6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557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052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7549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8074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8549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Responde tu convocatoria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Entra a tu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Perfil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→ pestaña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 por confirmar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→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Confirmar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Revisa tarea, fechas, sede e instructor.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40280"/>
            <a:ext cx="5029200" cy="45720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Asistirás: selecciona «Sí» y Aceptar</a:t>
            </a:r>
          </a:p>
        </p:txBody>
      </p:sp>
      <p:pic>
        <p:nvPicPr>
          <p:cNvPr id="5" name="Picture 4" descr="mu_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61488"/>
            <a:ext cx="3051481" cy="2240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2240280"/>
            <a:ext cx="5029200" cy="45720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puedes: «No», motivo y justificante</a:t>
            </a:r>
          </a:p>
        </p:txBody>
      </p:sp>
      <p:pic>
        <p:nvPicPr>
          <p:cNvPr id="7" name="Picture 6" descr="mu_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761488"/>
            <a:ext cx="2956131" cy="2240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51560" y="5212080"/>
            <a:ext cx="10104120" cy="77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estado cambia 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Confirmado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Si no asistes, el sistema conserva tu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motivo y justificante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que el ICOJT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reprograme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(hasta dos oportunidades adicionales por nivel).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2120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5.4, 6.1 y 6.2; MEPT, numeral 3.4.5 g).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205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67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369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981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 del resultado y estados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Tras el evento, el IOJT registra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y lugar reales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subtareas cubiertas y resultado, y adjunta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formato, bitácora y evidencia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Cada nivel toma un estado: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1720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Pendiente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evaluación aprobatoria ni convalidación.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31720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331720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fecha e instructor; aún no concluye.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81527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En proceso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3081527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Falta evaluación, evidencia o validación.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081527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Cumplido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081527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Acreditado por programación ordinaria.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31335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831335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Reconocido por dictamen y evidencia.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831335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acreditado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831335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Requiere refuerzo y nueva programación.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4581144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aplica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4581144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Exclusión autorizada y con fundamento.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440680"/>
            <a:ext cx="101041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estado debe reflejar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resultado real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no solo la carga de un archivo. Un oficio de comisión o una constancia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prueban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ejecución.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440680"/>
            <a:ext cx="685800" cy="6858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7.1 y 7.2; MEPT, numeral 4.2.6.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46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13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38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847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314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781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248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945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57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 en el Módulo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captura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Modalidad = Convalidación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(formato anterior o evidencia documental), por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 y nivel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El sistema muestra por separado:</a:t>
            </a:r>
          </a:p>
        </p:txBody>
      </p:sp>
      <p:sp>
        <p:nvSpPr>
          <p:cNvPr id="4" name="Oval 3"/>
          <p:cNvSpPr/>
          <p:nvPr/>
        </p:nvSpPr>
        <p:spPr>
          <a:xfrm>
            <a:off x="2057400" y="2331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320040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histórica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2900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Cuándo ocurrió la actividad o se emitió el documento fuente.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17520"/>
            <a:ext cx="274320" cy="3200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23560" y="2331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926080"/>
            <a:ext cx="3200400" cy="50292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de dictamen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42900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Día en que el ICOJT determina la procedencia.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543800" y="3017520"/>
            <a:ext cx="274320" cy="3200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189719" y="2331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926080"/>
            <a:ext cx="3200400" cy="50292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de carga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2900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Cuándo se registró en la plataforma.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0424160" cy="548640"/>
          </a:xfrm>
          <a:prstGeom prst="roundRect">
            <a:avLst>
              <a:gd name="adj" fmla="val 15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 el reporte: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de ejecución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programación y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de dictamen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convalidación.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44068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nivel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puede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quedar a la vez como cumplido y convalidado, y la evidencia ya dictaminada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se reemplaza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toda corrección genera una nueva versión con motivo.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44068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8.3 a 8.5; MEPT, numerales 4.4 y 4.5.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22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14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11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603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1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825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437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Tu reporte de avance y cumplimiento</a:t>
            </a:r>
          </a:p>
        </p:txBody>
      </p:sp>
      <p:pic>
        <p:nvPicPr>
          <p:cNvPr id="3" name="Picture 2" descr="mu_r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6071457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645920"/>
            <a:ext cx="4206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El reporte en PDF muestra: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1031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Datos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y 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51460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 y nivel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su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926079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Modalidad: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programación o convalidación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33756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 e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39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Validación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institucional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251960"/>
            <a:ext cx="4206240" cy="86868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Avance (%)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=</a:t>
            </a:r>
          </a:p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 cumplidos o convalidados ÷ niveles aplicables ×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79" y="5303520"/>
            <a:ext cx="3886200" cy="8686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Descargar el reporte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resguardo de tus formatos, bitácoras y anexos.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0" y="534924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9.1 a 9.3 (ejemplo ilustrativo del reporte).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7"/>
                            </p:stCondLst>
                            <p:childTnLst>
                              <p:par>
                                <p:cTn id="3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97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409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Migración de tus antecedentes al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CIAAC migrará los registros históricos del OJT al Módulo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 manera gradual, por Dirección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Mientras tanto: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17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Formatos heredados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te pedirá tus formatos anteriores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digitalizados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cargarlos.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317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Nada automático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7889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Ningún antecedente se convierte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por sí solo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 nivel cumplido: se inventaría, valida y vincula.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Continuidad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migración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detiene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OJT: el programa sigue operando en forma habitual.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9319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Sin repetir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3891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Pasar a digital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obliga a repetir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entrenamiento válidamente realizado.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5623560"/>
            <a:ext cx="10104120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operar el Módulo consulta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Anexo 2 del MEPT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el manual de usuario del Módulo OJT, disponible en la plataforma.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623560"/>
            <a:ext cx="621792" cy="6217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o) y p), 4.11.1 y 4.11.4; MEPT, Anexo 2 (Manual de usuario del Módulo OJT), numeral 10.3.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209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21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14879</TotalTime>
  <Words>2467</Words>
  <Application>Microsoft Office PowerPoint</Application>
  <PresentationFormat>Panorámica</PresentationFormat>
  <Paragraphs>330</Paragraphs>
  <Slides>25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3 Proceso de ejecución del Programa OJT Actualización del Manual de Entrenamiento en el Puesto de Trabajo</vt:lpstr>
      <vt:lpstr>ACTIVIDAD DE INICIO Para iniciar, reflexiona</vt:lpstr>
      <vt:lpstr>3.1 PROCESO GENERAL DEL PROGRAMA OJT (P-DCIA-CPEPT-01-R04): ALCANCE, RESPONSABILIDADES Y ETAPAS Proceso general del Programa OJT</vt:lpstr>
      <vt:lpstr>3.1 PROCESO GENERAL DEL PROGRAMA OJT (P-DCIA-CPEPT-01-R04): ALCANCE, RESPONSABILIDADES Y ETAPAS Responsabilidades en el proceso general</vt:lpstr>
      <vt:lpstr>3.1 PROCESO GENERAL DEL PROGRAMA OJT (P-DCIA-CPEPT-01-R04): ALCANCE, RESPONSABILIDADES Y ETAPAS Esquema del proceso OJT</vt:lpstr>
      <vt:lpstr>3.1 PROCESO GENERAL DEL PROGRAMA OJT (P-DCIA-CPEPT-01-R04): ALCANCE, RESPONSABILIDADES Y ETAPAS Las seis etapas del proceso</vt:lpstr>
      <vt:lpstr>3.2 FASE DE ENTRENAMIENTO Y PLAZOS PARA LA INTEGRACIÓN DOCUMENTAL Fase de entrenamiento: paso a paso</vt:lpstr>
      <vt:lpstr>3.2 FASE DE ENTRENAMIENTO Y PLAZOS PARA LA INTEGRACIÓN DOCUMENTAL Plazos para entregar la documentación</vt:lpstr>
      <vt:lpstr>3.3 FORMATOS GENERALES OJT: LLENADO, FIRMA, ENTREGA Y RESGUARDO Documentos del Anexo 1</vt:lpstr>
      <vt:lpstr>3.3 FORMATOS GENERALES OJT: LLENADO, FIRMA, ENTREGA Y RESGUARDO ¿Cómo se llena el formato general OJT?</vt:lpstr>
      <vt:lpstr>3.3 FORMATOS GENERALES OJT: LLENADO, FIRMA, ENTREGA Y RESGUARDO Lo que todo registro debe contener</vt:lpstr>
      <vt:lpstr>3.3 FORMATOS GENERALES OJT: LLENADO, FIRMA, ENTREGA Y RESGUARDO Firma, entrega y resguardo</vt:lpstr>
      <vt:lpstr>3.3 FORMATOS GENERALES OJT: LLENADO, FIRMA, ENTREGA Y RESGUARDO Errores que invalidan un registro</vt:lpstr>
      <vt:lpstr>3.4 MODIFICACIÓN, ADICIÓN O EXCLUSIÓN DE TAREAS/SUBTAREAS ¿Por qué se modifican las tareas?</vt:lpstr>
      <vt:lpstr>3.4 MODIFICACIÓN, ADICIÓN O EXCLUSIÓN DE TAREAS/SUBTAREAS Procedimiento de modificación</vt:lpstr>
      <vt:lpstr>3.5 HERRAMIENTA ELECTRÓNICA DE GESTIÓN OJT Módulo OJT de la plataforma de la AFAC</vt:lpstr>
      <vt:lpstr>3.5 HERRAMIENTA ELECTRÓNICA DE GESTIÓN OJT Perfiles y buenas prácticas en el Módulo</vt:lpstr>
      <vt:lpstr>3.5 HERRAMIENTA ELECTRÓNICA DE GESTIÓN OJT Tu OJT en físico y en digital</vt:lpstr>
      <vt:lpstr>3.5 HERRAMIENTA ELECTRÓNICA DE GESTIÓN OJT Ruta operativa del Módulo OJT</vt:lpstr>
      <vt:lpstr>3.5 HERRAMIENTA ELECTRÓNICA DE GESTIÓN OJT Responde tu convocatoria</vt:lpstr>
      <vt:lpstr>3.5 HERRAMIENTA ELECTRÓNICA DE GESTIÓN OJT Registro del resultado y estados</vt:lpstr>
      <vt:lpstr>3.5 HERRAMIENTA ELECTRÓNICA DE GESTIÓN OJT Convalidación en el Módulo OJT</vt:lpstr>
      <vt:lpstr>3.5 HERRAMIENTA ELECTRÓNICA DE GESTIÓN OJT Tu reporte de avance y cumplimiento</vt:lpstr>
      <vt:lpstr>3.5 HERRAMIENTA ELECTRÓNICA DE GESTIÓN OJT Migración de tus antecedentes al Módulo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220</cp:revision>
  <dcterms:created xsi:type="dcterms:W3CDTF">2025-01-15T19:01:35Z</dcterms:created>
  <dcterms:modified xsi:type="dcterms:W3CDTF">2026-09-24T15:25:19Z</dcterms:modified>
</cp:coreProperties>
</file>