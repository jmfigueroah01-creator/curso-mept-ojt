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3" r:id="rId2"/>
    <p:sldId id="266" r:id="rId3"/>
    <p:sldId id="292" r:id="rId4"/>
    <p:sldId id="293" r:id="rId5"/>
    <p:sldId id="294" r:id="rId6"/>
    <p:sldId id="267" r:id="rId7"/>
    <p:sldId id="291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9" r:id="rId17"/>
    <p:sldId id="280" r:id="rId18"/>
    <p:sldId id="281" r:id="rId19"/>
    <p:sldId id="282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290" r:id="rId2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B3041"/>
    <a:srgbClr val="CCCCFF"/>
    <a:srgbClr val="BC9C16"/>
    <a:srgbClr val="E4CDAC"/>
    <a:srgbClr val="7B95AF"/>
    <a:srgbClr val="003764"/>
    <a:srgbClr val="4E95D9"/>
    <a:srgbClr val="AEAEA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30" autoAdjust="0"/>
    <p:restoredTop sz="94038" autoAdjust="0"/>
  </p:normalViewPr>
  <p:slideViewPr>
    <p:cSldViewPr snapToGrid="0">
      <p:cViewPr varScale="1">
        <p:scale>
          <a:sx n="65" d="100"/>
          <a:sy n="65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anuel Figueroa Hernandez" userId="c23fd2b0-07fd-455e-80a2-756e0be2378e" providerId="ADAL" clId="{19EAFD33-AF50-43D6-BF52-FC06C69CD06D}"/>
    <pc:docChg chg="undo custSel addSld delSld modSld">
      <pc:chgData name="Jose Manuel Figueroa Hernandez" userId="c23fd2b0-07fd-455e-80a2-756e0be2378e" providerId="ADAL" clId="{19EAFD33-AF50-43D6-BF52-FC06C69CD06D}" dt="2026-09-23T23:56:02.138" v="12" actId="47"/>
      <pc:docMkLst>
        <pc:docMk/>
      </pc:docMkLst>
      <pc:sldChg chg="del">
        <pc:chgData name="Jose Manuel Figueroa Hernandez" userId="c23fd2b0-07fd-455e-80a2-756e0be2378e" providerId="ADAL" clId="{19EAFD33-AF50-43D6-BF52-FC06C69CD06D}" dt="2026-09-23T23:55:23.468" v="0" actId="47"/>
        <pc:sldMkLst>
          <pc:docMk/>
          <pc:sldMk cId="0" sldId="256"/>
        </pc:sldMkLst>
      </pc:sldChg>
      <pc:sldChg chg="del">
        <pc:chgData name="Jose Manuel Figueroa Hernandez" userId="c23fd2b0-07fd-455e-80a2-756e0be2378e" providerId="ADAL" clId="{19EAFD33-AF50-43D6-BF52-FC06C69CD06D}" dt="2026-09-23T23:55:24.949" v="1" actId="47"/>
        <pc:sldMkLst>
          <pc:docMk/>
          <pc:sldMk cId="0" sldId="257"/>
        </pc:sldMkLst>
      </pc:sldChg>
      <pc:sldChg chg="del">
        <pc:chgData name="Jose Manuel Figueroa Hernandez" userId="c23fd2b0-07fd-455e-80a2-756e0be2378e" providerId="ADAL" clId="{19EAFD33-AF50-43D6-BF52-FC06C69CD06D}" dt="2026-09-23T23:55:26.261" v="2" actId="47"/>
        <pc:sldMkLst>
          <pc:docMk/>
          <pc:sldMk cId="0" sldId="258"/>
        </pc:sldMkLst>
      </pc:sldChg>
      <pc:sldChg chg="del">
        <pc:chgData name="Jose Manuel Figueroa Hernandez" userId="c23fd2b0-07fd-455e-80a2-756e0be2378e" providerId="ADAL" clId="{19EAFD33-AF50-43D6-BF52-FC06C69CD06D}" dt="2026-09-23T23:55:27.252" v="3" actId="47"/>
        <pc:sldMkLst>
          <pc:docMk/>
          <pc:sldMk cId="0" sldId="259"/>
        </pc:sldMkLst>
      </pc:sldChg>
      <pc:sldChg chg="del">
        <pc:chgData name="Jose Manuel Figueroa Hernandez" userId="c23fd2b0-07fd-455e-80a2-756e0be2378e" providerId="ADAL" clId="{19EAFD33-AF50-43D6-BF52-FC06C69CD06D}" dt="2026-09-23T23:55:28.179" v="4" actId="47"/>
        <pc:sldMkLst>
          <pc:docMk/>
          <pc:sldMk cId="0" sldId="260"/>
        </pc:sldMkLst>
      </pc:sldChg>
      <pc:sldChg chg="del">
        <pc:chgData name="Jose Manuel Figueroa Hernandez" userId="c23fd2b0-07fd-455e-80a2-756e0be2378e" providerId="ADAL" clId="{19EAFD33-AF50-43D6-BF52-FC06C69CD06D}" dt="2026-09-23T23:55:29.777" v="5" actId="47"/>
        <pc:sldMkLst>
          <pc:docMk/>
          <pc:sldMk cId="0" sldId="261"/>
        </pc:sldMkLst>
      </pc:sldChg>
      <pc:sldChg chg="del">
        <pc:chgData name="Jose Manuel Figueroa Hernandez" userId="c23fd2b0-07fd-455e-80a2-756e0be2378e" providerId="ADAL" clId="{19EAFD33-AF50-43D6-BF52-FC06C69CD06D}" dt="2026-09-23T23:55:30.653" v="6" actId="47"/>
        <pc:sldMkLst>
          <pc:docMk/>
          <pc:sldMk cId="0" sldId="262"/>
        </pc:sldMkLst>
      </pc:sldChg>
      <pc:sldChg chg="modSp mod">
        <pc:chgData name="Jose Manuel Figueroa Hernandez" userId="c23fd2b0-07fd-455e-80a2-756e0be2378e" providerId="ADAL" clId="{19EAFD33-AF50-43D6-BF52-FC06C69CD06D}" dt="2026-09-23T23:55:45.488" v="8" actId="1076"/>
        <pc:sldMkLst>
          <pc:docMk/>
          <pc:sldMk cId="0" sldId="263"/>
        </pc:sldMkLst>
        <pc:spChg chg="mod">
          <ac:chgData name="Jose Manuel Figueroa Hernandez" userId="c23fd2b0-07fd-455e-80a2-756e0be2378e" providerId="ADAL" clId="{19EAFD33-AF50-43D6-BF52-FC06C69CD06D}" dt="2026-09-23T23:55:45.488" v="8" actId="1076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Jose Manuel Figueroa Hernandez" userId="c23fd2b0-07fd-455e-80a2-756e0be2378e" providerId="ADAL" clId="{19EAFD33-AF50-43D6-BF52-FC06C69CD06D}" dt="2026-09-23T23:55:48.932" v="9" actId="47"/>
        <pc:sldMkLst>
          <pc:docMk/>
          <pc:sldMk cId="0" sldId="264"/>
        </pc:sldMkLst>
      </pc:sldChg>
      <pc:sldChg chg="add del">
        <pc:chgData name="Jose Manuel Figueroa Hernandez" userId="c23fd2b0-07fd-455e-80a2-756e0be2378e" providerId="ADAL" clId="{19EAFD33-AF50-43D6-BF52-FC06C69CD06D}" dt="2026-09-23T23:56:02.138" v="12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3DD9-E4B5-4997-8BD0-CCD1D82A46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ECBA-0A42-439B-8BB1-7C8EF8AA35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049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83C967-2F54-09E4-AA30-298CA5655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B59DC73-C653-C81C-D52E-0C69633752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4899638"/>
            <a:ext cx="7766977" cy="107298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8FDDAFA-5E8D-9796-4199-96DDF49E0C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8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, fin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6826DB8-4520-87EC-C957-39CC5FEDDF23}"/>
              </a:ext>
            </a:extLst>
          </p:cNvPr>
          <p:cNvCxnSpPr>
            <a:cxnSpLocks/>
          </p:cNvCxnSpPr>
          <p:nvPr userDrawn="1"/>
        </p:nvCxnSpPr>
        <p:spPr>
          <a:xfrm>
            <a:off x="2610003" y="3429000"/>
            <a:ext cx="6968946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4770139-593C-68D8-65A7-D32A6375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619" y="1992089"/>
            <a:ext cx="7329714" cy="1436911"/>
          </a:xfrm>
        </p:spPr>
        <p:txBody>
          <a:bodyPr anchor="ctr">
            <a:noAutofit/>
          </a:bodyPr>
          <a:lstStyle>
            <a:lvl1pPr algn="ctr">
              <a:defRPr sz="5000"/>
            </a:lvl1pPr>
          </a:lstStyle>
          <a:p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1A90F6-F9C8-C3DC-0206-47FA2B0E5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3772615"/>
            <a:ext cx="7766977" cy="107298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AADA8D9-AE01-0879-2B0F-D35E84BE7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5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9625AD5-FD90-7ED4-A463-1E5CB822A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BA6592-4655-ECA7-5E54-6A2266196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01879A4-A5B6-7D86-61D5-66ACD9BA94ED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114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634EBF27-8651-00A8-AF4C-4E9644167F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E94F59-AD2E-40B1-B026-72BC4AB241A4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260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21210-2A91-1552-D4F2-DF2766531006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6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CEFCEBEC-42C8-C58C-CD8C-206F90342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0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532B9242-CE35-04A2-18AA-987DB5B40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85BD324A-C024-0077-DF8F-20DCA813A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3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3F39D5-2B33-B76C-39CA-AE6BED78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D0F07-E6DF-E238-D01E-6075CA1A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337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5" r:id="rId5"/>
    <p:sldLayoutId id="2147483664" r:id="rId6"/>
    <p:sldLayoutId id="2147483663" r:id="rId7"/>
    <p:sldLayoutId id="2147483662" r:id="rId8"/>
    <p:sldLayoutId id="2147483666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7541" y="1734589"/>
            <a:ext cx="10515600" cy="2651760"/>
          </a:xfr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sz="5400" b="0" i="0" u="none" dirty="0" err="1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Módulo</a:t>
            </a:r>
            <a:r>
              <a:rPr sz="5400" b="0" i="0" u="none" dirty="0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 3</a:t>
            </a:r>
          </a:p>
          <a:p>
            <a:pPr algn="ctr">
              <a:spcAft>
                <a:spcPts val="800"/>
              </a:spcAft>
            </a:pP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Proceso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ejecución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del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Programa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OJT</a:t>
            </a:r>
          </a:p>
          <a:p>
            <a:pPr algn="ctr"/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Programa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de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Entrenamiento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en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el Puesto de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Trabajo</a:t>
            </a:r>
            <a:endParaRPr sz="1600" b="0" i="0" u="none" dirty="0">
              <a:solidFill>
                <a:srgbClr val="182430"/>
              </a:solidFill>
              <a:latin typeface="Montserrat SemiBold"/>
              <a:ea typeface="Montserrat SemiBold"/>
              <a:cs typeface="Montserrat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ACTIVIDAD DE INICIO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Para iniciar, reflexiona</a:t>
            </a:r>
          </a:p>
        </p:txBody>
      </p:sp>
      <p:pic>
        <p:nvPicPr>
          <p:cNvPr id="3" name="Picture 2" descr="s20_9067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59678"/>
            <a:ext cx="2739383" cy="2739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35161"/>
            <a:ext cx="7040880" cy="34009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Imagina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alguien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dentro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un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año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Podría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saber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qué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hiciste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cuándo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con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quién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Qué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lo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demostraría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endParaRPr lang="es-MX"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Anota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tu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respuesta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y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compárala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al final.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ACTUALIZACIÓN DEL MEPT: R05 → R06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se actualizó el MEPT?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 la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R05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(05 de enero de 2024) a la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R06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(11 de septiembre de 2026), el manual se actualizó para: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2377440"/>
            <a:ext cx="443484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Sustento</a:t>
            </a:r>
            <a:r>
              <a:rPr sz="17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OACI</a:t>
            </a:r>
            <a:r>
              <a:rPr lang="es-MX" sz="170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- FAA</a:t>
            </a:r>
            <a:endParaRPr sz="17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17320" y="2880360"/>
            <a:ext cx="443484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Precisar el CE-4 del Doc 9734 para que el programa sea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verificable en auditoría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35040" y="24231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377440"/>
            <a:ext cx="443484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Trazabilidad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880360"/>
            <a:ext cx="443484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 evento por aprendiz, tarea y nivel, con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y evidencia propias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251959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4206240"/>
            <a:ext cx="443484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Responsabilidades claras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4709159"/>
            <a:ext cx="443484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CIAAC conduce; las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áreas ejecutan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evalúan y conservan la evidencia.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4251959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206240"/>
            <a:ext cx="443484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Operación ordenada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709159"/>
            <a:ext cx="443484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Validez del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Módulo OJT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un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ciclo documental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plazos definidos.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CIAAC, Cuadro comparativo MEPT R05 – R06.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79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46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913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38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847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314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761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ACTUALIZACIÓN DEL MEPT: R05 → R06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Cuadro comparativo R05 vs R06 (1 de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72768"/>
            <a:ext cx="1956816" cy="45720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572768"/>
            <a:ext cx="2779776" cy="457200"/>
          </a:xfrm>
          <a:prstGeom prst="roundRect">
            <a:avLst>
              <a:gd name="adj" fmla="val 1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MEPT R05 ·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572768"/>
            <a:ext cx="3511296" cy="457200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MEPT R06 ·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572768"/>
            <a:ext cx="2505456" cy="457200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cambió?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956816" cy="1280160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Proceso general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(5.3)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103120"/>
            <a:ext cx="277977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P-DCIA-CPEPT-01-R03.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Programación por tareas y subtareas; se revisaba el llenado para programar el siguiente nivel.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103120"/>
            <a:ext cx="3511296" cy="128016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P-DCIA-CPEPT-01-R04.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Eventos individualizados por aprendiz, tarea y nivel. La CPEPT verifica evento, evidencia y fechas antes de avanzar.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103120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Evitar que una revisión solo documental produzca progresión automática.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56432"/>
            <a:ext cx="1956816" cy="1280160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Fase de entrenamiento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(5.4)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456432"/>
            <a:ext cx="277977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Procedimiento separado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P-DCIA-CPEPT-05-R00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; partía del oficio de comisión.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456432"/>
            <a:ext cx="3511296" cy="128016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Integrada al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P-DCIA-CPEPT-01-R04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La programación autorizada es la entrada; el oficio, solo cuando corresponda.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456432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Aplicar el proceso dentro o fuera de comisión y tratar cada causa (impedimento, interrupción, no aprobado).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9744"/>
            <a:ext cx="1956816" cy="1280160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Plazos documentales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(5.4)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09744"/>
            <a:ext cx="277977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 contemplados.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4809744"/>
            <a:ext cx="3511296" cy="128016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3 días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entregar,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5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devolver y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3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corregir. La devolución no acredita el nivel.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809744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Evitar rezagos en el cierre documental.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CIAAC, Cuadro comparativo MEPT R05 (05/01/2024) – R06 (11/09/2026). Selección de cambios relevantes para este módulo.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87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54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921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36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ACTUALIZACIÓN DEL MEPT: R05 → R06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Cuadro comparativo R05 vs R06 (2 de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72768"/>
            <a:ext cx="1956816" cy="45720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572768"/>
            <a:ext cx="2779776" cy="457200"/>
          </a:xfrm>
          <a:prstGeom prst="roundRect">
            <a:avLst>
              <a:gd name="adj" fmla="val 1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MEPT R05 ·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572768"/>
            <a:ext cx="3511296" cy="457200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MEPT R06 ·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572768"/>
            <a:ext cx="2505456" cy="457200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cambió?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956816" cy="1280160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Modificación de tareas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(4.10)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103120"/>
            <a:ext cx="277977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Actualizar formatos y bitácoras con la justificación del área.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103120"/>
            <a:ext cx="3511296" cy="128016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Control de versiones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impacto en planes y acreditaciones y actualización en plataforma.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103120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Trazabilidad del cambio; un cambio no acredita nuevas tareas.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56432"/>
            <a:ext cx="1956816" cy="1280160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Módulo OJT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(4.11)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456432"/>
            <a:ext cx="277977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Herramienta de captura y seguimiento.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456432"/>
            <a:ext cx="3511296" cy="128016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Medio institucional válido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físico, digital o mixto, con los mismos requisitos.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456432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Validez operativa y coexistencia con el expediente físico.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9744"/>
            <a:ext cx="1956816" cy="1280160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Evaluación del instructor</a:t>
            </a:r>
          </a:p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(5.6)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09744"/>
            <a:ext cx="277977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 código QR y correo institucional.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4809744"/>
            <a:ext cx="3511296" cy="128016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 tu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perfil del Módulo OJT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; confidencial y complementaria.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809744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Trazabilidad y mejora continua.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CIAAC, Cuadro comparativo MEPT R05 (05/01/2024) – R06 (11/09/2026). Selección de cambios relevantes para este módulo.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87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54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921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36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3.1 PROCESO GENERAL DEL PROGRAMA OJT (P-DCIA-CPEPT-01-R04)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Proceso general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Objetivo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16242"/>
            <a:ext cx="3291840" cy="2407336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Capacitar en el puesto de trabajo con un sistema que garantice el adiestramiento continuo del 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835161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16242"/>
            <a:ext cx="3291840" cy="2407336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Todos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IVA</a:t>
            </a:r>
            <a:r>
              <a:rPr lang="es-MX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´s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 AFAC </a:t>
            </a:r>
            <a:r>
              <a:rPr lang="es-MX"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deben realizar su 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OJT.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35161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Registros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416242"/>
            <a:ext cx="3291840" cy="2407336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Plan,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bitácoras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5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años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impreso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digital.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2614"/>
            <a:ext cx="10424160" cy="664092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Código vigente: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P-DCIA-CPEPT-01-R04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(MEPT R06, numeral 5.3).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5.2, 5.3.3, 5.3.4 y 5.3.8.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51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26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3.1 PROCESO GENERAL DEL PROGRAMA OJT (P-DCIA-CPEPT-01-R04)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Esquema del proceso OJT</a:t>
            </a:r>
          </a:p>
        </p:txBody>
      </p:sp>
      <p:pic>
        <p:nvPicPr>
          <p:cNvPr id="3" name="Picture 2" descr="snake_road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10663008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80172" y="1691903"/>
            <a:ext cx="1373580" cy="1007293"/>
          </a:xfrm>
          <a:prstGeom prst="roundRect">
            <a:avLst>
              <a:gd name="adj" fmla="val 12000"/>
            </a:avLst>
          </a:prstGeom>
          <a:solidFill>
            <a:srgbClr val="C8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7. Registro y evaluación del aprendiz en la plataforma electrónica.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5.1 (Infograma del proceso general OJT).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1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3.1 PROCESO GENERAL DEL PROGRAMA OJT (P-DCIA-CPEPT-01-R04)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Las seis etapas del proceso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3291840" cy="539575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1. Ingreso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91724"/>
            <a:ext cx="3291840" cy="132818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informa quién aprobó el curso básico; la CPEPT registra y notifica.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752149"/>
            <a:ext cx="3291840" cy="539575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2. Plan individual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291724"/>
            <a:ext cx="3291840" cy="132818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ICOJT revisa funciones y tareas con el IOJT.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52149"/>
            <a:ext cx="3291840" cy="539575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3. Programación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91724"/>
            <a:ext cx="3291840" cy="132818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IOJT propone eventos por tarea y nivel; el ICOJT valida.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85934"/>
            <a:ext cx="3291840" cy="539575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4. Autorización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25509"/>
            <a:ext cx="3291840" cy="132818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titular del área autoriza y emite oficio de comisión.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785934"/>
            <a:ext cx="3291840" cy="539575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5. Entrenamiento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325509"/>
            <a:ext cx="3291840" cy="132818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 1 → registro → Nivel 2 → registro → Nivel 3 → registro.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785934"/>
            <a:ext cx="3291840" cy="539575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6. Expediente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325509"/>
            <a:ext cx="3291840" cy="132818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Copia íntegra al expediente e informe a la Dirección del CIAAC.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5.3.7 (TD-DCIA-CPEPT-01-R04, 25 pasos resumidos).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21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88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55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302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3.2 PROCEDIMIENTO DE EJECUCIÓN DEL ENTRENAMIENTO EN EL PUESTO DE TRABAJO (P-DCIA-CPEPT-05-R00)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Fase de entrenamiento: paso a paso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1051560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Si el IVA no se presenta: se notifica la justificación y el ICOJT reprograma.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5.4 (fase de entrenamiento del proceso P-DCIA-CPEPT-01-R04).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737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Recibe la programación autorizada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97480" y="2011680"/>
            <a:ext cx="320040" cy="32918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063240" y="1737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 instruye la tarea y el nivel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12080" y="2011680"/>
            <a:ext cx="320040" cy="32918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77840" y="173736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 evalúa el desempeño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26679" y="2011680"/>
            <a:ext cx="320040" cy="32918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iamond 29"/>
          <p:cNvSpPr/>
          <p:nvPr/>
        </p:nvSpPr>
        <p:spPr>
          <a:xfrm>
            <a:off x="8092440" y="1572768"/>
            <a:ext cx="1737360" cy="1188720"/>
          </a:xfrm>
          <a:prstGeom prst="diamond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¿Aprueba?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875520" y="2057400"/>
            <a:ext cx="365760" cy="274320"/>
          </a:xfrm>
          <a:prstGeom prst="rightArrow">
            <a:avLst/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0" y="162763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87000" y="169164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8ECEA"/>
          </a:solidFill>
          <a:ln w="15875">
            <a:solidFill>
              <a:srgbClr val="A3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Brechas y refuerzo; el ICOJT reprograma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61120" y="2761488"/>
            <a:ext cx="0" cy="365760"/>
          </a:xfrm>
          <a:prstGeom prst="line">
            <a:avLst/>
          </a:prstGeom>
          <a:ln w="31750">
            <a:solidFill>
              <a:srgbClr val="2F7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600200" y="3127248"/>
            <a:ext cx="7360920" cy="0"/>
          </a:xfrm>
          <a:prstGeom prst="line">
            <a:avLst/>
          </a:prstGeom>
          <a:ln w="31750">
            <a:solidFill>
              <a:srgbClr val="2F7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00200" y="3127248"/>
            <a:ext cx="0" cy="420624"/>
          </a:xfrm>
          <a:prstGeom prst="line">
            <a:avLst/>
          </a:prstGeom>
          <a:ln w="31750">
            <a:solidFill>
              <a:srgbClr val="2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052560" y="2724912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2F7A4D"/>
                </a:solidFill>
                <a:latin typeface="Montserrat SemiBold"/>
                <a:ea typeface="Montserrat SemiBold"/>
                <a:cs typeface="Montserrat SemiBold"/>
              </a:rPr>
              <a:t>Sí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61188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 w="15875">
            <a:solidFill>
              <a:srgbClr val="2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IOJT llena, firma y registra en el Módulo OJT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3685032"/>
            <a:ext cx="329184" cy="329184"/>
          </a:xfrm>
          <a:prstGeom prst="ellipse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090672" y="4050791"/>
            <a:ext cx="301752" cy="310896"/>
          </a:xfrm>
          <a:prstGeom prst="rightArrow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429000" y="361188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 w="15875">
            <a:solidFill>
              <a:srgbClr val="2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IVA AP resguarda el original y envía copia al ICOJT</a:t>
            </a:r>
          </a:p>
        </p:txBody>
      </p:sp>
      <p:sp>
        <p:nvSpPr>
          <p:cNvPr id="42" name="Oval 41"/>
          <p:cNvSpPr/>
          <p:nvPr/>
        </p:nvSpPr>
        <p:spPr>
          <a:xfrm>
            <a:off x="3520440" y="3685032"/>
            <a:ext cx="329184" cy="329184"/>
          </a:xfrm>
          <a:prstGeom prst="ellipse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71031" y="4050791"/>
            <a:ext cx="301752" cy="310896"/>
          </a:xfrm>
          <a:prstGeom prst="rightArrow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09359" y="361188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 w="15875">
            <a:solidFill>
              <a:srgbClr val="2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ICOJT revisa y notifica a la CPEPT</a:t>
            </a:r>
          </a:p>
        </p:txBody>
      </p:sp>
      <p:sp>
        <p:nvSpPr>
          <p:cNvPr id="45" name="Oval 44"/>
          <p:cNvSpPr/>
          <p:nvPr/>
        </p:nvSpPr>
        <p:spPr>
          <a:xfrm>
            <a:off x="6400799" y="3685032"/>
            <a:ext cx="329184" cy="329184"/>
          </a:xfrm>
          <a:prstGeom prst="ellipse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851392" y="4050791"/>
            <a:ext cx="301752" cy="310896"/>
          </a:xfrm>
          <a:prstGeom prst="rightArrow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189719" y="361188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2F7A4D"/>
          </a:solidFill>
          <a:ln w="15875">
            <a:solidFill>
              <a:srgbClr val="2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 verifica y da seguimiento</a:t>
            </a:r>
          </a:p>
        </p:txBody>
      </p:sp>
      <p:sp>
        <p:nvSpPr>
          <p:cNvPr id="48" name="Oval 47"/>
          <p:cNvSpPr/>
          <p:nvPr/>
        </p:nvSpPr>
        <p:spPr>
          <a:xfrm>
            <a:off x="9281159" y="3685032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2F7A4D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97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89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86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78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475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867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14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79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976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368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715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98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345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742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134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531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923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32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7712"/>
                            </p:stCondLst>
                            <p:childTnLst>
                              <p:par>
                                <p:cTn id="1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8209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8684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3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3.2 PROCEDIMIENTO DE EJECUCIÓN DEL ENTRENAMIENTO EN EL PUESTO DE TRABAJO (P-DCIA-CPEPT-05-R00)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Plazos para entregar la documentación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6666"/>
            <a:ext cx="3291840" cy="1037645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 días naturales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14312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IVA AP remite formato, bitácora y evidencias al ICOJT tras concluir el nivel.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41648" y="2208713"/>
            <a:ext cx="182880" cy="33204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60" y="1876666"/>
            <a:ext cx="3291840" cy="1037645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 días naturales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14312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Máximo para que el ICOJT devuelva la documentación incompleta con observaciones.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62088" y="2208713"/>
            <a:ext cx="182880" cy="33204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0" y="1876666"/>
            <a:ext cx="3291840" cy="1037645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 días naturales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914312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Para que el IVA AP atienda las observaciones.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9602"/>
            <a:ext cx="10424160" cy="705598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devolución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no acredita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nivel y se conserva en el expediente.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5.4 (plazos para la integración y validación de la documentación OJT).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86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78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75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Documentos del Anexo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3291840" cy="66409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Formato general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99253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Tareas de la especialidad y cumplimiento de cada nivel.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835161"/>
            <a:ext cx="3291840" cy="66409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Bitácora OJT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99253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Subtareas de cada tarea genérica.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35161"/>
            <a:ext cx="3291840" cy="66409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Cumplimiento y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499253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Resultado del evento y retroalimentación.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4544"/>
            <a:ext cx="10424160" cy="8463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Usa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siempre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2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revisión</a:t>
            </a:r>
            <a:r>
              <a:rPr sz="2200" b="1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vigente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Anexo 1.</a:t>
            </a:r>
          </a:p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vincula a</a:t>
            </a:r>
            <a:r>
              <a:rPr lang="es-MX"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aprendiz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2.2 y 5.5.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5532120"/>
            <a:ext cx="101041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la R06, cada documento se vincula 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un aprendiz, una tarea, un nivel y un evento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Los complementos autorizados no sustituyen el entrenamiento.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532120"/>
            <a:ext cx="658368" cy="65836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51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76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88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¿Cómo se llena el formato general OJT?</a:t>
            </a:r>
          </a:p>
        </p:txBody>
      </p:sp>
      <p:pic>
        <p:nvPicPr>
          <p:cNvPr id="3" name="Picture 2" descr="s48_f585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10643"/>
            <a:ext cx="3524909" cy="415058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4846320" y="1810257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710643"/>
            <a:ext cx="5760720" cy="788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Datos generales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Nombre, área y credencial AFAC del IVA AP y del IOJT.</a:t>
            </a:r>
          </a:p>
        </p:txBody>
      </p:sp>
      <p:sp>
        <p:nvSpPr>
          <p:cNvPr id="6" name="Oval 5"/>
          <p:cNvSpPr/>
          <p:nvPr/>
        </p:nvSpPr>
        <p:spPr>
          <a:xfrm>
            <a:off x="4846320" y="2640373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540759"/>
            <a:ext cx="5760720" cy="788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Tareas de la especialidad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tarea genérica y su referencia al manual técnico.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3470489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370875"/>
            <a:ext cx="5760720" cy="788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Cumplimiento por nivel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Columnas Evaluador / Evaluado para los niveles 1, 2 y 3.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4300606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200992"/>
            <a:ext cx="5760720" cy="788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Iniciales, rúbrica y fecha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 cada participante, con la fecha real del evento.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5130722"/>
            <a:ext cx="502920" cy="456563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031108"/>
            <a:ext cx="576072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 dirty="0" err="1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Observaciones</a:t>
            </a:r>
            <a:endParaRPr sz="1600" b="1" i="0" u="none" dirty="0">
              <a:solidFill>
                <a:srgbClr val="9A7323"/>
              </a:solidFill>
              <a:latin typeface="Montserrat Medium"/>
              <a:ea typeface="Montserrat Medium"/>
              <a:cs typeface="Montserrat Medium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Documentos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acreditan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)</a:t>
            </a:r>
            <a:r>
              <a:rPr lang="es-MX"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  <a:endParaRPr sz="1600" b="0" i="0" u="none" dirty="0" err="1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Anexo 1 del MEPT (ejemplo: formato de Operaciones Tierra) y numeral 4.4.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17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67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34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1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68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435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882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Lo que todo registro debe contener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93655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Identidad de los participantes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10642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793655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Tarea, subtarea y nivel</a:t>
            </a:r>
          </a:p>
        </p:txBody>
      </p:sp>
      <p:sp>
        <p:nvSpPr>
          <p:cNvPr id="6" name="Oval 5"/>
          <p:cNvSpPr/>
          <p:nvPr/>
        </p:nvSpPr>
        <p:spPr>
          <a:xfrm>
            <a:off x="4160520" y="1710642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93655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Procedimiento y su versión vigente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710642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5817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Contexto y fechas reales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72805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955817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Criterios evaluados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872805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955817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Resultado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2872805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7979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Observaciones e intervenciones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34967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117979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Localizador de la evidencia</a:t>
            </a:r>
          </a:p>
        </p:txBody>
      </p:sp>
      <p:sp>
        <p:nvSpPr>
          <p:cNvPr id="18" name="Oval 17"/>
          <p:cNvSpPr/>
          <p:nvPr/>
        </p:nvSpPr>
        <p:spPr>
          <a:xfrm>
            <a:off x="4160520" y="4034967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117979"/>
            <a:ext cx="32918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Firmas o validaciones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0" y="4034967"/>
            <a:ext cx="411480" cy="37355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303520"/>
            <a:ext cx="1010412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Antes de cada evento, el instrumento indica objetivo, procedimiento, condiciones, puntos críticos y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criterio de aceptación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no se improvisan criterios después de evaluar.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30352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87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54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51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763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Firma, entrega y resguardo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Llena, firma y registra en el Módulo OJT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9463" y="2042690"/>
            <a:ext cx="201168" cy="2905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8892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Resguarda el original; envía copia y evidencias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18304" y="2042690"/>
            <a:ext cx="201168" cy="2905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93776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Revisa, integra el expediente del área y notifica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67144" y="2042690"/>
            <a:ext cx="201168" cy="2905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8660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Verifica y registra el alcance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15984" y="2042690"/>
            <a:ext cx="201168" cy="2905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35440" y="1876666"/>
            <a:ext cx="1920240" cy="622587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Coord. de Programas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499253"/>
            <a:ext cx="19202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Integra el expediente de capacitación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4544"/>
            <a:ext cx="10424160" cy="1079151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IVA AP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lleva su formato original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cada evento.</a:t>
            </a:r>
          </a:p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Conservación: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5 años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impreso y digital (CIAAC).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3.4.5 j) y k), 3.4.8 e) y k), 5.3.7, 5.3.8 y 5.4.2.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86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78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75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67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264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656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153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628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3.3 FORMATOS OJT: LLENADO, FIRMA, ENTREGA Y RESGUARDO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Errores que invalidan un registro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93655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1793655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Dos niveles de una tarea en la misma fecha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793655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93655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 copiada o renombrada para otro evento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38829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3038829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Fechas de la comisión en lugar de los días reales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38829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38829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Lista firmada solo por el instructor como única evidencia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84003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4284003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Alterar fechas o eliminar antecedentes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284003"/>
            <a:ext cx="731520" cy="1037645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84003"/>
            <a:ext cx="4206240" cy="1037645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Registrar como cumplida una tarea sin oportunidad operativa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3.4.11 y 4.2.4 b), d), e), g) e i).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440680"/>
            <a:ext cx="101041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se detecta alguno de estos errores, se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documenta la inconsistencia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se programan los eventos faltantes;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nunca se alteran fechas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440680"/>
            <a:ext cx="685800" cy="6858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87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4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21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88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55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22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89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6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23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9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657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354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66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3.4 MODIFICACIÓN, ADICIÓN O EXCLUSIÓN DE TAREAS/SUBTAREAS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se modifican las tareas?</a:t>
            </a:r>
          </a:p>
        </p:txBody>
      </p:sp>
      <p:pic>
        <p:nvPicPr>
          <p:cNvPr id="3" name="Picture 2" descr="s33_7692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59678"/>
            <a:ext cx="2656371" cy="2656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793655"/>
            <a:ext cx="7132320" cy="286232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subtareas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pueden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modificarse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adicionarse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o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excluirse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desarrollo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</a:t>
            </a:r>
            <a:r>
              <a:rPr lang="es-MX"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aviación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Cambios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legislación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nacional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internacional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necesidades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áreas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4.9 y 4.10.3.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731520" y="4937760"/>
            <a:ext cx="8503919" cy="914400"/>
          </a:xfrm>
          <a:prstGeom prst="wedgeRoundRectCallout">
            <a:avLst>
              <a:gd name="adj1" fmla="val 44807"/>
              <a:gd name="adj2" fmla="val -77182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 cambio en las normas o en los manuales técnicos puede modificar tu formato. La CPEPT conserva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la versión anterior y la nueva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y el cambio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acredita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por sí solo nuevas tareas.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5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467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3.4 MODIFICACIÓN, ADICIÓN O EXCLUSIÓN DE TAREAS/SUBTAREAS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Procedimiento de modificación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93655"/>
            <a:ext cx="242316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Área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91724"/>
            <a:ext cx="2423160" cy="1245174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Solicita por oficio a la CPEPT: tarea y justificación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81528" y="1918172"/>
            <a:ext cx="228600" cy="265637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7560" y="1793655"/>
            <a:ext cx="242316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291724"/>
            <a:ext cx="2423160" cy="1245174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Envía la propuesta por correo a las áreas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79008" y="1918172"/>
            <a:ext cx="228600" cy="265637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35040" y="1793655"/>
            <a:ext cx="242316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Áreas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91724"/>
            <a:ext cx="2423160" cy="1245174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Comentan en 2 días hábiles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76488" y="1918172"/>
            <a:ext cx="228600" cy="265637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32520" y="1793655"/>
            <a:ext cx="242316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291724"/>
            <a:ext cx="2423160" cy="1245174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Analiza si procede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2743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 procede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25509"/>
            <a:ext cx="5029200" cy="1079151"/>
          </a:xfrm>
          <a:prstGeom prst="roundRect">
            <a:avLst>
              <a:gd name="adj" fmla="val 3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Oficio con los motivos al área. Fin.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2743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25509"/>
            <a:ext cx="5029200" cy="1079151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CPEPT actualiza formatos, bitácoras y Módulo OJT; el área lo aplica.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7672"/>
            <a:ext cx="1042416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Actualizar un formato no acredita nuevas tareas ni niveles.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4.10 (P-DCIA-CPEPT-04-R04).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86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78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75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67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334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801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298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773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Módulo OJT de la plataforma de la AFAC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52149"/>
            <a:ext cx="10424160" cy="8301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Medio institucional válido para </a:t>
            </a:r>
            <a:r>
              <a:rPr sz="2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gestionar, registrar, consultar y dar seguimiento</a:t>
            </a: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al Programa OJT.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2789794"/>
            <a:ext cx="2377440" cy="705598"/>
          </a:xfrm>
          <a:prstGeom prst="roundRect">
            <a:avLst>
              <a:gd name="adj" fmla="val 3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Física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789794"/>
            <a:ext cx="2377440" cy="705598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789794"/>
            <a:ext cx="2377440" cy="705598"/>
          </a:xfrm>
          <a:prstGeom prst="roundRect">
            <a:avLst>
              <a:gd name="adj" fmla="val 3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Mixta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2922"/>
            <a:ext cx="10424160" cy="20752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Mismos requisitos</a:t>
            </a: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en cualquier medio.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Cargar un documento </a:t>
            </a:r>
            <a:r>
              <a:rPr sz="2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acredita</a:t>
            </a: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ni autoriza.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 uso es gradual, por Dirección.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4.11.1, 4.11.2 y 4.11.4.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79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76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951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Perfiles y buenas prácticas en el Módulo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Captura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Evaluación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Revisión documental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Autorización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835161"/>
            <a:ext cx="1965960" cy="830116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Registro institucional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38829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Acceso personal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9910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 compartas tu cuenta.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038829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Guardar ≠ aprobar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619910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Guardar no equivale a aprobar.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038829"/>
            <a:ext cx="329184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Evalúa a tu instructor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619910"/>
            <a:ext cx="3291840" cy="182625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 terminar cada actividad, responde la evaluación en tu perfil.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4.11.3 y 5.6.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577840"/>
            <a:ext cx="1010412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opinión sobre el instructor es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confidencial y complementaria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no modifica el resultado de tu nivel.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77840"/>
            <a:ext cx="594360" cy="59436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87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4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21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88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55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322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89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486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98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Tu OJT en físico y en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Programa OJT puede documentarse por medios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físicos, digitales o mixtos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El medio cambia,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las reglas no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Expediente físico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Formato OJT y bitácoras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firmas y rúbricas.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93592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Tú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resguardas el original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lo llevas a cada evento.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15384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Copia al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expediente del área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del CIAAC.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37176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procedimiento físico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sigue vigente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31720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Módulo OJT (digital)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71800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Programación, convocatoria y </a:t>
            </a: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registro de resultados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593592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Carga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formato, bitácora y evidencias por folio.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215384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Convalidaciones y </a:t>
            </a: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reporte de avance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por 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837176"/>
            <a:ext cx="4846320" cy="548640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Acceso </a:t>
            </a: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personal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según tu perfil.</a:t>
            </a:r>
          </a:p>
        </p:txBody>
      </p:sp>
      <p:sp>
        <p:nvSpPr>
          <p:cNvPr id="14" name="Oval 13"/>
          <p:cNvSpPr/>
          <p:nvPr/>
        </p:nvSpPr>
        <p:spPr>
          <a:xfrm>
            <a:off x="5623560" y="3611880"/>
            <a:ext cx="640080" cy="6400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53212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registro electrónico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sustituye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las firmas, autorizaciones ni originales: los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vincula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hace trazable su seguimiento. Ante cualquier diferencia, manda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MEPT vigente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3212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4.11.1 y 4.11.2; MEPT, Anexo 2 (Manual de usuario del Módulo OJT), numerales 1.2 y 1.3.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12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979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676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88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Ruta operativa del Módulo OJT</a:t>
            </a:r>
          </a:p>
        </p:txBody>
      </p:sp>
      <p:pic>
        <p:nvPicPr>
          <p:cNvPr id="3" name="Picture 2" descr="mu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887246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06908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Menú OJT de la plataforma</a:t>
            </a:r>
          </a:p>
        </p:txBody>
      </p:sp>
      <p:sp>
        <p:nvSpPr>
          <p:cNvPr id="5" name="Oval 4"/>
          <p:cNvSpPr/>
          <p:nvPr/>
        </p:nvSpPr>
        <p:spPr>
          <a:xfrm>
            <a:off x="3383280" y="1636776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600200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Catálogos: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Especialidad, tareas y subtareas vigentes</a:t>
            </a:r>
          </a:p>
        </p:txBody>
      </p:sp>
      <p:sp>
        <p:nvSpPr>
          <p:cNvPr id="7" name="Oval 6"/>
          <p:cNvSpPr/>
          <p:nvPr/>
        </p:nvSpPr>
        <p:spPr>
          <a:xfrm>
            <a:off x="3383280" y="2240280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203704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Instructores: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Alta de instructores designados</a:t>
            </a:r>
          </a:p>
        </p:txBody>
      </p:sp>
      <p:sp>
        <p:nvSpPr>
          <p:cNvPr id="9" name="Oval 8"/>
          <p:cNvSpPr/>
          <p:nvPr/>
        </p:nvSpPr>
        <p:spPr>
          <a:xfrm>
            <a:off x="3383280" y="2843784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807208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Programación: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Tarea, nivel, instructor, fechas y sede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3447288"/>
            <a:ext cx="457200" cy="457200"/>
          </a:xfrm>
          <a:prstGeom prst="ellipse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3410712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Convocatoria: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Confirmas o justificas tu asistencia</a:t>
            </a:r>
          </a:p>
        </p:txBody>
      </p:sp>
      <p:sp>
        <p:nvSpPr>
          <p:cNvPr id="13" name="Oval 12"/>
          <p:cNvSpPr/>
          <p:nvPr/>
        </p:nvSpPr>
        <p:spPr>
          <a:xfrm>
            <a:off x="3383280" y="4050792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4014216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Ejecución: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realiza el evento del nivel</a:t>
            </a:r>
          </a:p>
        </p:txBody>
      </p:sp>
      <p:sp>
        <p:nvSpPr>
          <p:cNvPr id="15" name="Oval 14"/>
          <p:cNvSpPr/>
          <p:nvPr/>
        </p:nvSpPr>
        <p:spPr>
          <a:xfrm>
            <a:off x="3383280" y="4654296"/>
            <a:ext cx="457200" cy="457200"/>
          </a:xfrm>
          <a:prstGeom prst="ellipse">
            <a:avLst/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4617720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Acreditación o convalidación: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Resultado con evidencia</a:t>
            </a:r>
          </a:p>
        </p:txBody>
      </p:sp>
      <p:sp>
        <p:nvSpPr>
          <p:cNvPr id="17" name="Oval 16"/>
          <p:cNvSpPr/>
          <p:nvPr/>
        </p:nvSpPr>
        <p:spPr>
          <a:xfrm>
            <a:off x="3383280" y="5257800"/>
            <a:ext cx="457200" cy="457200"/>
          </a:xfrm>
          <a:prstGeom prst="ellipse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5221224"/>
            <a:ext cx="7178040" cy="530352"/>
          </a:xfrm>
          <a:prstGeom prst="roundRect">
            <a:avLst>
              <a:gd name="adj" fmla="val 1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r>
              <a:rPr sz="14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Reporte</a:t>
            </a:r>
            <a:r>
              <a:rPr sz="14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: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</a:t>
            </a:r>
            <a:r>
              <a:rPr lang="es-MX" sz="14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onsulta tu avance y cumplimiento por tarea y nivel (PDF)</a:t>
            </a:r>
            <a:endParaRPr sz="1400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En dorado, los pasos donde </a:t>
            </a:r>
            <a:r>
              <a:rPr sz="13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tú</a:t>
            </a:r>
            <a:r>
              <a:rPr sz="13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intervienes directamente en la plataforma.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2 y 3.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17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67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34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31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56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81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106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601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68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65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6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57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2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49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74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549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Responde tu convocatoria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Entra a tu </a:t>
            </a:r>
            <a:r>
              <a:rPr sz="17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Perfil</a:t>
            </a: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→ pestaña </a:t>
            </a:r>
            <a:r>
              <a:rPr sz="17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Cursos por confirmar</a:t>
            </a: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→ </a:t>
            </a:r>
            <a:r>
              <a:rPr sz="17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Confirmar</a:t>
            </a: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Revisa tarea, fechas, sede e instructor.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Asistirás: selecciona «Sí» y Aceptar</a:t>
            </a:r>
          </a:p>
        </p:txBody>
      </p:sp>
      <p:pic>
        <p:nvPicPr>
          <p:cNvPr id="5" name="Picture 4" descr="mu_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61488"/>
            <a:ext cx="3051481" cy="2240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224028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 puedes: «No», motivo y justificante</a:t>
            </a:r>
          </a:p>
        </p:txBody>
      </p:sp>
      <p:pic>
        <p:nvPicPr>
          <p:cNvPr id="7" name="Picture 6" descr="mu_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61488"/>
            <a:ext cx="2956131" cy="2240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1560" y="5212080"/>
            <a:ext cx="1010412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estado cambia 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Confirmado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Si no asistes, el sistema conserva tu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motivo y justificante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que el ICOJT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reprograme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(hasta dos oportunidades adicionales por nivel).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21208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5.4, 6.1 y 6.2; MEPT, numeral 3.4.5 g).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5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7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69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981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Registro del resultado y estados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Tras el evento, el IOJT registra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y lugar reales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subtareas cubiertas y resultado, y adjunta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formato, bitácora y evidencia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Cada nivel toma un estado: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Pendiente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331720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Sin evaluación aprobatoria ni convalidación.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31720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Programado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331720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fecha e instructor; aún no concluye.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81527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En proceso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081527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Falta evaluación, evidencia o validación.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081527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Cumplido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081527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Acreditado por programación ordinaria.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31335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831335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Reconocido por dictamen y evidencia.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31335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 acreditado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831335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Requiere refuerzo y nueva programación.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581144"/>
            <a:ext cx="1737360" cy="603504"/>
          </a:xfrm>
          <a:prstGeom prst="roundRect">
            <a:avLst>
              <a:gd name="adj" fmla="val 2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 aplica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4581144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Exclusión autorizada y con fundamento.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440680"/>
            <a:ext cx="101041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estado debe reflejar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resultado real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no solo la carga de un archivo. Un oficio de comisión o una constancia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prueban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ejecución.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40680"/>
            <a:ext cx="685800" cy="6858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7.1 y 7.2; MEPT, numeral 4.2.6.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12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79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46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13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8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47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314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781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248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945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57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Convalidación en el Módulo OJT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captura con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Modalidad = Convalidación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(formato anterior o evidencia documental), por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tarea y nivel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El sistema muestra por separado:</a:t>
            </a:r>
          </a:p>
        </p:txBody>
      </p:sp>
      <p:sp>
        <p:nvSpPr>
          <p:cNvPr id="4" name="Oval 3"/>
          <p:cNvSpPr/>
          <p:nvPr/>
        </p:nvSpPr>
        <p:spPr>
          <a:xfrm>
            <a:off x="2057400" y="2331720"/>
            <a:ext cx="502920" cy="5029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Fecha histórica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320040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Cuándo ocurrió la actividad o se emitió el documento fuente.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3017520"/>
            <a:ext cx="274320" cy="3200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23560" y="2331720"/>
            <a:ext cx="502920" cy="5029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9260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Fecha de dictamen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429000"/>
            <a:ext cx="320040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Día en que el ICOJT determina la procedencia.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43800" y="3017520"/>
            <a:ext cx="274320" cy="32004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89719" y="2331720"/>
            <a:ext cx="502920" cy="5029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9260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Fecha de carga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29000"/>
            <a:ext cx="320040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Cuándo se registró en la plataforma.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 el reporte: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de ejecución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programación y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de dictamen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convalidación.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44068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 nivel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puede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quedar a la vez como cumplido y convalidado, y la evidencia ya dictaminada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se reemplaza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toda corrección genera una nueva versión con motivo.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44068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8.3 a 8.5; MEPT, numerales 4.4 y 4.5.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2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22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14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11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03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1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825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437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Tu reporte de avance y cumplimiento</a:t>
            </a:r>
          </a:p>
        </p:txBody>
      </p:sp>
      <p:pic>
        <p:nvPicPr>
          <p:cNvPr id="3" name="Picture 2" descr="mu_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6071457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206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El reporte en PDF muestra: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103120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Datos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IVA y 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514600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tarea y nivel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su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926079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Modalidad: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programación o convalidación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337560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 e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 OJT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749039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Validación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institucional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251960"/>
            <a:ext cx="4206240" cy="868680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Avance (%)</a:t>
            </a: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=</a:t>
            </a:r>
          </a:p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niveles cumplidos o convalidados ÷ niveles aplicables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79" y="5303520"/>
            <a:ext cx="38862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Descargar el reporte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sustituye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resguardo de tus formatos, bitácoras y anexos.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534924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Anexo 2 (Manual de usuario del Módulo OJT), numerales 9.1 a 9.3 (ejemplo ilustrativo del reporte).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17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97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09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3.5 HERRAMIENTA ELECTRÓNICA: MÓDULO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Migración de tus antecedentes al Módulo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CIAAC migrará los registros históricos del OJT al Módulo </a:t>
            </a:r>
            <a:r>
              <a:rPr sz="17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 manera gradual, por Dirección</a:t>
            </a:r>
            <a:r>
              <a:rPr sz="17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Mientras tanto: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Formatos heredados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ICOJT te pedirá tus formatos anteriores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digitalizados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cargarlos.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317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Nada automático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78892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Ningún antecedente se convierte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por sí solo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en nivel cumplido: se inventaría, valida y vincula.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Continuidad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migración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detiene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tu OJT: el programa sigue operando en forma habitual.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9319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Sin repetir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38912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Pasar a digital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obliga a repetir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entrenamiento válidamente realizado.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623560"/>
            <a:ext cx="1010412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Para operar el Módulo consulta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Anexo 2 del MEPT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el manual de usuario del Módulo OJT, disponible en la plataforma.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623560"/>
            <a:ext cx="621792" cy="6217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3.4.5 o) y p), 4.11.1 y 4.11.4; MEPT, Anexo 2 (Manual de usuario del Módulo OJT), numeral 10.3.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1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09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21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sz="3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¡Gracias!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14878</TotalTime>
  <Words>2787</Words>
  <Application>Microsoft Office PowerPoint</Application>
  <PresentationFormat>Panorámica</PresentationFormat>
  <Paragraphs>372</Paragraphs>
  <Slides>27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Montserrat</vt:lpstr>
      <vt:lpstr>Montserrat Medium</vt:lpstr>
      <vt:lpstr>Montserrat SemiBold</vt:lpstr>
      <vt:lpstr>Noto Sans</vt:lpstr>
      <vt:lpstr>Tema de Office</vt:lpstr>
      <vt:lpstr>Módulo 3 Proceso de ejecución del Programa OJT Programa de Entrenamiento en el Puesto de Trabajo</vt:lpstr>
      <vt:lpstr>ACTIVIDAD DE INICIO Para iniciar, reflexiona</vt:lpstr>
      <vt:lpstr>ACTUALIZACIÓN DEL MEPT: R05 → R06 ¿Por qué se actualizó el MEPT?</vt:lpstr>
      <vt:lpstr>ACTUALIZACIÓN DEL MEPT: R05 → R06 Cuadro comparativo R05 vs R06 (1 de 2)</vt:lpstr>
      <vt:lpstr>ACTUALIZACIÓN DEL MEPT: R05 → R06 Cuadro comparativo R05 vs R06 (2 de 2)</vt:lpstr>
      <vt:lpstr>3.1 PROCESO GENERAL DEL PROGRAMA OJT (P-DCIA-CPEPT-01-R04) Proceso general del Programa OJT</vt:lpstr>
      <vt:lpstr>3.1 PROCESO GENERAL DEL PROGRAMA OJT (P-DCIA-CPEPT-01-R04) Esquema del proceso OJT</vt:lpstr>
      <vt:lpstr>3.1 PROCESO GENERAL DEL PROGRAMA OJT (P-DCIA-CPEPT-01-R04) Las seis etapas del proceso</vt:lpstr>
      <vt:lpstr>3.2 PROCEDIMIENTO DE EJECUCIÓN DEL ENTRENAMIENTO EN EL PUESTO DE TRABAJO (P-DCIA-CPEPT-05-R00) Fase de entrenamiento: paso a paso</vt:lpstr>
      <vt:lpstr>3.2 PROCEDIMIENTO DE EJECUCIÓN DEL ENTRENAMIENTO EN EL PUESTO DE TRABAJO (P-DCIA-CPEPT-05-R00) Plazos para entregar la documentación</vt:lpstr>
      <vt:lpstr>3.3 FORMATOS OJT: LLENADO, FIRMA, ENTREGA Y RESGUARDO Documentos del Anexo 1</vt:lpstr>
      <vt:lpstr>3.3 FORMATOS OJT: LLENADO, FIRMA, ENTREGA Y RESGUARDO ¿Cómo se llena el formato general OJT?</vt:lpstr>
      <vt:lpstr>3.3 FORMATOS OJT: LLENADO, FIRMA, ENTREGA Y RESGUARDO Lo que todo registro debe contener</vt:lpstr>
      <vt:lpstr>3.3 FORMATOS OJT: LLENADO, FIRMA, ENTREGA Y RESGUARDO Firma, entrega y resguardo</vt:lpstr>
      <vt:lpstr>3.3 FORMATOS OJT: LLENADO, FIRMA, ENTREGA Y RESGUARDO Errores que invalidan un registro</vt:lpstr>
      <vt:lpstr>3.4 MODIFICACIÓN, ADICIÓN O EXCLUSIÓN DE TAREAS/SUBTAREAS ¿Por qué se modifican las tareas?</vt:lpstr>
      <vt:lpstr>3.4 MODIFICACIÓN, ADICIÓN O EXCLUSIÓN DE TAREAS/SUBTAREAS Procedimiento de modificación</vt:lpstr>
      <vt:lpstr>3.5 HERRAMIENTA ELECTRÓNICA: MÓDULO OJT Módulo OJT de la plataforma de la AFAC</vt:lpstr>
      <vt:lpstr>3.5 HERRAMIENTA ELECTRÓNICA: MÓDULO OJT Perfiles y buenas prácticas en el Módulo</vt:lpstr>
      <vt:lpstr>3.5 HERRAMIENTA ELECTRÓNICA: MÓDULO OJT Tu OJT en físico y en digital</vt:lpstr>
      <vt:lpstr>3.5 HERRAMIENTA ELECTRÓNICA: MÓDULO OJT Ruta operativa del Módulo OJT</vt:lpstr>
      <vt:lpstr>3.5 HERRAMIENTA ELECTRÓNICA: MÓDULO OJT Responde tu convocatoria</vt:lpstr>
      <vt:lpstr>3.5 HERRAMIENTA ELECTRÓNICA: MÓDULO OJT Registro del resultado y estados</vt:lpstr>
      <vt:lpstr>3.5 HERRAMIENTA ELECTRÓNICA: MÓDULO OJT Convalidación en el Módulo OJT</vt:lpstr>
      <vt:lpstr>3.5 HERRAMIENTA ELECTRÓNICA: MÓDULO OJT Tu reporte de avance y cumplimiento</vt:lpstr>
      <vt:lpstr>3.5 HERRAMIENTA ELECTRÓNICA: MÓDULO OJT Migración de tus antecedentes al Módulo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AVANZADO PARA EL INSPECTOR VERIFICADOR AERONÁUTICO DE INVESTIGACIÓN ADMINISTRATIVA Y SEGURIDAD AÉREA (IVA-IASA)</dc:title>
  <dc:creator>Ricardo Elias Delgado Villalobos</dc:creator>
  <cp:lastModifiedBy>Jose Manuel Figueroa Hernandez</cp:lastModifiedBy>
  <cp:revision>219</cp:revision>
  <dcterms:created xsi:type="dcterms:W3CDTF">2025-01-15T19:01:35Z</dcterms:created>
  <dcterms:modified xsi:type="dcterms:W3CDTF">2026-09-24T04:50:35Z</dcterms:modified>
</cp:coreProperties>
</file>