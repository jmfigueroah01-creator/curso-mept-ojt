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63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2"/>
    <a:srgbClr val="0B3041"/>
    <a:srgbClr val="CCCCFF"/>
    <a:srgbClr val="BC9C16"/>
    <a:srgbClr val="E4CDAC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104" d="100"/>
          <a:sy n="104" d="100"/>
        </p:scale>
        <p:origin x="7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custSel addSld delSld modSld">
      <pc:chgData name="Jose Manuel Figueroa Hernandez" userId="c23fd2b0-07fd-455e-80a2-756e0be2378e" providerId="ADAL" clId="{19EAFD33-AF50-43D6-BF52-FC06C69CD06D}" dt="2026-09-23T23:56:02.138" v="1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23:55:23.468" v="0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23:55:24.949" v="1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23:55:26.261" v="2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23:55:27.252" v="3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23:55:28.179" v="4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23:55:29.777" v="5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23:55:30.653" v="6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23:55:45.488" v="8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23:55:45.488" v="8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23:55:48.932" v="9" actId="47"/>
        <pc:sldMkLst>
          <pc:docMk/>
          <pc:sldMk cId="0" sldId="264"/>
        </pc:sldMkLst>
      </pc:sldChg>
      <pc:sldChg chg="add del">
        <pc:chgData name="Jose Manuel Figueroa Hernandez" userId="c23fd2b0-07fd-455e-80a2-756e0be2378e" providerId="ADAL" clId="{19EAFD33-AF50-43D6-BF52-FC06C69CD06D}" dt="2026-09-23T23:56:02.138" v="12" actId="47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23/09/2026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Inducción: la trazabilidad es el eje del módulo. MEPT 4.2.4 g): la evidencia debe permitir identificar quién participó, qué hizo, en qué tarea y nivel, en qué evento y fecha, bajo qué supervisión y con qué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Responsabilidades (5.3.5): Director ejecutivo/de área o comandante: aprobar las gestiones; Director del CIAAC: recibe reportes; CPEPT: realiza la programación OJT; Coordinación de Programas para la Capacitación de Autoridades Aeronáuticas: recibe copia de formatos para expedientes; ICOJT/IOJT: validan, proponen y ejecutan el programa; IVA: realiza su OJT. Indicador 5.3.9: cobertura de formación OJT requerida ≥ 80 % (mensual). Corrección: la carta descriptiva cita la revisión R03.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Resumen de la tabla descriptiva: 1-4 la Coordinación de Formación Técnica Aeronáutica Especializada informa los cursos básicos/recurrentes concluidos; la CPEPT registra y notifica al ICOJT. 5-7 el ICOJT revisa funciones; si no procede, documenta la causa (tarea no aplicable, sin oportunidad operativa o requisito pendiente). 8-10 plan individual; el IOJT propone eventos individualizados (5 días) y el ICOJT valida (3 días). 11-13 notificación y autorización; oficio de comisión cuando corresponda. 14-19 entrenamiento por niveles; la CPEPT registra cada nivel y el siguiente se programa solo tras su aprobación. 20-25 expediente e informes.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Tabla 5.4.2 (17 pasos resumidos). Nota de verificación: la carta descriptiva cita "Procedimiento de ejecución del entrenamiento en el puesto de trabajo (P-DCIA-CPEPT-05-R00)"; en el MEPT R06 este contenido es la fase de entrenamiento (numeral 5.4) del proceso P-DCIA-CPEPT-01-R04. Se recomienda actualizar la carta descriptiva. El IOJT evalúa conforme a 4.2.4 a 4.2.6 sin extender la acreditación a otras tareas o niveles.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plazos se cuentan a partir del día siguiente a la conclusión de la actividad y la evaluación del nivel. El plazo de revisión del ICOJT reinicia al recibir la documentación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MEPT 5.5: los formatos generales, bitácoras e instrumentos de cumplimiento y evaluación están en el Anexo 1 con sus instructivos de llenado. La CPEPT mantiene la copia controlada. Los complementos autorizados no dispensan la realización ni la evaluación.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Ejemplo con el formato general OJT de la especialidad de Operaciones Tierra (IVA-OT). Verifica el instructivo de llenado del Anexo 1 vigente de tu especialidad. Las convalidaciones se documentan en el campo de observaciones del formato y de la bitácora.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MEPT 4.2.6: antes de cada evento se identifican en el instrumento el objetivo, procedimiento y versión, condiciones, actuación observable, asistencia permitida, puntos críticos, evidencias y criterio de aceptación. No se improvisan criterios después de evaluar. La aprobación OJT no acredita toda una especialidad ni designa al aprendiz como instructor.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MEPT 5.4.2 pasos 12 a 16: el IOJT llena formatos y bitácoras con fechas reales, evidencias y firmas; registra en el Módulo OJT conforme a 4.11; entrega el original al IVA AP, quien lo resguarda y envía copia por correo al ICOJT; el ICOJT revisa por tarea, nivel y evento y notifica a la CPEPT; la CPEPT verifica integridad sin sustituir la evaluación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Errores frecuentes identificados a partir de los criterios obligatorios del MEPT. Si se detectan, se documenta la inconsistencia, se determina qué falta por tarea y nivel y se programan los eventos necesarios, sin alterar fechas.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Práctica autogestiva alineada con el objetivo del módulo. Coloca en la plataforma el enlace de descarga del Anexo 1 vigente y el espacio para subir el archivo.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Caso ilustrativo. El Nivel 2 de la misma tarea solo podría programarse en una fecha posterior al 14 de octubre y después de la aprobación técnica del Nivel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Lista de cotejo para la autorrevisión y para la evaluación de la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Objetivo del procedimiento (4.10.3): actualizar formatos y bitácoras conforme a los cambios en las normas y a las necesidades de las áreas, para que la instrucción se apegue a los procedimientos técnicos. Alcance: todos los IVA de la AFAC.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TD-DCIA-CPEPT-04-R04 (11 pasos resumidos). La solicitud debe indicar la tarea(s) y/o subtarea(s) y justificar la razón. La CPEPT elabora un informe trimestral para la Dirección del CIAAC. Registro: expediente de cambio (5 años). Indicador 4.10.9: implementación oportuna de cambios (mensual).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MEPT 4.11: la modalidad digital no sustituye la realización práctica ni la demostración de competencia. El procedimiento físico continúa vigente; la habilitación del Módulo no obliga a repetir entrenamiento válido. Consulta el Anexo 2 (manual de usuario) y los manuales descargables desde la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MEPT 4.11.3: las altas o cambios de permisos se sustentan en la designación y alcance vigentes; no se usa un perfil administrativo para suplir decisiones técnicas. MEPT 5.6: la evaluación del instructor por el IVA aprendiz es confidencial y complementaria; no modifica el resultado del nivel.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Actividad formativa de secuenciación.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Retroalimentación con base en la tabla 5.4.2 del MEPT R06.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Instrucciones de cierre del curso autogestivo. Configura en la plataforma la evaluación final y la encuesta de satisfacción.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Conclusiones del módulo: integran los aspectos que el participante debe recordar y aplicar.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Fuentes consultadas para este módulo. Verifica siempre la revisión vigente del MEPT en el portal de la AFAC.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del módulo: agradecimiento, nombre completo del CIAAC y del instructor (Anexo 4, numeral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Datos de contacto institucionales para dudas sobre el curso. Completa correo, teléfono y extensión Cisco del instructor y del coordinador del curso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b.mx/afac/acciones-y-programas/manuales-de-la-afac-277967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7541" y="1734589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3</a:t>
            </a:r>
          </a:p>
          <a:p>
            <a:pPr algn="ctr">
              <a:spcAft>
                <a:spcPts val="800"/>
              </a:spcAft>
            </a:pP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Proceso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ejecución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Programa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de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Entrenamiento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en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el Puesto de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Trabajo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·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Duración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estimada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: 2 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959678"/>
            <a:ext cx="2739383" cy="27393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7040880" cy="398455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Imagina que alguien revisa tu formato OJT dentro de un año.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¿Podría saber qué hiciste, cuándo y con quién?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¿Qué evidencia lo demostraría?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Anota tu respuesta y compárala al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Proceso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en el puesto de trabajo con un sistema que garantice el adiestramiento continuo del IVA.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Todos los IVA de la AFAC que requieran realizar su OJT.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Plan, formatos, bitácoras y evidencias: 5 años, impreso y digital.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2614"/>
            <a:ext cx="10424160" cy="664092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Código vigente: </a:t>
            </a:r>
            <a:r>
              <a:rPr sz="20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P-DCIA-CPEPT-01-R04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(MEPT R06, numeral 5.3).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5.2, 5.3.3, 5.3.4 y 5.3.8.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Las seis etapas del proceso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1. Ingreso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91724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informa quién aprobó el curso básico; la CPEPT registra y notifica.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752149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2. Plan individual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291724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ICOJT revisa funciones y tareas con el IOJT.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52149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3. Programación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291724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propone eventos por tarea y nivel; el ICOJT valida.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85934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4. Autorización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25509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titular del área autoriza y emite oficio de comisión.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785934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5. Entrenamiento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325509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 1 → registro → Nivel 2 → registro → Nivel 3 → registro.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785934"/>
            <a:ext cx="3291840" cy="539575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6. Expediente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325509"/>
            <a:ext cx="3291840" cy="132818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 íntegra al expediente e informe a la Dirección del CIAAC.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5.3.7 (TD-DCIA-CPEPT-01-R04, 25 pasos resumidos).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EN EL PUESTO DE TRABAJO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Fase de entrenamiento: paso a paso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35161"/>
            <a:ext cx="2148840" cy="871621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Recibe oficio de comisión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34639" y="2109099"/>
            <a:ext cx="274320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1835161"/>
            <a:ext cx="2148840" cy="871621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 instruye la tarea y nivel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349240" y="2109099"/>
            <a:ext cx="274320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0" y="1835161"/>
            <a:ext cx="2148840" cy="871621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 evalúa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63840" y="2109099"/>
            <a:ext cx="274320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Diamond 8"/>
          <p:cNvSpPr/>
          <p:nvPr/>
        </p:nvSpPr>
        <p:spPr>
          <a:xfrm>
            <a:off x="8183879" y="1710643"/>
            <a:ext cx="1417320" cy="1120656"/>
          </a:xfrm>
          <a:prstGeom prst="diamond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¿Aprueba?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646919" y="2109099"/>
            <a:ext cx="274320" cy="315444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966959" y="1835161"/>
            <a:ext cx="1828800" cy="871621"/>
          </a:xfrm>
          <a:prstGeom prst="roundRect">
            <a:avLst>
              <a:gd name="adj" fmla="val 8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Sí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14232" y="2872806"/>
            <a:ext cx="347472" cy="290540"/>
          </a:xfrm>
          <a:prstGeom prst="down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60919" y="3204852"/>
            <a:ext cx="3108960" cy="78861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No: brechas; el ICOJT reprograma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698480" y="2789794"/>
            <a:ext cx="347472" cy="1328185"/>
          </a:xfrm>
          <a:prstGeom prst="down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4242497"/>
            <a:ext cx="2468880" cy="1120656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IOJT llena, firma y registra en el Módulo OJT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36391" y="4657556"/>
            <a:ext cx="182880" cy="273938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37560" y="4242497"/>
            <a:ext cx="2468880" cy="1120656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IVA AP resguarda el original y envía copia al ICOJT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33872" y="4657556"/>
            <a:ext cx="182880" cy="273938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0" y="4242497"/>
            <a:ext cx="2468880" cy="1120656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ICOJT revisa y notifica a la CPEPT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531352" y="4657556"/>
            <a:ext cx="182880" cy="273938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4242497"/>
            <a:ext cx="2468880" cy="1120656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verifica y da seguimiento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46166"/>
            <a:ext cx="1051560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Si el IVA no se presenta: se notifica la justificación y el ICOJT reprograma.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5.4 (fase de entrenamiento del proceso P-DCIA-CPEPT-01-R04).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EN EL PUESTO DE TRABAJO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Plazos para entregar la documentación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 días naturales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remite formato, bitácora y evidencias al ICOJT tras concluir el nivel.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41648" y="2208713"/>
            <a:ext cx="182880" cy="33204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196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días naturales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Máximo para que el ICOJT devuelva la documentación incompleta con observaciones.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62088" y="2208713"/>
            <a:ext cx="182880" cy="33204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77240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 días naturales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que el IVA AP atienda las observaciones.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9602"/>
            <a:ext cx="10424160" cy="705598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devolución </a:t>
            </a:r>
            <a:r>
              <a:rPr sz="20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nivel y se conserva en el expediente.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5.4 (plazos para la integración y validación de la documentación OJT).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Documentos del Anexo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 de la especialidad y cumplimiento de cada nivel.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 de cada tarea genérica.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Cumplimiento y evaluación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del evento y retroalimentación.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4544"/>
            <a:ext cx="10424160" cy="116216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Usa siempre la </a:t>
            </a:r>
            <a:r>
              <a:rPr sz="22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revisión vigente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1.</a:t>
            </a:r>
          </a:p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documento se vincula a aprendiz, tarea, nivel y evento.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2.2 y 5.5.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¿Cómo se llena el formato general OJT?</a:t>
            </a:r>
          </a:p>
        </p:txBody>
      </p:sp>
      <p:pic>
        <p:nvPicPr>
          <p:cNvPr id="3" name="Picture 2" descr="s48_f585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10643"/>
            <a:ext cx="3524909" cy="415058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846320" y="1810257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710643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Datos generales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Nombre, área y credencial AFAC del IVA AP y del IOJT.</a:t>
            </a:r>
          </a:p>
        </p:txBody>
      </p:sp>
      <p:sp>
        <p:nvSpPr>
          <p:cNvPr id="6" name="Oval 5"/>
          <p:cNvSpPr/>
          <p:nvPr/>
        </p:nvSpPr>
        <p:spPr>
          <a:xfrm>
            <a:off x="4846320" y="2640373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540759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Tareas de la especialidad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tarea genérica y su referencia al manual técnico.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3470489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370875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Cumplimiento por nivel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Columnas Evaluador / Evaluado para los niveles 1, 2 y 3.</a:t>
            </a:r>
          </a:p>
        </p:txBody>
      </p:sp>
      <p:sp>
        <p:nvSpPr>
          <p:cNvPr id="10" name="Oval 9"/>
          <p:cNvSpPr/>
          <p:nvPr/>
        </p:nvSpPr>
        <p:spPr>
          <a:xfrm>
            <a:off x="4846320" y="4300606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200992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Iniciales, rúbrica y fecha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cada participante, con la fecha real del evento.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5130722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5031108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Observaciones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Comentarios del desempeño y, en su caso, convalidaciones.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Anexo 1 del MEPT (ejemplo: formato de Operaciones Tierra) y numeral 4.4.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 que todo registro debe contener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Identidad de los participantes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Tarea, subtarea y nivel</a:t>
            </a:r>
          </a:p>
        </p:txBody>
      </p:sp>
      <p:sp>
        <p:nvSpPr>
          <p:cNvPr id="6" name="Oval 5"/>
          <p:cNvSpPr/>
          <p:nvPr/>
        </p:nvSpPr>
        <p:spPr>
          <a:xfrm>
            <a:off x="416052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 y su versión vigente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Contexto y fechas reales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 evaluados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Observaciones e intervenciones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Localizador de la evidencia</a:t>
            </a:r>
          </a:p>
        </p:txBody>
      </p:sp>
      <p:sp>
        <p:nvSpPr>
          <p:cNvPr id="18" name="Oval 17"/>
          <p:cNvSpPr/>
          <p:nvPr/>
        </p:nvSpPr>
        <p:spPr>
          <a:xfrm>
            <a:off x="416052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Firmas o validaciones</a:t>
            </a:r>
          </a:p>
        </p:txBody>
      </p:sp>
      <p:sp>
        <p:nvSpPr>
          <p:cNvPr id="20" name="Oval 19"/>
          <p:cNvSpPr/>
          <p:nvPr/>
        </p:nvSpPr>
        <p:spPr>
          <a:xfrm>
            <a:off x="768096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Firma, entrega y resguardo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Llena, firma y registra en el Módulo OJT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9463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8892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original; envía copia y evidencias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1830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93776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Revisa, integra el expediente del área y notifica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86714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08660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Verifica y registra el alcance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01598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23544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Coord. de Programas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el expediente de capacitación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4544"/>
            <a:ext cx="10424160" cy="1079151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</a:t>
            </a: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lleva su formato original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cada evento.</a:t>
            </a:r>
          </a:p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Conservación: </a:t>
            </a: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5 años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impreso y digital (CIAAC).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j) y k), 3.4.8 e) y k), 5.3.7, 5.3.8 y 5.4.2.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Errores que invalidan un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93655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Dos niveles de una tarea en la misma fecha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793655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93655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 copiada o renombrada para otro evento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38829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38829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Fechas de la comisión en lugar de los días reales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38829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038829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Lista firmada solo por el instructor como única evidencia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84003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284003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Alterar fechas o eliminar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284003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284003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Registrar como cumplida una tarea sin oportunidad operativa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3.4.11 y 4.2.4 b), d), e), g) e i).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PRÁCTICA DE LLENADO (EVALUABLE)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Práctica: llena una tarea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818558"/>
            <a:ext cx="594360" cy="539575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752149"/>
            <a:ext cx="9692640" cy="680695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Descarga el formato general y la bitácora de tu especialidad (Anexo 1).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632072"/>
            <a:ext cx="594360" cy="539575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565663"/>
            <a:ext cx="9692640" cy="680695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Elige una tarea genérica y sus subtareas.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445586"/>
            <a:ext cx="594360" cy="539575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3379177"/>
            <a:ext cx="9692640" cy="680695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 un evento de Nivel 1 con el caso de la siguiente diapositiva.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259100"/>
            <a:ext cx="594360" cy="539575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4192690"/>
            <a:ext cx="9692640" cy="680695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tu registro con la lista de cotejo.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72614"/>
            <a:ext cx="594360" cy="539575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5006204"/>
            <a:ext cx="9692640" cy="680695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Sube tu archivo a la plataforma de capacitación.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Esta práctica representa el 30 % de la calificación del curso (propuesta).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PRÁCTICA DE LLENADO (EVALUABLE)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Datos del caso (ejemplo ilustrativo)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710643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Tus propios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08327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308327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designado de tu área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06010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906010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tarea que elegiste y sus subtareas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03694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503694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1 · Conocimiento aplicado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01377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real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4101377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14 de octubre de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99060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Resultado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4699060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Satisfactorio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96745"/>
            <a:ext cx="301752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Evidencia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5296745"/>
            <a:ext cx="7315200" cy="514672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Lista de verificación de conocimiento con firma de ambos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Datos ficticios para la práctica. No los uses como registro real.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PRÁCTICA DE LLENADO (EVALUABLE)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Lista de cotejo de tu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52149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Datos generales completos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752149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52149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 y subtareas identificadas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8288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748288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 marcado correctamente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48288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748288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 real del evento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4428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3744428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Iniciales y rúbricas de ambos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744428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744428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 propia del evento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40566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4740566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Observaciones, si aplica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4740566"/>
            <a:ext cx="731520" cy="78861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2F7A4D"/>
                </a:solidFill>
                <a:latin typeface="Montserrat Medium"/>
                <a:ea typeface="Montserrat Medium"/>
                <a:cs typeface="Montserrat Medium"/>
              </a:rPr>
              <a:t>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740566"/>
            <a:ext cx="4206240" cy="78861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 congruente con el formato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Criterios basados en el MEPT, numerales 4.2.4 a 4.2.6.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3.4 MODIFICACIÓN, ADICIÓN O EXCLUSIÓN DE TAREAS/SUBTAREAS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se modifican las tareas?</a:t>
            </a:r>
          </a:p>
        </p:txBody>
      </p:sp>
      <p:pic>
        <p:nvPicPr>
          <p:cNvPr id="3" name="Picture 2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959678"/>
            <a:ext cx="2656371" cy="2656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713232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tareas y subtareas pueden </a:t>
            </a:r>
            <a:r>
              <a:rPr sz="25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modificarse, adicionarse o excluirse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desarrollo de la industria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Cambios en la legislación nacional e internacional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necesidades de las áreas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4.9 y 4.10.3.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3.4 MODIFICACIÓN, ADICIÓN O EXCLUSIÓN DE TAREAS/SUBTAREAS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Procedimiento de modificación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Área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Solicita por oficio a la CPEPT: tarea y justificación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8152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33756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Envía la propuesta por correo a las áreas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7900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3504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Áreas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Comentan en 2 días hábiles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7648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3252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si procede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2743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procede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25509"/>
            <a:ext cx="5029200" cy="1079151"/>
          </a:xfrm>
          <a:prstGeom prst="roundRect">
            <a:avLst>
              <a:gd name="adj" fmla="val 3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Oficio con los motivos al área.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2743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25509"/>
            <a:ext cx="5029200" cy="1079151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actualiza formatos, bitácoras y Módulo OJT; el área lo aplica.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7672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Actualizar un formato no acredita nuevas tareas ni niveles.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4.10 (P-DCIA-CPEPT-04-R04).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ELECTRÓNICA: MÓDULO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 de la plataforma de la AFAC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52149"/>
            <a:ext cx="10424160" cy="8301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Medio institucional válido para </a:t>
            </a:r>
            <a:r>
              <a:rPr sz="22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gestionar, registrar, consultar y dar seguimiento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Programa OJT.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Física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Digital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Mixta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2922"/>
            <a:ext cx="10424160" cy="20752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Mismos requisitos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 cualquier medio.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Cargar un documento </a:t>
            </a:r>
            <a:r>
              <a:rPr sz="22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ni autoriza.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uso es gradual, por Dirección.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4.11.1, 4.11.2 y 4.11.4.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ELECTRÓNICA: MÓDULO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Perfiles y buenas prácticas en el Módulo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Captura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8892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Revisión documental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660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Autorización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 institucional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Acceso personal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compartas tu cuenta.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Guardar ≠ aprobar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Guardar no equivale a aprobar.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Evalúa a tu instructor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 terminar cada actividad, responde la evaluación en tu perfil.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4.11.3 y 5.6.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AUTOEVALUACIÓN · MÓDULO 3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Autoevaluación: ordena el proceso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27632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Escribe el orden correcto (1 a 6) de estas acciones de la fase de entrenamiento: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25701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25701"/>
            <a:ext cx="7955279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ICOJT revisa y notifica a la CPEPT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09760" y="2125701"/>
            <a:ext cx="731520" cy="498069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1B4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2748288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8288"/>
            <a:ext cx="7955279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instruye la tarea y el nivel programados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2748288"/>
            <a:ext cx="731520" cy="498069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1B4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20" y="3370875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370875"/>
            <a:ext cx="7955279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recibe el oficio de comisión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3370875"/>
            <a:ext cx="731520" cy="498069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1B4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993463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993463"/>
            <a:ext cx="7955279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resguarda el original y envía copia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993463"/>
            <a:ext cx="731520" cy="498069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1B4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4616050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616050"/>
            <a:ext cx="7955279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evalúa y documenta el resultado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4616050"/>
            <a:ext cx="731520" cy="498069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1B4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1520" y="5238637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5238637"/>
            <a:ext cx="7955279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llena, firma y registra en el Módulo OJT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5238637"/>
            <a:ext cx="731520" cy="498069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1B4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863840" y="6027247"/>
            <a:ext cx="2011680" cy="415058"/>
          </a:xfrm>
          <a:prstGeom prst="roundRect">
            <a:avLst>
              <a:gd name="adj" fmla="val 50000"/>
            </a:avLst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Ver respuesta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AUTOEVALUACIÓN · MÓDULO 3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Retroalimentación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793655"/>
            <a:ext cx="548640" cy="498069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793655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793655"/>
            <a:ext cx="9052560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recibe el oficio de comisión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457748"/>
            <a:ext cx="548640" cy="498069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2457748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2457748"/>
            <a:ext cx="9052560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instruye la tarea y el nivel programados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121841"/>
            <a:ext cx="548640" cy="498069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3121841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3121841"/>
            <a:ext cx="9052560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evalúa y documenta el resultado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785934"/>
            <a:ext cx="548640" cy="498069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20" y="3785934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3785934"/>
            <a:ext cx="9052560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llena, firma y registra en el Módulo OJT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450026"/>
            <a:ext cx="548640" cy="498069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4450026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4450026"/>
            <a:ext cx="9052560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resguarda el original y envía copia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114119"/>
            <a:ext cx="548640" cy="498069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17320" y="5114119"/>
            <a:ext cx="548640" cy="498069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5114119"/>
            <a:ext cx="9052560" cy="498069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ICOJT revisa y notifica a la CPEPT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Orden correcto: C – B – E – F – D – A (MEPT, numeral 5.4.2).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CIERRE DEL CURSO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 final del curso</a:t>
            </a:r>
          </a:p>
        </p:txBody>
      </p:sp>
      <p:pic>
        <p:nvPicPr>
          <p:cNvPr id="3" name="Picture 2" descr="oj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6666"/>
            <a:ext cx="2573360" cy="2306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722376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Ingresa a la plataforma de capacitación.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Responde la </a:t>
            </a:r>
            <a:r>
              <a:rPr sz="25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 final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(40 %).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Verifica que subiste tu </a:t>
            </a:r>
            <a:r>
              <a:rPr sz="25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práctica de llenado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Responde la encuesta del curso.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822960"/>
            <a:ext cx="4846320" cy="4206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CONCLUSIONES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49240" y="1097280"/>
            <a:ext cx="0" cy="4297680"/>
          </a:xfrm>
          <a:prstGeom prst="line">
            <a:avLst/>
          </a:prstGeom>
          <a:ln w="31750">
            <a:solidFill>
              <a:srgbClr val="B9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577840" y="640080"/>
            <a:ext cx="5897880" cy="5120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proceso vigente es </a:t>
            </a:r>
            <a:r>
              <a:rPr sz="28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P-DCIA-CPEPT-01-R04</a:t>
            </a: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Cada nivel se registra con fechas reales y evidencia propia.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IVA AP resguarda el original.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Módulo OJT registra, pero </a:t>
            </a:r>
            <a:r>
              <a:rPr sz="28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no acredita</a:t>
            </a: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MÓDULO 3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52149"/>
            <a:ext cx="10332720" cy="406756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AFAC-CIAAC. (2026). </a:t>
            </a:r>
            <a:r>
              <a:rPr sz="1800" b="0" i="0" u="sng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Manual de Entrenamiento en el Puesto de Trabajo (MEPT)</a:t>
            </a:r>
            <a:r>
              <a:rPr sz="1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, M-DCIA-CPEPT-01-R06. Numerales 4.2.4 a 4.2.6, 4.9 a 4.11 y Capítulo 5.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AFAC-CIAAC. </a:t>
            </a:r>
            <a:r>
              <a:rPr sz="1800" b="0" i="0" u="sng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Anexo 1 del MEPT: Formatos OJT y bitácoras</a:t>
            </a:r>
            <a:r>
              <a:rPr sz="1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, revisión vigente.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AFAC-CIAAC. </a:t>
            </a:r>
            <a:r>
              <a:rPr sz="1800" b="0" i="0" u="sng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Anexo 2 del MEPT: Manual de usuario de la plataforma de capacitación (Módulo OJT)</a:t>
            </a:r>
            <a:r>
              <a:rPr sz="1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</p:txBody>
      </p:sp>
      <p:sp>
        <p:nvSpPr>
          <p:cNvPr id="4" name="Rounded Rectangle 3">
            <a:hlinkClick r:id="rId3"/>
          </p:cNvPr>
          <p:cNvSpPr/>
          <p:nvPr/>
        </p:nvSpPr>
        <p:spPr>
          <a:xfrm>
            <a:off x="822960" y="5819718"/>
            <a:ext cx="3840480" cy="415058"/>
          </a:xfrm>
          <a:prstGeom prst="roundRect">
            <a:avLst>
              <a:gd name="adj" fmla="val 5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Consultar manuales de la AFAC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MÓDULO 3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Gracias por tu participación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35161"/>
            <a:ext cx="10241280" cy="132818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Concluiste el módulo 3: Proceso de ejecución del Programa OJT.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esto terminas el curso. No olvides responder la evaluación final.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78405"/>
            <a:ext cx="1024128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Centro Internacional de Adiestramiento de Aviación Civil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25509"/>
            <a:ext cx="10241280" cy="49806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Ing. José María Figueroa Hernández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82073"/>
            <a:ext cx="1024128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B98A2E"/>
                </a:solidFill>
                <a:latin typeface="Montserrat Medium"/>
                <a:ea typeface="Montserrat Medium"/>
                <a:cs typeface="Montserrat Medium"/>
              </a:rPr>
              <a:t>Instructor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822960"/>
            <a:ext cx="4846320" cy="4206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CONTACTO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49240" y="1097280"/>
            <a:ext cx="0" cy="4297680"/>
          </a:xfrm>
          <a:prstGeom prst="line">
            <a:avLst/>
          </a:prstGeom>
          <a:ln w="31750">
            <a:solidFill>
              <a:srgbClr val="B9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577840" y="640080"/>
            <a:ext cx="5897880" cy="5120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Instructor:</a:t>
            </a:r>
            <a:r>
              <a:rPr sz="2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Ing. José María Figueroa Hernández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Correo: [correo institucional]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Tel.: [número] · Cisco ext. [extensión]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del curso:</a:t>
            </a:r>
            <a:r>
              <a:rPr sz="2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CPEPT – CIAAC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Correo: [correo institucional]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Tel.: [número] · Cisco ext. [extensión]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14858</TotalTime>
  <Words>2833</Words>
  <Application>Microsoft Office PowerPoint</Application>
  <PresentationFormat>Panorámica</PresentationFormat>
  <Paragraphs>327</Paragraphs>
  <Slides>26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3 Proceso de ejecución del Programa OJT Programa de Entrenamiento en el Puesto de Trabajo · Duración estimada: 2 h</vt:lpstr>
      <vt:lpstr>ACTIVIDAD DE INICIO Para iniciar, reflexiona</vt:lpstr>
      <vt:lpstr>3.1 PROCESO GENERAL DEL PROGRAMA OJT (P-DCIA-CPEPT-01-R04) Proceso general del Programa OJT</vt:lpstr>
      <vt:lpstr>3.1 PROCESO GENERAL DEL PROGRAMA OJT (P-DCIA-CPEPT-01-R04) Las seis etapas del proceso</vt:lpstr>
      <vt:lpstr>3.2 FASE DE ENTRENAMIENTO EN EL PUESTO DE TRABAJO Fase de entrenamiento: paso a paso</vt:lpstr>
      <vt:lpstr>3.2 FASE DE ENTRENAMIENTO EN EL PUESTO DE TRABAJO Plazos para entregar la documentación</vt:lpstr>
      <vt:lpstr>3.3 FORMATOS OJT: LLENADO, FIRMA, ENTREGA Y RESGUARDO Documentos del Anexo 1</vt:lpstr>
      <vt:lpstr>3.3 FORMATOS OJT: LLENADO, FIRMA, ENTREGA Y RESGUARDO ¿Cómo se llena el formato general OJT?</vt:lpstr>
      <vt:lpstr>3.3 FORMATOS OJT: LLENADO, FIRMA, ENTREGA Y RESGUARDO Lo que todo registro debe contener</vt:lpstr>
      <vt:lpstr>3.3 FORMATOS OJT: LLENADO, FIRMA, ENTREGA Y RESGUARDO Firma, entrega y resguardo</vt:lpstr>
      <vt:lpstr>3.3 FORMATOS OJT: LLENADO, FIRMA, ENTREGA Y RESGUARDO Errores que invalidan un registro</vt:lpstr>
      <vt:lpstr>PRÁCTICA DE LLENADO (EVALUABLE) Práctica: llena una tarea</vt:lpstr>
      <vt:lpstr>PRÁCTICA DE LLENADO (EVALUABLE) Datos del caso (ejemplo ilustrativo)</vt:lpstr>
      <vt:lpstr>PRÁCTICA DE LLENADO (EVALUABLE) Lista de cotejo de tu registro</vt:lpstr>
      <vt:lpstr>3.4 MODIFICACIÓN, ADICIÓN O EXCLUSIÓN DE TAREAS/SUBTAREAS ¿Por qué se modifican las tareas?</vt:lpstr>
      <vt:lpstr>3.4 MODIFICACIÓN, ADICIÓN O EXCLUSIÓN DE TAREAS/SUBTAREAS Procedimiento de modificación</vt:lpstr>
      <vt:lpstr>3.5 HERRAMIENTA ELECTRÓNICA: MÓDULO OJT Módulo OJT de la plataforma de la AFAC</vt:lpstr>
      <vt:lpstr>3.5 HERRAMIENTA ELECTRÓNICA: MÓDULO OJT Perfiles y buenas prácticas en el Módulo</vt:lpstr>
      <vt:lpstr>AUTOEVALUACIÓN · MÓDULO 3 Autoevaluación: ordena el proceso</vt:lpstr>
      <vt:lpstr>AUTOEVALUACIÓN · MÓDULO 3 Retroalimentación</vt:lpstr>
      <vt:lpstr>CIERRE DEL CURSO Evaluación final del curso</vt:lpstr>
      <vt:lpstr>Presentación de PowerPoint</vt:lpstr>
      <vt:lpstr>MÓDULO 3 Referencias</vt:lpstr>
      <vt:lpstr>MÓDULO 3 Gracias por tu participación</vt:lpstr>
      <vt:lpstr>Presentación de PowerPoint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216</cp:revision>
  <dcterms:created xsi:type="dcterms:W3CDTF">2025-01-15T19:01:35Z</dcterms:created>
  <dcterms:modified xsi:type="dcterms:W3CDTF">2026-09-23T23:56:09Z</dcterms:modified>
</cp:coreProperties>
</file>