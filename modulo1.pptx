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3" r:id="rId2"/>
    <p:sldId id="266" r:id="rId3"/>
    <p:sldId id="267" r:id="rId4"/>
    <p:sldId id="268" r:id="rId5"/>
    <p:sldId id="269" r:id="rId6"/>
    <p:sldId id="301" r:id="rId7"/>
    <p:sldId id="299" r:id="rId8"/>
    <p:sldId id="300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8" r:id="rId3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CDAC"/>
    <a:srgbClr val="BC9C16"/>
    <a:srgbClr val="156082"/>
    <a:srgbClr val="0B3041"/>
    <a:srgbClr val="CCCCFF"/>
    <a:srgbClr val="7B95AF"/>
    <a:srgbClr val="003764"/>
    <a:srgbClr val="4E95D9"/>
    <a:srgbClr val="AEAEA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30" autoAdjust="0"/>
    <p:restoredTop sz="94038" autoAdjust="0"/>
  </p:normalViewPr>
  <p:slideViewPr>
    <p:cSldViewPr snapToGrid="0">
      <p:cViewPr varScale="1">
        <p:scale>
          <a:sx n="65" d="100"/>
          <a:sy n="65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Manuel Figueroa Hernandez" userId="c23fd2b0-07fd-455e-80a2-756e0be2378e" providerId="ADAL" clId="{19EAFD33-AF50-43D6-BF52-FC06C69CD06D}"/>
    <pc:docChg chg="undo redo custSel delSld modSld">
      <pc:chgData name="Jose Manuel Figueroa Hernandez" userId="c23fd2b0-07fd-455e-80a2-756e0be2378e" providerId="ADAL" clId="{19EAFD33-AF50-43D6-BF52-FC06C69CD06D}" dt="2026-09-23T19:33:56.312" v="82" actId="47"/>
      <pc:docMkLst>
        <pc:docMk/>
      </pc:docMkLst>
      <pc:sldChg chg="del">
        <pc:chgData name="Jose Manuel Figueroa Hernandez" userId="c23fd2b0-07fd-455e-80a2-756e0be2378e" providerId="ADAL" clId="{19EAFD33-AF50-43D6-BF52-FC06C69CD06D}" dt="2026-09-23T19:17:48.907" v="1" actId="47"/>
        <pc:sldMkLst>
          <pc:docMk/>
          <pc:sldMk cId="0" sldId="256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57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58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59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60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61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62"/>
        </pc:sldMkLst>
      </pc:sldChg>
      <pc:sldChg chg="modSp mod">
        <pc:chgData name="Jose Manuel Figueroa Hernandez" userId="c23fd2b0-07fd-455e-80a2-756e0be2378e" providerId="ADAL" clId="{19EAFD33-AF50-43D6-BF52-FC06C69CD06D}" dt="2026-09-23T19:18:19.306" v="4" actId="1076"/>
        <pc:sldMkLst>
          <pc:docMk/>
          <pc:sldMk cId="0" sldId="263"/>
        </pc:sldMkLst>
        <pc:spChg chg="mod">
          <ac:chgData name="Jose Manuel Figueroa Hernandez" userId="c23fd2b0-07fd-455e-80a2-756e0be2378e" providerId="ADAL" clId="{19EAFD33-AF50-43D6-BF52-FC06C69CD06D}" dt="2026-09-23T19:18:19.306" v="4" actId="1076"/>
          <ac:spMkLst>
            <pc:docMk/>
            <pc:sldMk cId="0" sldId="263"/>
            <ac:spMk id="2" creationId="{00000000-0000-0000-0000-000000000000}"/>
          </ac:spMkLst>
        </pc:spChg>
      </pc:sldChg>
      <pc:sldChg chg="del">
        <pc:chgData name="Jose Manuel Figueroa Hernandez" userId="c23fd2b0-07fd-455e-80a2-756e0be2378e" providerId="ADAL" clId="{19EAFD33-AF50-43D6-BF52-FC06C69CD06D}" dt="2026-09-23T19:19:08.704" v="5" actId="47"/>
        <pc:sldMkLst>
          <pc:docMk/>
          <pc:sldMk cId="0" sldId="264"/>
        </pc:sldMkLst>
      </pc:sldChg>
      <pc:sldChg chg="del">
        <pc:chgData name="Jose Manuel Figueroa Hernandez" userId="c23fd2b0-07fd-455e-80a2-756e0be2378e" providerId="ADAL" clId="{19EAFD33-AF50-43D6-BF52-FC06C69CD06D}" dt="2026-09-23T19:19:17.723" v="6" actId="47"/>
        <pc:sldMkLst>
          <pc:docMk/>
          <pc:sldMk cId="0" sldId="265"/>
        </pc:sldMkLst>
      </pc:sldChg>
      <pc:sldChg chg="modSp mod">
        <pc:chgData name="Jose Manuel Figueroa Hernandez" userId="c23fd2b0-07fd-455e-80a2-756e0be2378e" providerId="ADAL" clId="{19EAFD33-AF50-43D6-BF52-FC06C69CD06D}" dt="2026-09-23T19:20:24.478" v="9" actId="207"/>
        <pc:sldMkLst>
          <pc:docMk/>
          <pc:sldMk cId="0" sldId="266"/>
        </pc:sldMkLst>
        <pc:spChg chg="mod">
          <ac:chgData name="Jose Manuel Figueroa Hernandez" userId="c23fd2b0-07fd-455e-80a2-756e0be2378e" providerId="ADAL" clId="{19EAFD33-AF50-43D6-BF52-FC06C69CD06D}" dt="2026-09-23T19:20:24.478" v="9" actId="207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Jose Manuel Figueroa Hernandez" userId="c23fd2b0-07fd-455e-80a2-756e0be2378e" providerId="ADAL" clId="{19EAFD33-AF50-43D6-BF52-FC06C69CD06D}" dt="2026-09-23T19:30:59.577" v="73" actId="13926"/>
        <pc:sldMkLst>
          <pc:docMk/>
          <pc:sldMk cId="0" sldId="268"/>
        </pc:sldMkLst>
        <pc:spChg chg="mod">
          <ac:chgData name="Jose Manuel Figueroa Hernandez" userId="c23fd2b0-07fd-455e-80a2-756e0be2378e" providerId="ADAL" clId="{19EAFD33-AF50-43D6-BF52-FC06C69CD06D}" dt="2026-09-23T19:30:59.577" v="73" actId="1392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Jose Manuel Figueroa Hernandez" userId="c23fd2b0-07fd-455e-80a2-756e0be2378e" providerId="ADAL" clId="{19EAFD33-AF50-43D6-BF52-FC06C69CD06D}" dt="2026-09-23T19:31:21.282" v="79" actId="207"/>
        <pc:sldMkLst>
          <pc:docMk/>
          <pc:sldMk cId="0" sldId="269"/>
        </pc:sldMkLst>
        <pc:spChg chg="mod">
          <ac:chgData name="Jose Manuel Figueroa Hernandez" userId="c23fd2b0-07fd-455e-80a2-756e0be2378e" providerId="ADAL" clId="{19EAFD33-AF50-43D6-BF52-FC06C69CD06D}" dt="2026-09-23T19:31:21.282" v="79" actId="207"/>
          <ac:spMkLst>
            <pc:docMk/>
            <pc:sldMk cId="0" sldId="269"/>
            <ac:spMk id="14" creationId="{00000000-0000-0000-0000-000000000000}"/>
          </ac:spMkLst>
        </pc:spChg>
      </pc:sldChg>
      <pc:sldChg chg="addSp delSp modSp mod">
        <pc:chgData name="Jose Manuel Figueroa Hernandez" userId="c23fd2b0-07fd-455e-80a2-756e0be2378e" providerId="ADAL" clId="{19EAFD33-AF50-43D6-BF52-FC06C69CD06D}" dt="2026-09-23T19:31:05.449" v="75" actId="1076"/>
        <pc:sldMkLst>
          <pc:docMk/>
          <pc:sldMk cId="0" sldId="270"/>
        </pc:sldMkLst>
        <pc:spChg chg="mod">
          <ac:chgData name="Jose Manuel Figueroa Hernandez" userId="c23fd2b0-07fd-455e-80a2-756e0be2378e" providerId="ADAL" clId="{19EAFD33-AF50-43D6-BF52-FC06C69CD06D}" dt="2026-09-23T19:27:27.408" v="32" actId="1076"/>
          <ac:spMkLst>
            <pc:docMk/>
            <pc:sldMk cId="0" sldId="270"/>
            <ac:spMk id="4" creationId="{00000000-0000-0000-0000-000000000000}"/>
          </ac:spMkLst>
        </pc:spChg>
        <pc:picChg chg="del">
          <ac:chgData name="Jose Manuel Figueroa Hernandez" userId="c23fd2b0-07fd-455e-80a2-756e0be2378e" providerId="ADAL" clId="{19EAFD33-AF50-43D6-BF52-FC06C69CD06D}" dt="2026-09-23T19:24:25.640" v="20" actId="478"/>
          <ac:picMkLst>
            <pc:docMk/>
            <pc:sldMk cId="0" sldId="270"/>
            <ac:picMk id="3" creationId="{00000000-0000-0000-0000-000000000000}"/>
          </ac:picMkLst>
        </pc:picChg>
        <pc:picChg chg="add mod">
          <ac:chgData name="Jose Manuel Figueroa Hernandez" userId="c23fd2b0-07fd-455e-80a2-756e0be2378e" providerId="ADAL" clId="{19EAFD33-AF50-43D6-BF52-FC06C69CD06D}" dt="2026-09-23T19:31:05.449" v="75" actId="1076"/>
          <ac:picMkLst>
            <pc:docMk/>
            <pc:sldMk cId="0" sldId="270"/>
            <ac:picMk id="6" creationId="{739894BC-31E1-A146-FA8E-977AC571FB7F}"/>
          </ac:picMkLst>
        </pc:picChg>
      </pc:sldChg>
      <pc:sldChg chg="del">
        <pc:chgData name="Jose Manuel Figueroa Hernandez" userId="c23fd2b0-07fd-455e-80a2-756e0be2378e" providerId="ADAL" clId="{19EAFD33-AF50-43D6-BF52-FC06C69CD06D}" dt="2026-09-23T19:33:56.312" v="82" actId="47"/>
        <pc:sldMkLst>
          <pc:docMk/>
          <pc:sldMk cId="0" sldId="295"/>
        </pc:sldMkLst>
      </pc:sldChg>
      <pc:sldChg chg="del">
        <pc:chgData name="Jose Manuel Figueroa Hernandez" userId="c23fd2b0-07fd-455e-80a2-756e0be2378e" providerId="ADAL" clId="{19EAFD33-AF50-43D6-BF52-FC06C69CD06D}" dt="2026-09-23T19:33:52.826" v="81" actId="47"/>
        <pc:sldMkLst>
          <pc:docMk/>
          <pc:sldMk cId="0" sldId="296"/>
        </pc:sldMkLst>
      </pc:sldChg>
      <pc:sldChg chg="del">
        <pc:chgData name="Jose Manuel Figueroa Hernandez" userId="c23fd2b0-07fd-455e-80a2-756e0be2378e" providerId="ADAL" clId="{19EAFD33-AF50-43D6-BF52-FC06C69CD06D}" dt="2026-09-23T19:33:45.372" v="80" actId="47"/>
        <pc:sldMkLst>
          <pc:docMk/>
          <pc:sldMk cId="0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13DD9-E4B5-4997-8BD0-CCD1D82A46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ECBA-0A42-439B-8BB1-7C8EF8AA35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049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83C967-2F54-09E4-AA30-298CA5655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B59DC73-C653-C81C-D52E-0C69633752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4899638"/>
            <a:ext cx="7766977" cy="107298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8FDDAFA-5E8D-9796-4199-96DDF49E0C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8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, fin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6826DB8-4520-87EC-C957-39CC5FEDDF23}"/>
              </a:ext>
            </a:extLst>
          </p:cNvPr>
          <p:cNvCxnSpPr>
            <a:cxnSpLocks/>
          </p:cNvCxnSpPr>
          <p:nvPr userDrawn="1"/>
        </p:nvCxnSpPr>
        <p:spPr>
          <a:xfrm>
            <a:off x="2610003" y="3429000"/>
            <a:ext cx="6968946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4770139-593C-68D8-65A7-D32A6375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619" y="1992089"/>
            <a:ext cx="7329714" cy="1436911"/>
          </a:xfrm>
        </p:spPr>
        <p:txBody>
          <a:bodyPr anchor="ctr">
            <a:noAutofit/>
          </a:bodyPr>
          <a:lstStyle>
            <a:lvl1pPr algn="ctr">
              <a:defRPr sz="5000"/>
            </a:lvl1pPr>
          </a:lstStyle>
          <a:p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1A90F6-F9C8-C3DC-0206-47FA2B0E52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3772615"/>
            <a:ext cx="7766977" cy="107298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AADA8D9-AE01-0879-2B0F-D35E84BE75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5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9625AD5-FD90-7ED4-A463-1E5CB822AA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4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BA6592-4655-ECA7-5E54-6A2266196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01879A4-A5B6-7D86-61D5-66ACD9BA94ED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114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634EBF27-8651-00A8-AF4C-4E9644167F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E94F59-AD2E-40B1-B026-72BC4AB241A4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260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9621210-2A91-1552-D4F2-DF2766531006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466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CEFCEBEC-42C8-C58C-CD8C-206F903423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0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532B9242-CE35-04A2-18AA-987DB5B40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85BD324A-C024-0077-DF8F-20DCA813A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3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3F39D5-2B33-B76C-39CA-AE6BED78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BD0F07-E6DF-E238-D01E-6075CA1A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337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55" r:id="rId5"/>
    <p:sldLayoutId id="2147483664" r:id="rId6"/>
    <p:sldLayoutId id="2147483663" r:id="rId7"/>
    <p:sldLayoutId id="2147483662" r:id="rId8"/>
    <p:sldLayoutId id="2147483666" r:id="rId9"/>
    <p:sldLayoutId id="214748366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b.mx/afac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69935"/>
            <a:ext cx="10515600" cy="2651760"/>
          </a:xfr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sz="5400" b="0" i="0" u="none" dirty="0" err="1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Módulo</a:t>
            </a:r>
            <a:r>
              <a:rPr sz="5400" b="0" i="0" u="none" dirty="0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 1</a:t>
            </a:r>
          </a:p>
          <a:p>
            <a:pPr algn="ctr">
              <a:spcAft>
                <a:spcPts val="800"/>
              </a:spcAft>
            </a:pP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Marco general del </a:t>
            </a: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Programa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OJT</a:t>
            </a:r>
          </a:p>
          <a:p>
            <a:pPr algn="ctr"/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Programa</a:t>
            </a:r>
            <a:r>
              <a:rPr sz="1600" b="0" i="0" u="none" dirty="0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 de </a:t>
            </a:r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Entrenamiento</a:t>
            </a:r>
            <a:r>
              <a:rPr sz="1600" b="0" i="0" u="none" dirty="0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en</a:t>
            </a:r>
            <a:r>
              <a:rPr sz="1600" b="0" i="0" u="none" dirty="0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 el Puesto de </a:t>
            </a:r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Trabajo</a:t>
            </a:r>
            <a:endParaRPr sz="1600" b="0" i="0" u="none" dirty="0">
              <a:solidFill>
                <a:srgbClr val="182430"/>
              </a:solidFill>
              <a:latin typeface="Montserrat SemiBold"/>
              <a:ea typeface="Montserrat SemiBold"/>
              <a:cs typeface="Montserrat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ACTIVIDAD DE INICIO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Para iniciar, reflexiona</a:t>
            </a:r>
          </a:p>
        </p:txBody>
      </p:sp>
      <p:pic>
        <p:nvPicPr>
          <p:cNvPr id="3" name="Picture 2" descr="s02_9bed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876666"/>
            <a:ext cx="2988418" cy="29884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35161"/>
            <a:ext cx="6949440" cy="34009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Recuerda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primera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inspección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campo: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Quién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enseñó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realizarla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?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Cómo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sabías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hacías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conforme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procedimiento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?</a:t>
            </a:r>
            <a:endParaRPr lang="es-MX"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Anota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tu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respuesta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. La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retomarás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al final.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¿Por qué surge el Programa OJT?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18172"/>
            <a:ext cx="4572000" cy="498069"/>
          </a:xfrm>
          <a:prstGeom prst="roundRect">
            <a:avLst>
              <a:gd name="adj" fmla="val 8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16242"/>
            <a:ext cx="4572000" cy="2905406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aprendía de la </a:t>
            </a:r>
            <a:r>
              <a:rPr sz="20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experiencia heredada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los más antiguos.</a:t>
            </a:r>
          </a:p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Había </a:t>
            </a:r>
            <a:r>
              <a:rPr sz="20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discrecionalidad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individual.</a:t>
            </a:r>
          </a:p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Surgían diferencias en procesos y decisiones.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532120" y="3453887"/>
            <a:ext cx="822960" cy="581081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0" y="1918172"/>
            <a:ext cx="4572000" cy="498069"/>
          </a:xfrm>
          <a:prstGeom prst="roundRect">
            <a:avLst>
              <a:gd name="adj" fmla="val 8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 el OJT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416242"/>
            <a:ext cx="4572000" cy="2905406"/>
          </a:xfrm>
          <a:prstGeom prst="roundRect">
            <a:avLst>
              <a:gd name="adj" fmla="val 4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Entrenamiento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en campo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acompañado por personal con experiencia.</a:t>
            </a:r>
          </a:p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Alineado a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manuales técnicos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normas.</a:t>
            </a:r>
          </a:p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Desviaciones corregidas con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retroalimentación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Capítulo 1, numeral 1.1 Introducción general.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39496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Antes, cada inspector aprendía como podía y los criterios variaban entre personas. Con el OJT, la práctica en campo se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planifica, se supervisa y se documenta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conforme a los manuales técnicos.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39496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97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89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986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98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¿Qué es el OJT?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93655"/>
            <a:ext cx="10424160" cy="18262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 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proceso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mediante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cual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aprendiz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desarrolla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aplica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y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demuestra</a:t>
            </a:r>
            <a:r>
              <a:rPr sz="2500" b="1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competencia</a:t>
            </a:r>
            <a:r>
              <a:rPr lang="es-MX"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sus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funciones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con un 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designado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progresivos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con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51957"/>
            <a:ext cx="1938528" cy="913127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Práctico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52928" y="3951957"/>
            <a:ext cx="1938528" cy="913127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Planificado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74336" y="3951957"/>
            <a:ext cx="1938528" cy="913127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Estructurado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95744" y="3951957"/>
            <a:ext cx="1938528" cy="913127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Supervisado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17152" y="3951957"/>
            <a:ext cx="1938528" cy="913127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Documentado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" y="6193908"/>
            <a:ext cx="10424160" cy="6640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 dirty="0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OJT: On the Job Training. Fuente: MEPT, </a:t>
            </a:r>
            <a:r>
              <a:rPr sz="1400" b="0" i="0" u="none" dirty="0" err="1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Definiciones</a:t>
            </a:r>
            <a:r>
              <a:rPr sz="1400" b="0" i="0" u="none" dirty="0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 y numeral 2.1.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5250324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No basta con saber la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teoría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OJT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demuestras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puedes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realizar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especialidad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acompañado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un 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designado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y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evidencia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250324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1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79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446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913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41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135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¿Dónde se ubica el OJT en tu formación?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084195"/>
            <a:ext cx="2331720" cy="1120656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Inducción SICT/AFAC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87864"/>
            <a:ext cx="233172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Al ingresar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81528" y="2457748"/>
            <a:ext cx="365760" cy="37355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2084195"/>
            <a:ext cx="2331720" cy="1120656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Curso básico 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2152" y="3287864"/>
            <a:ext cx="233172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De tu especialidad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7880" y="2457748"/>
            <a:ext cx="365760" cy="37355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18504" y="2084195"/>
            <a:ext cx="2331720" cy="1120656"/>
          </a:xfrm>
          <a:prstGeom prst="roundRect">
            <a:avLst>
              <a:gd name="adj" fmla="val 8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OJT niveles 1, 2 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3287864"/>
            <a:ext cx="233172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En tu puesto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14232" y="2457748"/>
            <a:ext cx="365760" cy="37355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34856" y="2084195"/>
            <a:ext cx="2331720" cy="1120656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Curso recurrente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6" y="3287864"/>
            <a:ext cx="233172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Cada 3 años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93463"/>
            <a:ext cx="10424160" cy="9643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Sin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curso</a:t>
            </a:r>
            <a:r>
              <a:rPr sz="2500" b="1" i="0" u="none" dirty="0"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básico</a:t>
            </a:r>
            <a:r>
              <a:rPr sz="2500" b="1" i="0" u="none" dirty="0"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concluido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no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inicia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OJT.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cursos</a:t>
            </a:r>
            <a:r>
              <a:rPr sz="2500" b="1" i="0" u="none" dirty="0"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específicos</a:t>
            </a:r>
            <a:r>
              <a:rPr sz="2500" b="0" i="0" u="none" dirty="0"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complementan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Carta de Política CP CIAAC-01/23 R03; MEPT, numeral 5.2.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16636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OJT llega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después del curso básico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tu especialidad y se realiza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en tu puesto de trabajo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Los cursos recurrentes (cada 3 años) y específicos mantienen y amplían tu competencia.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16636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97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89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86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78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75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67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36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89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01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Documento 9734 de la OACI</a:t>
            </a:r>
          </a:p>
        </p:txBody>
      </p:sp>
      <p:pic>
        <p:nvPicPr>
          <p:cNvPr id="3" name="Picture 2" descr="doc97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752149"/>
            <a:ext cx="3428741" cy="394305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731520" y="1835161"/>
            <a:ext cx="6949440" cy="23541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Doc 9734,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Parte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A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establece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las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responsabilidades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Estados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miembros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 OACI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vigilancia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de la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seguridad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operacional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como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signatarios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Convenio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de Chicago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mediante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implantación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ocho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elementos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críticos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48096"/>
            <a:ext cx="6949440" cy="747104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Manual de vigilancia de la seguridad operacional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Parte A · Tercera edición,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02730"/>
            <a:ext cx="694944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OACI, Doc 9734, Parte A; MEPT, Documentos de referencia.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3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Los 8 elementos críticos de la OACI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9137"/>
            <a:ext cx="10424160" cy="6640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OACI define </a:t>
            </a:r>
            <a:r>
              <a:rPr sz="1800" b="1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8 elementos críticos (CE)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sistema de vigilancia de la seguridad operacional de un Estado. La AFAC debe cumplirlos todos.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57748"/>
            <a:ext cx="6400800" cy="415058"/>
          </a:xfrm>
          <a:prstGeom prst="roundRect">
            <a:avLst>
              <a:gd name="adj" fmla="val 15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Establecer 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2457748"/>
            <a:ext cx="3794760" cy="415058"/>
          </a:xfrm>
          <a:prstGeom prst="roundRect">
            <a:avLst>
              <a:gd name="adj" fmla="val 1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Implementar 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97323"/>
            <a:ext cx="2029968" cy="120366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1B4A78"/>
                </a:solidFill>
                <a:latin typeface="Montserrat Medium"/>
                <a:ea typeface="Montserrat Medium"/>
                <a:cs typeface="Montserrat Medium"/>
              </a:rPr>
              <a:t>CE-1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Legislación aeronáutica básica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2997323"/>
            <a:ext cx="2029968" cy="120366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1B4A78"/>
                </a:solidFill>
                <a:latin typeface="Montserrat Medium"/>
                <a:ea typeface="Montserrat Medium"/>
                <a:cs typeface="Montserrat Medium"/>
              </a:rPr>
              <a:t>CE-2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Reglamentos de explotación específicos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2997323"/>
            <a:ext cx="2029968" cy="120366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1B4A78"/>
                </a:solidFill>
                <a:latin typeface="Montserrat Medium"/>
                <a:ea typeface="Montserrat Medium"/>
                <a:cs typeface="Montserrat Medium"/>
              </a:rPr>
              <a:t>CE-3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Sistema y funciones estatales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5891" y="4325509"/>
            <a:ext cx="2029968" cy="1203668"/>
          </a:xfrm>
          <a:prstGeom prst="roundRect">
            <a:avLst>
              <a:gd name="adj" fmla="val 8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400" b="1" i="0" u="none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CE-4</a:t>
            </a:r>
          </a:p>
          <a:p>
            <a:pPr algn="ctr">
              <a:spcAft>
                <a:spcPts val="0"/>
              </a:spcAft>
            </a:pPr>
            <a:r>
              <a:rPr sz="1400" b="0" i="0" u="none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Personal </a:t>
            </a:r>
            <a:r>
              <a:rPr sz="1400" b="0" i="0" u="none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técnico</a:t>
            </a:r>
            <a:r>
              <a:rPr sz="1400" b="0" i="0" u="none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cualificado</a:t>
            </a:r>
            <a:endParaRPr sz="1400" b="0" i="0" u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65776" y="4325508"/>
            <a:ext cx="2029968" cy="120366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400" b="1" i="0" u="none" dirty="0">
                <a:solidFill>
                  <a:srgbClr val="1B4A78"/>
                </a:solidFill>
                <a:latin typeface="Montserrat Medium"/>
                <a:ea typeface="Montserrat Medium"/>
                <a:cs typeface="Montserrat Medium"/>
              </a:rPr>
              <a:t>CE-5</a:t>
            </a:r>
          </a:p>
          <a:p>
            <a:pPr algn="ctr">
              <a:spcAft>
                <a:spcPts val="0"/>
              </a:spcAft>
            </a:pP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Orientación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técnica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instrumentos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información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crítica</a:t>
            </a:r>
            <a:endParaRPr sz="14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60920" y="2997323"/>
            <a:ext cx="3794760" cy="78861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1B4A78"/>
                </a:solidFill>
                <a:latin typeface="Montserrat Medium"/>
                <a:ea typeface="Montserrat Medium"/>
                <a:cs typeface="Montserrat Medium"/>
              </a:rPr>
              <a:t>CE-6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Otorgamiento de licencias, certificación, autorización y aprobación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885547"/>
            <a:ext cx="3794760" cy="78861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1B4A78"/>
                </a:solidFill>
                <a:latin typeface="Montserrat Medium"/>
                <a:ea typeface="Montserrat Medium"/>
                <a:cs typeface="Montserrat Medium"/>
              </a:rPr>
              <a:t>CE-7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Obligaciones de vigilancia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773772"/>
            <a:ext cx="3794760" cy="78861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1B4A78"/>
                </a:solidFill>
                <a:latin typeface="Montserrat Medium"/>
                <a:ea typeface="Montserrat Medium"/>
                <a:cs typeface="Montserrat Medium"/>
              </a:rPr>
              <a:t>CE-8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Solución de problemas de seguridad operacional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8725" y="4429273"/>
            <a:ext cx="1234986" cy="996139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Aquí</a:t>
            </a:r>
            <a:r>
              <a:rPr sz="11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</a:t>
            </a:r>
            <a:r>
              <a:rPr sz="11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ubica</a:t>
            </a:r>
            <a:endParaRPr sz="11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spcAft>
                <a:spcPts val="0"/>
              </a:spcAft>
            </a:pPr>
            <a:r>
              <a:rPr sz="11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el </a:t>
            </a:r>
            <a:r>
              <a:rPr sz="11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Programa</a:t>
            </a:r>
            <a:r>
              <a:rPr sz="11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 OJT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02730"/>
            <a:ext cx="100584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OACI, Doc 9734, Manual de vigilancia de la seguridad operacional, Parte A (3.ª ed., 2017); Anexo 19, Apéndice 1; MEPT, Documentos de referencia.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12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79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426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CE-4: personal técnico cualificado y el OJT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9137"/>
            <a:ext cx="10424160" cy="6640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Para cumplir el </a:t>
            </a:r>
            <a:r>
              <a:rPr sz="1800" b="1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CE-4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el Estado debe asegurar que sus inspectores estén cualificados. Esto implica:</a:t>
            </a:r>
          </a:p>
        </p:txBody>
      </p:sp>
      <p:sp>
        <p:nvSpPr>
          <p:cNvPr id="4" name="Oval 3"/>
          <p:cNvSpPr/>
          <p:nvPr/>
        </p:nvSpPr>
        <p:spPr>
          <a:xfrm>
            <a:off x="2103120" y="2416242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38829"/>
            <a:ext cx="329184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Requisitos mínimos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36899"/>
            <a:ext cx="3291840" cy="1203668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 cualificación para el personal técnico que realiza funciones de vigilancia.</a:t>
            </a:r>
          </a:p>
        </p:txBody>
      </p:sp>
      <p:sp>
        <p:nvSpPr>
          <p:cNvPr id="7" name="Oval 6"/>
          <p:cNvSpPr/>
          <p:nvPr/>
        </p:nvSpPr>
        <p:spPr>
          <a:xfrm>
            <a:off x="5623560" y="2416242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038829"/>
            <a:ext cx="329184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536899"/>
            <a:ext cx="3291840" cy="1203668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inicial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periódica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especializada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en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el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puesto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trabajo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(OJT)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0" y="2416242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038829"/>
            <a:ext cx="329184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Registros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536899"/>
            <a:ext cx="3291840" cy="1203668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 la instrucción de cada inspector, para demostrar su competencia.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48096"/>
            <a:ext cx="10424160" cy="830116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¿Por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qué</a:t>
            </a:r>
            <a:r>
              <a:rPr sz="15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te</a:t>
            </a:r>
            <a:r>
              <a:rPr sz="15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importa</a:t>
            </a:r>
            <a:r>
              <a:rPr sz="15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?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 y sus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evidencias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demuestran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ante la OACI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AFAC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cumple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CE-4.</a:t>
            </a:r>
            <a:endParaRPr lang="es-MX" sz="14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spcAft>
                <a:spcPts val="0"/>
              </a:spcAft>
            </a:pPr>
            <a:endParaRPr sz="14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spcAft>
                <a:spcPts val="0"/>
              </a:spcAft>
            </a:pP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eso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MEPT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exige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un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evento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fecha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propios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(numeral 4.2.4).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02730"/>
            <a:ext cx="100584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OACI, Doc 9734, Parte A, capítulo 3, apartado 3.4 (numerales 3.4.2.5, 3.4.2.7 y 3.4.2.10), citado en el MEPT, numeral 4.2.4.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12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979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476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951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Marco documental del Programa OJT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91640"/>
            <a:ext cx="6664445" cy="3383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Carta de Política CP CIAAC-01/23 R0</a:t>
            </a:r>
            <a:r>
              <a:rPr lang="es-MX"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3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: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capacitación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adiestramiento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IVA 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  <a:endParaRPr lang="es-MX"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MEPT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sus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manuales</a:t>
            </a:r>
            <a:r>
              <a:rPr lang="es-MX" sz="25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complementarios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MSIG · MPPC · MAC · MGCC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9894BC-31E1-A146-FA8E-977AC571F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35" y="1752149"/>
            <a:ext cx="3715273" cy="47035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Rounded Rectangle 6"/>
          <p:cNvSpPr/>
          <p:nvPr/>
        </p:nvSpPr>
        <p:spPr>
          <a:xfrm>
            <a:off x="5166359" y="5257800"/>
            <a:ext cx="6080760" cy="914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Carta de Política establece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qué capacitación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recibes; el MEPT explica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cómo se realiza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tu OJT, paso a paso.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532638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55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¿Dónde consultar la Carta de Política?</a:t>
            </a:r>
          </a:p>
        </p:txBody>
      </p:sp>
      <p:sp>
        <p:nvSpPr>
          <p:cNvPr id="3" name="Oval 2"/>
          <p:cNvSpPr/>
          <p:nvPr/>
        </p:nvSpPr>
        <p:spPr>
          <a:xfrm>
            <a:off x="1325880" y="1918172"/>
            <a:ext cx="685800" cy="622587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665277"/>
            <a:ext cx="2103120" cy="1577220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Ingresa a gob.mx/afac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918172"/>
            <a:ext cx="685800" cy="622587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665277"/>
            <a:ext cx="2103120" cy="1577220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Abre el apartado «Legislación»</a:t>
            </a:r>
          </a:p>
        </p:txBody>
      </p:sp>
      <p:sp>
        <p:nvSpPr>
          <p:cNvPr id="7" name="Oval 6"/>
          <p:cNvSpPr/>
          <p:nvPr/>
        </p:nvSpPr>
        <p:spPr>
          <a:xfrm>
            <a:off x="5806440" y="1918172"/>
            <a:ext cx="685800" cy="622587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665277"/>
            <a:ext cx="2103120" cy="1577220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Elige «Cartas de Política»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1918172"/>
            <a:ext cx="685800" cy="622587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65277"/>
            <a:ext cx="2103120" cy="1577220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Da clic en «Capacitación»</a:t>
            </a:r>
          </a:p>
        </p:txBody>
      </p:sp>
      <p:sp>
        <p:nvSpPr>
          <p:cNvPr id="11" name="Oval 10"/>
          <p:cNvSpPr/>
          <p:nvPr/>
        </p:nvSpPr>
        <p:spPr>
          <a:xfrm>
            <a:off x="10287000" y="1918172"/>
            <a:ext cx="685800" cy="622587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2665277"/>
            <a:ext cx="2103120" cy="1577220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 o descarga el documento</a:t>
            </a:r>
          </a:p>
        </p:txBody>
      </p:sp>
      <p:sp>
        <p:nvSpPr>
          <p:cNvPr id="13" name="Rounded Rectangle 12">
            <a:hlinkClick r:id="rId3"/>
          </p:cNvPr>
          <p:cNvSpPr/>
          <p:nvPr/>
        </p:nvSpPr>
        <p:spPr>
          <a:xfrm>
            <a:off x="4023360" y="4657556"/>
            <a:ext cx="4023360" cy="498069"/>
          </a:xfrm>
          <a:prstGeom prst="roundRect">
            <a:avLst>
              <a:gd name="adj" fmla="val 5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Ir</a:t>
            </a: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al portal de la AFAC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63154"/>
            <a:ext cx="10424160" cy="6640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 i="0" u="none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Practica: localiza la Carta de Política y revisa qué revisión está vigente.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21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88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935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46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Objetivo general del Programa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10424160" cy="2988418"/>
          </a:xfrm>
          <a:prstGeom prst="roundRect">
            <a:avLst>
              <a:gd name="adj" fmla="val 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bIns="32004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Capacitar </a:t>
            </a:r>
            <a:r>
              <a:rPr sz="25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de forma práctica en el puesto de trabajo</a:t>
            </a: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todo el personal </a:t>
            </a:r>
            <a:r>
              <a:rPr sz="25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IVA</a:t>
            </a: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 AFAC, conforme a estándares nacionales e internacionales, mejorando su desempeño mediante </a:t>
            </a:r>
            <a:r>
              <a:rPr sz="25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tareas específicas de vigilancia e inspección</a:t>
            </a: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realizadas de forma acompañada.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31108"/>
            <a:ext cx="104241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Aplica en Direcciones Ejecutivas y de Área, Comandancias del AICM y AIFA y Comandancias Regionales.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61224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2.3.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Objetivos específicos del Programa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76666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Estandarizar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formatos por especialidad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1976280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876666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Asegurar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que el IVA aprendiz demuestre sus tareas</a:t>
            </a:r>
          </a:p>
        </p:txBody>
      </p:sp>
      <p:sp>
        <p:nvSpPr>
          <p:cNvPr id="6" name="Oval 5"/>
          <p:cNvSpPr/>
          <p:nvPr/>
        </p:nvSpPr>
        <p:spPr>
          <a:xfrm>
            <a:off x="4361688" y="1976280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76666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Llenar correctamente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formato OJT y bitácoras</a:t>
            </a:r>
          </a:p>
        </p:txBody>
      </p:sp>
      <p:sp>
        <p:nvSpPr>
          <p:cNvPr id="8" name="Oval 7"/>
          <p:cNvSpPr/>
          <p:nvPr/>
        </p:nvSpPr>
        <p:spPr>
          <a:xfrm>
            <a:off x="7882127" y="1976280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27439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Controlar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desempeño y los resultados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927053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827439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Formar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instructores principales e instructores OJT</a:t>
            </a:r>
          </a:p>
        </p:txBody>
      </p:sp>
      <p:sp>
        <p:nvSpPr>
          <p:cNvPr id="12" name="Oval 11"/>
          <p:cNvSpPr/>
          <p:nvPr/>
        </p:nvSpPr>
        <p:spPr>
          <a:xfrm>
            <a:off x="4361688" y="3927053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827439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Mejorar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continuamente el programa</a:t>
            </a:r>
          </a:p>
        </p:txBody>
      </p:sp>
      <p:sp>
        <p:nvSpPr>
          <p:cNvPr id="14" name="Oval 13"/>
          <p:cNvSpPr/>
          <p:nvPr/>
        </p:nvSpPr>
        <p:spPr>
          <a:xfrm>
            <a:off x="7882127" y="3927053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61224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2.4.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21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88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55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302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 Y OBJETIVOS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¿A quién aplica el Programa OJT?</a:t>
            </a:r>
          </a:p>
        </p:txBody>
      </p:sp>
      <p:pic>
        <p:nvPicPr>
          <p:cNvPr id="3" name="Picture 2" descr="s19_cbde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76666"/>
            <a:ext cx="2988418" cy="2786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793655"/>
            <a:ext cx="6858000" cy="38779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IVA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todas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especialidades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coordinadores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principales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Áreas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personal IVA y la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Dirección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CIAAC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</a:pPr>
            <a:endParaRPr lang="es-MX" sz="2500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spcAft>
                <a:spcPts val="1200"/>
              </a:spcAft>
              <a:buClr>
                <a:srgbClr val="B98A2E"/>
              </a:buClr>
            </a:pPr>
            <a:r>
              <a:rPr lang="es-MX" sz="2500" dirty="0">
                <a:solidFill>
                  <a:srgbClr val="182430"/>
                </a:solidFill>
                <a:latin typeface="Montserrat Medium"/>
              </a:rPr>
              <a:t>Su aplicación comprenderá la gestión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física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, digital o mixta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1.2 DEFINICIONES Y ABREVIATURAS DEL MANUAL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Definiciones: los documentos del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Tarea genérica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49832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Unidad de trabajo con las subtareas necesarias para tus funciones.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835161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Subtarea OJT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349832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Parte de una tarea. Completarlas permite acreditar la tarea.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68945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Formato general OJT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3617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Documento por especialidad donde se registra cada nivel.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868945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Bitácora OJT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383617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Parte del formato: describe las subtareas de cada tarea.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4236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apartado de Definiciones.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21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68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1.2 DEFINICIONES Y ABREVIATURAS DEL MANUAL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Definiciones: resultado y registro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Competencia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49832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Capacidad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demostrada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realizar una tarea conforme a procedimientos y criterios.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835161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Acreditación OJT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349832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Resultado satisfactorio documentado de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una tarea y un nivel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68945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Convalidación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3617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Reconocimiento de entrenamiento previo, por tarea y nivel, con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fechas reales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868945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Módulo OJT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383617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Apartado de la plataforma de la AFAC para formatos, bitácoras y evidencias.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4236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La acreditación OJT no autoriza por sí sola a ejercer funciones ni designa instructor.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21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418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1.2 DEFINICIONES Y ABREVIATURAS DEL MANUAL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Abreviaturas: figuras del Programa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52149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752149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Coordinación del Programa de Entrenamiento en el Puesto de Trabajo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752149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752149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Jefe de División del Seguimiento Operacional de Programas OJT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5663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JDAE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565663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Jefe de División de Análisis Técnico del Entrenamiento OJT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565663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565663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Coordinador OJT (ICOJT-S: suplente)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79177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IPOJT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379177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Principal OJT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379177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IOJT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379177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OJT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2690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IIOJT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192690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Inspector Instructor OJT (adscrito al CIAAC)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192690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IIFTA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192690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Inspector Instructor de Formación Técnica Aeronáutica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06204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5006204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Inspector Verificador Aeronáutico Aprendiz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5006204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5006204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Aprendiz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87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4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21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88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855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22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89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6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23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9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657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124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91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58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25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992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59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26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9393"/>
                            </p:stCondLst>
                            <p:childTnLst>
                              <p:par>
                                <p:cTn id="10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1.3 ESTRUCTURA DEL MEPT: CAPÍTULOS Y ANEXOS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Estructura del MEPT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52149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Descripción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Uso, control de revisiones y responsables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752149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Cap. 1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Introducción general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752149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600" b="1">
                <a:solidFill>
                  <a:srgbClr val="9A7323"/>
                </a:solidFill>
                <a:latin typeface="Montserrat Medium"/>
              </a:rPr>
              <a:t>Cap. 2</a:t>
            </a:r>
          </a:p>
          <a:p>
            <a:pPr algn="ctr"/>
            <a:r>
              <a:rPr sz="1600" b="1">
                <a:solidFill>
                  <a:srgbClr val="9A7323"/>
                </a:solidFill>
                <a:latin typeface="Montserrat Medium"/>
              </a:rPr>
              <a:t>Objetivos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21841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Cap. 3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Estructura del sistema OJT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3022227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121841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Cap. 4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Requisitos para el OJT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022227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121841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Cap. 5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Proceso de ejecución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3022227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91532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Cap. 6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Evaluación y mejora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491532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Anexo 1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Formatos OJT y bitácoras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391918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491532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 dirty="0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Anexo 2</a:t>
            </a:r>
          </a:p>
          <a:p>
            <a:pPr algn="ctr">
              <a:spcAft>
                <a:spcPts val="0"/>
              </a:spcAft>
            </a:pP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Manual de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usuario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Módulo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4391918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61224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Recuadros dorados: capítulos que estudias en este curso.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4EB2E0AC-E1A8-3EF6-98E8-2FEB6E2AE6AC}"/>
              </a:ext>
            </a:extLst>
          </p:cNvPr>
          <p:cNvSpPr/>
          <p:nvPr/>
        </p:nvSpPr>
        <p:spPr>
          <a:xfrm>
            <a:off x="10283305" y="1594427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21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18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1.3 ESTRUCTURA DEL MEPT: CAPÍTULOS Y ANEXOS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Anexo 1: formatos y bitácoras</a:t>
            </a:r>
          </a:p>
        </p:txBody>
      </p:sp>
      <p:pic>
        <p:nvPicPr>
          <p:cNvPr id="3" name="Picture 2" descr="s08_fd98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959678"/>
            <a:ext cx="2905406" cy="2905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793655"/>
            <a:ext cx="6949440" cy="41505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 general OJT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Bitácora de entrenamiento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 de cumplimiento y evaluación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Formatos y bitácoras por especialidad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Modelos de oficio de designación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448056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Estos documentos acompañan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cada evento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tu OJT. Usa siempre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revisión vigente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Anexo 1 de tu especialidad: con la R06, cada registro refleja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una tarea, un nivel y su evidencia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448056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55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1.4 ORGANIGRAMA AFAC/CIAAC Y ESTRUCTURA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Organigrama AFAC – CIAAC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40236" y="1710643"/>
            <a:ext cx="4023360" cy="622587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Dirección</a:t>
            </a: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General de la AFAC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51916" y="2333229"/>
            <a:ext cx="0" cy="290541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940236" y="2623771"/>
            <a:ext cx="4023360" cy="622587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Dirección del CIAAC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51916" y="3246358"/>
            <a:ext cx="0" cy="290540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53560" y="3536899"/>
            <a:ext cx="8778240" cy="0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3536899"/>
            <a:ext cx="0" cy="249034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3785934"/>
            <a:ext cx="2057400" cy="1577220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Coordinación de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Programas para la Capacitación de Autoridades Aeronáuticas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3536899"/>
            <a:ext cx="0" cy="249034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3785934"/>
            <a:ext cx="2057400" cy="1577220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Coordinación de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Formación Técnica Aeronáutica Especializada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3536899"/>
            <a:ext cx="0" cy="249034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37759" y="3785934"/>
            <a:ext cx="2057400" cy="1577220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Coordinación de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Diseño Pedagógico de Programas Aeronáuticos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59" y="3536899"/>
            <a:ext cx="0" cy="249034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19" y="3785934"/>
            <a:ext cx="2057400" cy="1577220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Coordinación de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Calidad del CIAAC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9" y="3536899"/>
            <a:ext cx="0" cy="249034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3785934"/>
            <a:ext cx="2057400" cy="1577220"/>
          </a:xfrm>
          <a:prstGeom prst="roundRect">
            <a:avLst>
              <a:gd name="adj" fmla="val 6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Coordinación de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Programa de Entrenamiento en el Puesto de Trabajo (CPEPT)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12189"/>
            <a:ext cx="1042416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La CPEPT conduce el Programa OJT a nombre de la Dirección del CIAAC.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75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4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15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8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45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1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875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4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5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79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257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724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191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658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155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1.4 ORGANIGRAMA AFAC/CIAAC Y ESTRUCTURA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Estructura del Programa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06240" y="1669137"/>
            <a:ext cx="3657600" cy="498069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Dirección del CIAAC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0" y="2167207"/>
            <a:ext cx="0" cy="207529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931920" y="2374736"/>
            <a:ext cx="4206240" cy="498069"/>
          </a:xfrm>
          <a:prstGeom prst="roundRect">
            <a:avLst>
              <a:gd name="adj" fmla="val 8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Coordinador del Programa OJT (CPEPT)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0" y="2872806"/>
            <a:ext cx="0" cy="207529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94560" y="3080335"/>
            <a:ext cx="7680960" cy="0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3080335"/>
            <a:ext cx="0" cy="166023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3246358"/>
            <a:ext cx="2926080" cy="705598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JDOP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Seguimiento operacional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875519" y="3080335"/>
            <a:ext cx="0" cy="166023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0" y="3246358"/>
            <a:ext cx="2926080" cy="705598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JDAE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Análisis técnico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246358"/>
            <a:ext cx="3657600" cy="70559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Inspector Instructor OJT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(adscrito al CIAAC)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0992"/>
            <a:ext cx="10515600" cy="1286680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225895"/>
            <a:ext cx="8229600" cy="2905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 u="none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En cada Dirección o Comandancia (designados por el área):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16050"/>
            <a:ext cx="2103120" cy="70559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ICOJT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72384" y="4806976"/>
            <a:ext cx="384048" cy="31544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20440" y="4616050"/>
            <a:ext cx="2103120" cy="70559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IPOJT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8424" y="4806976"/>
            <a:ext cx="384048" cy="31544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0" y="4616050"/>
            <a:ext cx="2103120" cy="70559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IOJT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84464" y="4806976"/>
            <a:ext cx="384048" cy="31544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32520" y="4616050"/>
            <a:ext cx="2103120" cy="70559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IVA Aprendiz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12189"/>
            <a:ext cx="10515600" cy="415058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Llenado de formatos OJT, bitácoras e integración de evidencias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75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4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15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8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45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1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995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62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29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426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951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426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823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215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612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004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401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793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29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9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1.5 FUNCIONES: DIRECTOR DEL CIAAC, CPEPT, JDOP Y JDAE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Una responsabilidad compartida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76666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Dirección del CIAAC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23771"/>
            <a:ext cx="3291840" cy="1992278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Conduce: metodología, estandarización, registro, supervisión y mejora.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876666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Direcciones y Comandancias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623771"/>
            <a:ext cx="3291840" cy="1992278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Aseguran la ejecución con los IVA de su adscripción.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76666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Instructor OJT designado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623771"/>
            <a:ext cx="3291840" cy="1992278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Realiza la evaluación técnica de la tarea.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06590"/>
            <a:ext cx="10241280" cy="788610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Ninguna intervención sustituye a las demás ni transfiere atribuciones.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61224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51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26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1.5 FUNCIONES: DIRECTOR DEL CIAAC, CPEPT, JDOP Y JDAE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Director del CIAAC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Conduce el Programa OJT de la AFAC a través de la CPEPT.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Define programas OJT con las áreas técnicas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Autoriza su implementación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Asegura el registro de resultados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Gestiona los recursos del programa</a:t>
            </a:r>
          </a:p>
        </p:txBody>
      </p:sp>
      <p:pic>
        <p:nvPicPr>
          <p:cNvPr id="5" name="Picture 4" descr="s27_2dd7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3.4.1.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Director del CIAAC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conduce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programa a través de la CPEPT, pero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sustituye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tu área: tu Dirección sigue siendo responsable de que realices y evidencies tu OJT.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8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92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1.5 FUNCIONES: DIRECTOR DEL CIAAC, CPEPT, JDOP Y JDAE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Coordinador del Programa OJT (CPEPT)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Dirige las acciones que garantizan el cumplimiento del Programa OJT.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 la implementación en la AFAC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Valida designaciones de instructores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Autoriza formatos y cambios de tareas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Propone mejoras al MEPT</a:t>
            </a:r>
          </a:p>
        </p:txBody>
      </p:sp>
      <p:pic>
        <p:nvPicPr>
          <p:cNvPr id="5" name="Picture 4" descr="s28_312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52149"/>
            <a:ext cx="1909267" cy="3106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3.4.2.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1089"/>
              <a:gd name="adj2" fmla="val -75812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CPEPT es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coordinación central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programa: valida a los instructores, autoriza los formatos y los cambios de tareas, y propone mejoras al MEPT.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8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92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1.5 FUNCIONES: DIRECTOR DEL CIAAC, CPEPT, JDOP Y JDAE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JDOP: Seguimiento Operacional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Coordina las acciones que garantizan el cumplimiento del programa.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 formatos y tareas en el Módulo OJT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Supervisa a IPOJT e IOJT en campo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Asesora en el uso de formatos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Vigila el proceso de designación</a:t>
            </a:r>
          </a:p>
        </p:txBody>
      </p:sp>
      <p:pic>
        <p:nvPicPr>
          <p:cNvPr id="5" name="Picture 4" descr="s10_b20e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3.4.3.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JDOP da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seguimiento operativo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revisa lo que se registra en el Módulo OJT y verifica que los instructores apliquen correctamente los formatos.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8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92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1.5 FUNCIONES: DIRECTOR DEL CIAAC, CPEPT, JDOP Y JDAE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JDAE: Análisis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Supervisa que tareas y subtareas se apeguen al MEPT y a los manuales técnicos.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Analiza cambios a tareas y subtareas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 hallazgos para la mejora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Evalúa a IPOJT e IOJT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Formula el presupuesto del programa</a:t>
            </a:r>
          </a:p>
        </p:txBody>
      </p:sp>
      <p:pic>
        <p:nvPicPr>
          <p:cNvPr id="5" name="Picture 4" descr="s30_4d61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3.4.4.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JDAE cuida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calidad técnica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analiza los cambios de tareas, revisa los hallazgos y evalúa a los instructores para mejorar el entrenamiento.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8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92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1.6 FUNCIONES: ICOJT, IPOJT, IOJT E IVA APRENDIZ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Instructor Coordinador OJT (ICOJT)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Designado por el titular del área; da seguimiento al OJT de su personal.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Define tareas y subtareas del área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 la programación por nivel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Reprograma hasta 2 veces más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Integra expedientes y reporta</a:t>
            </a:r>
          </a:p>
        </p:txBody>
      </p:sp>
      <p:pic>
        <p:nvPicPr>
          <p:cNvPr id="5" name="Picture 4" descr="s19_cbde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553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3.4.5.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122982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ICOJT es tu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enlace directo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el programa: programa y reprograma tus eventos, revisa tu formato e integra tu expediente.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8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92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1.6 FUNCIONES: ICOJT, IPOJT, IOJT E IVA APRENDIZ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Instructor Principal OJT (IPOJT)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Instructor líder, experto en la implementación del programa.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Capacita a los IOJT en enseñanza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Monitorea y asiste su desempeño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Recomienda candidatos a IOJT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Funge como IOJT cuando se requiere</a:t>
            </a:r>
          </a:p>
        </p:txBody>
      </p:sp>
      <p:pic>
        <p:nvPicPr>
          <p:cNvPr id="5" name="Picture 4" descr="s33_7692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3.4.6.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IPOJT es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 experto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área: forma y acompaña a los instructores OJT para que la enseñanza sea uniforme.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8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92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1.6 FUNCIONES: ICOJT, IPOJT, IOJT E IVA APRENDIZ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Instructor OJT (IOJT)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Persona con mayor experiencia y competencia en la especialidad.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Instruye la tarea en cada nivel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Evalúa y registra resultado y evidencias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 firma técnica expresa lo aprobado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Propone nuevas tareas y subtareas</a:t>
            </a:r>
          </a:p>
        </p:txBody>
      </p:sp>
      <p:pic>
        <p:nvPicPr>
          <p:cNvPr id="5" name="Picture 4" descr="s20_9067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3.4.7.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IOJT te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instruye, evalúa y firma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cada nivel. Su firma técnica indica exactamente qué tareas y niveles aprobaste.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8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92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1.6 FUNCIONES: ICOJT, IPOJT, IOJT E IVA APRENDIZ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Aprendiz (IVA 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IVA de cualquier especialidad que recibe el entrenamiento OJT.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Completa las tareas programadas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Lleva su formato a cada evento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Resguarda el original del formato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Justifica sus inasistencias</a:t>
            </a:r>
          </a:p>
        </p:txBody>
      </p:sp>
      <p:pic>
        <p:nvPicPr>
          <p:cNvPr id="5" name="Picture 4" descr="s21_2921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3.4.8.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Tú eres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protagonista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OJT: completas tus tareas,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resguardas el original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tu formato y lo llevas a cada evento.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8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92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1.6 FUNCIONES: ICOJT, IPOJT, IOJT E IVA APRENDIZ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Titulares de área y Comandancias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93655"/>
            <a:ext cx="10424160" cy="41505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Supervisan el OJT de su personal y gestionan recursos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Mantienen el </a:t>
            </a:r>
            <a:r>
              <a:rPr sz="2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plan individual</a:t>
            </a: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cada IVA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Proponen y formalizan a los instructores OJT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Autorizan programación, comisiones y acceso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Plazo del OJT: </a:t>
            </a:r>
            <a:r>
              <a:rPr sz="2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mayor a un año</a:t>
            </a: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(Carta de Política)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3.4.9 a 3.4.12.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512064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Dirección o Comandancia debe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asegurar que completes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tu OJT en el plazo de la Carta de Política; el vencimiento del plazo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acredita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entrenamiento.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512064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887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sz="3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¡Gracias!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14950</TotalTime>
  <Words>2428</Words>
  <Application>Microsoft Office PowerPoint</Application>
  <PresentationFormat>Panorámica</PresentationFormat>
  <Paragraphs>348</Paragraphs>
  <Slides>31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Montserrat</vt:lpstr>
      <vt:lpstr>Montserrat Medium</vt:lpstr>
      <vt:lpstr>Montserrat SemiBold</vt:lpstr>
      <vt:lpstr>Noto Sans</vt:lpstr>
      <vt:lpstr>Tema de Office</vt:lpstr>
      <vt:lpstr>Módulo 1 Marco general del Programa OJT Programa de Entrenamiento en el Puesto de Trabajo</vt:lpstr>
      <vt:lpstr>ACTIVIDAD DE INICIO Para iniciar, reflexiona</vt:lpstr>
      <vt:lpstr>1.1 ANTECEDENTES Y OBJETIVOS DEL PROGRAMA OJT ¿Por qué surge el Programa OJT?</vt:lpstr>
      <vt:lpstr>1.1 ANTECEDENTES Y OBJETIVOS DEL PROGRAMA OJT ¿Qué es el OJT?</vt:lpstr>
      <vt:lpstr>1.1 ANTECEDENTES Y OBJETIVOS DEL PROGRAMA OJT ¿Dónde se ubica el OJT en tu formación?</vt:lpstr>
      <vt:lpstr>1.1 ANTECEDENTES Y OBJETIVOS DEL PROGRAMA OJT Documento 9734 de la OACI</vt:lpstr>
      <vt:lpstr>1.1 ANTECEDENTES Y OBJETIVOS DEL PROGRAMA OJT Los 8 elementos críticos de la OACI</vt:lpstr>
      <vt:lpstr>1.1 ANTECEDENTES Y OBJETIVOS DEL PROGRAMA OJT CE-4: personal técnico cualificado y el OJT</vt:lpstr>
      <vt:lpstr>1.1 ANTECEDENTES Y OBJETIVOS DEL PROGRAMA OJT Marco documental del Programa OJT</vt:lpstr>
      <vt:lpstr>1.1 ANTECEDENTES Y OBJETIVOS DEL PROGRAMA OJT ¿Dónde consultar la Carta de Política?</vt:lpstr>
      <vt:lpstr>1.1 ANTECEDENTES Y OBJETIVOS DEL PROGRAMA OJT Objetivo general del Programa OJT</vt:lpstr>
      <vt:lpstr>1.1 ANTECEDENTES Y OBJETIVOS DEL PROGRAMA OJT Objetivos específicos del Programa OJT</vt:lpstr>
      <vt:lpstr>1.1 ANTECEDENTES Y OBJETIVOS DEL PROGRAMA OJT ¿A quién aplica el Programa OJT?</vt:lpstr>
      <vt:lpstr>1.2 DEFINICIONES Y ABREVIATURAS DEL MANUAL Definiciones: los documentos del OJT</vt:lpstr>
      <vt:lpstr>1.2 DEFINICIONES Y ABREVIATURAS DEL MANUAL Definiciones: resultado y registro</vt:lpstr>
      <vt:lpstr>1.2 DEFINICIONES Y ABREVIATURAS DEL MANUAL Abreviaturas: figuras del Programa OJT</vt:lpstr>
      <vt:lpstr>1.3 ESTRUCTURA DEL MEPT: CAPÍTULOS Y ANEXOS Estructura del MEPT</vt:lpstr>
      <vt:lpstr>1.3 ESTRUCTURA DEL MEPT: CAPÍTULOS Y ANEXOS Anexo 1: formatos y bitácoras</vt:lpstr>
      <vt:lpstr>1.4 ORGANIGRAMA AFAC/CIAAC Y ESTRUCTURA OJT Organigrama AFAC – CIAAC</vt:lpstr>
      <vt:lpstr>1.4 ORGANIGRAMA AFAC/CIAAC Y ESTRUCTURA OJT Estructura del Programa OJT</vt:lpstr>
      <vt:lpstr>1.5 FUNCIONES: DIRECTOR DEL CIAAC, CPEPT, JDOP Y JDAE Una responsabilidad compartida</vt:lpstr>
      <vt:lpstr>1.5 FUNCIONES: DIRECTOR DEL CIAAC, CPEPT, JDOP Y JDAE Director del CIAAC</vt:lpstr>
      <vt:lpstr>1.5 FUNCIONES: DIRECTOR DEL CIAAC, CPEPT, JDOP Y JDAE Coordinador del Programa OJT (CPEPT)</vt:lpstr>
      <vt:lpstr>1.5 FUNCIONES: DIRECTOR DEL CIAAC, CPEPT, JDOP Y JDAE JDOP: Seguimiento Operacional</vt:lpstr>
      <vt:lpstr>1.5 FUNCIONES: DIRECTOR DEL CIAAC, CPEPT, JDOP Y JDAE JDAE: Análisis Técnico</vt:lpstr>
      <vt:lpstr>1.6 FUNCIONES: ICOJT, IPOJT, IOJT E IVA APRENDIZ Instructor Coordinador OJT (ICOJT)</vt:lpstr>
      <vt:lpstr>1.6 FUNCIONES: ICOJT, IPOJT, IOJT E IVA APRENDIZ Instructor Principal OJT (IPOJT)</vt:lpstr>
      <vt:lpstr>1.6 FUNCIONES: ICOJT, IPOJT, IOJT E IVA APRENDIZ Instructor OJT (IOJT)</vt:lpstr>
      <vt:lpstr>1.6 FUNCIONES: ICOJT, IPOJT, IOJT E IVA APRENDIZ IVA Aprendiz (IVA AP)</vt:lpstr>
      <vt:lpstr>1.6 FUNCIONES: ICOJT, IPOJT, IOJT E IVA APRENDIZ Titulares de área y Comandancias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AVANZADO PARA EL INSPECTOR VERIFICADOR AERONÁUTICO DE INVESTIGACIÓN ADMINISTRATIVA Y SEGURIDAD AÉREA (IVA-IASA)</dc:title>
  <dc:creator>Ricardo Elias Delgado Villalobos</dc:creator>
  <cp:lastModifiedBy>Jose Manuel Figueroa Hernandez</cp:lastModifiedBy>
  <cp:revision>219</cp:revision>
  <dcterms:created xsi:type="dcterms:W3CDTF">2025-01-15T19:01:35Z</dcterms:created>
  <dcterms:modified xsi:type="dcterms:W3CDTF">2026-09-24T03:17:15Z</dcterms:modified>
</cp:coreProperties>
</file>