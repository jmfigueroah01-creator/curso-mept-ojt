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63" r:id="rId2"/>
    <p:sldId id="266" r:id="rId3"/>
    <p:sldId id="267" r:id="rId4"/>
    <p:sldId id="268" r:id="rId5"/>
    <p:sldId id="269" r:id="rId6"/>
    <p:sldId id="301" r:id="rId7"/>
    <p:sldId id="299" r:id="rId8"/>
    <p:sldId id="300" r:id="rId9"/>
    <p:sldId id="302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8" r:id="rId33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CDAC"/>
    <a:srgbClr val="BC9C16"/>
    <a:srgbClr val="156082"/>
    <a:srgbClr val="0B3041"/>
    <a:srgbClr val="CCCCFF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30" autoAdjust="0"/>
    <p:restoredTop sz="94038" autoAdjust="0"/>
  </p:normalViewPr>
  <p:slideViewPr>
    <p:cSldViewPr snapToGrid="0">
      <p:cViewPr varScale="1">
        <p:scale>
          <a:sx n="104" d="100"/>
          <a:sy n="104" d="100"/>
        </p:scale>
        <p:origin x="7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redo custSel delSld modSld">
      <pc:chgData name="Jose Manuel Figueroa Hernandez" userId="c23fd2b0-07fd-455e-80a2-756e0be2378e" providerId="ADAL" clId="{19EAFD33-AF50-43D6-BF52-FC06C69CD06D}" dt="2026-09-23T19:33:56.312" v="8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19:17:48.907" v="1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19:17:44.248" v="0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19:18:19.306" v="4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19:18:19.306" v="4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19:19:08.704" v="5" actId="47"/>
        <pc:sldMkLst>
          <pc:docMk/>
          <pc:sldMk cId="0" sldId="264"/>
        </pc:sldMkLst>
      </pc:sldChg>
      <pc:sldChg chg="del">
        <pc:chgData name="Jose Manuel Figueroa Hernandez" userId="c23fd2b0-07fd-455e-80a2-756e0be2378e" providerId="ADAL" clId="{19EAFD33-AF50-43D6-BF52-FC06C69CD06D}" dt="2026-09-23T19:19:17.723" v="6" actId="47"/>
        <pc:sldMkLst>
          <pc:docMk/>
          <pc:sldMk cId="0" sldId="265"/>
        </pc:sldMkLst>
      </pc:sldChg>
      <pc:sldChg chg="modSp mod">
        <pc:chgData name="Jose Manuel Figueroa Hernandez" userId="c23fd2b0-07fd-455e-80a2-756e0be2378e" providerId="ADAL" clId="{19EAFD33-AF50-43D6-BF52-FC06C69CD06D}" dt="2026-09-23T19:20:24.478" v="9" actId="207"/>
        <pc:sldMkLst>
          <pc:docMk/>
          <pc:sldMk cId="0" sldId="266"/>
        </pc:sldMkLst>
        <pc:spChg chg="mod">
          <ac:chgData name="Jose Manuel Figueroa Hernandez" userId="c23fd2b0-07fd-455e-80a2-756e0be2378e" providerId="ADAL" clId="{19EAFD33-AF50-43D6-BF52-FC06C69CD06D}" dt="2026-09-23T19:20:24.478" v="9" actId="207"/>
          <ac:spMkLst>
            <pc:docMk/>
            <pc:sldMk cId="0" sldId="266"/>
            <ac:spMk id="4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0:59.577" v="73" actId="13926"/>
        <pc:sldMkLst>
          <pc:docMk/>
          <pc:sldMk cId="0" sldId="268"/>
        </pc:sldMkLst>
        <pc:spChg chg="mod">
          <ac:chgData name="Jose Manuel Figueroa Hernandez" userId="c23fd2b0-07fd-455e-80a2-756e0be2378e" providerId="ADAL" clId="{19EAFD33-AF50-43D6-BF52-FC06C69CD06D}" dt="2026-09-23T19:30:59.577" v="73" actId="13926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Jose Manuel Figueroa Hernandez" userId="c23fd2b0-07fd-455e-80a2-756e0be2378e" providerId="ADAL" clId="{19EAFD33-AF50-43D6-BF52-FC06C69CD06D}" dt="2026-09-23T19:31:21.282" v="79" actId="207"/>
        <pc:sldMkLst>
          <pc:docMk/>
          <pc:sldMk cId="0" sldId="269"/>
        </pc:sldMkLst>
        <pc:spChg chg="mod">
          <ac:chgData name="Jose Manuel Figueroa Hernandez" userId="c23fd2b0-07fd-455e-80a2-756e0be2378e" providerId="ADAL" clId="{19EAFD33-AF50-43D6-BF52-FC06C69CD06D}" dt="2026-09-23T19:31:21.282" v="79" actId="207"/>
          <ac:spMkLst>
            <pc:docMk/>
            <pc:sldMk cId="0" sldId="269"/>
            <ac:spMk id="14" creationId="{00000000-0000-0000-0000-000000000000}"/>
          </ac:spMkLst>
        </pc:spChg>
      </pc:sldChg>
      <pc:sldChg chg="addSp delSp modSp mod">
        <pc:chgData name="Jose Manuel Figueroa Hernandez" userId="c23fd2b0-07fd-455e-80a2-756e0be2378e" providerId="ADAL" clId="{19EAFD33-AF50-43D6-BF52-FC06C69CD06D}" dt="2026-09-23T19:31:05.449" v="75" actId="1076"/>
        <pc:sldMkLst>
          <pc:docMk/>
          <pc:sldMk cId="0" sldId="270"/>
        </pc:sldMkLst>
        <pc:spChg chg="mod">
          <ac:chgData name="Jose Manuel Figueroa Hernandez" userId="c23fd2b0-07fd-455e-80a2-756e0be2378e" providerId="ADAL" clId="{19EAFD33-AF50-43D6-BF52-FC06C69CD06D}" dt="2026-09-23T19:27:27.408" v="32" actId="1076"/>
          <ac:spMkLst>
            <pc:docMk/>
            <pc:sldMk cId="0" sldId="270"/>
            <ac:spMk id="4" creationId="{00000000-0000-0000-0000-000000000000}"/>
          </ac:spMkLst>
        </pc:spChg>
        <pc:picChg chg="del">
          <ac:chgData name="Jose Manuel Figueroa Hernandez" userId="c23fd2b0-07fd-455e-80a2-756e0be2378e" providerId="ADAL" clId="{19EAFD33-AF50-43D6-BF52-FC06C69CD06D}" dt="2026-09-23T19:24:25.640" v="20" actId="478"/>
          <ac:picMkLst>
            <pc:docMk/>
            <pc:sldMk cId="0" sldId="270"/>
            <ac:picMk id="3" creationId="{00000000-0000-0000-0000-000000000000}"/>
          </ac:picMkLst>
        </pc:picChg>
        <pc:picChg chg="add mod">
          <ac:chgData name="Jose Manuel Figueroa Hernandez" userId="c23fd2b0-07fd-455e-80a2-756e0be2378e" providerId="ADAL" clId="{19EAFD33-AF50-43D6-BF52-FC06C69CD06D}" dt="2026-09-23T19:31:05.449" v="75" actId="1076"/>
          <ac:picMkLst>
            <pc:docMk/>
            <pc:sldMk cId="0" sldId="270"/>
            <ac:picMk id="6" creationId="{739894BC-31E1-A146-FA8E-977AC571FB7F}"/>
          </ac:picMkLst>
        </pc:picChg>
      </pc:sldChg>
      <pc:sldChg chg="del">
        <pc:chgData name="Jose Manuel Figueroa Hernandez" userId="c23fd2b0-07fd-455e-80a2-756e0be2378e" providerId="ADAL" clId="{19EAFD33-AF50-43D6-BF52-FC06C69CD06D}" dt="2026-09-23T19:33:56.312" v="82" actId="47"/>
        <pc:sldMkLst>
          <pc:docMk/>
          <pc:sldMk cId="0" sldId="295"/>
        </pc:sldMkLst>
      </pc:sldChg>
      <pc:sldChg chg="del">
        <pc:chgData name="Jose Manuel Figueroa Hernandez" userId="c23fd2b0-07fd-455e-80a2-756e0be2378e" providerId="ADAL" clId="{19EAFD33-AF50-43D6-BF52-FC06C69CD06D}" dt="2026-09-23T19:33:52.826" v="81" actId="47"/>
        <pc:sldMkLst>
          <pc:docMk/>
          <pc:sldMk cId="0" sldId="296"/>
        </pc:sldMkLst>
      </pc:sldChg>
      <pc:sldChg chg="del">
        <pc:chgData name="Jose Manuel Figueroa Hernandez" userId="c23fd2b0-07fd-455e-80a2-756e0be2378e" providerId="ADAL" clId="{19EAFD33-AF50-43D6-BF52-FC06C69CD06D}" dt="2026-09-23T19:33:45.372" v="80" actId="47"/>
        <pc:sldMkLst>
          <pc:docMk/>
          <pc:sldMk cId="0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24/09/2026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b.mx/afa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1669935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1</a:t>
            </a:r>
          </a:p>
          <a:p>
            <a:pPr algn="ctr">
              <a:spcAft>
                <a:spcPts val="800"/>
              </a:spcAft>
            </a:pP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Marco general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02_9bed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876666"/>
            <a:ext cx="2988418" cy="29884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34009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Recuerda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primera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campo: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Quién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enseñó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realizarla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Cómo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sabías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hacías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conforme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 La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retomarás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surge el Programa OJT?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18172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aprendía de la </a:t>
            </a:r>
            <a:r>
              <a:rPr sz="20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experiencia heredada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los más antiguos.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Había </a:t>
            </a:r>
            <a:r>
              <a:rPr sz="20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discrecionalidad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individual.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Surgían diferencias en procesos y decisiones.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3453887"/>
            <a:ext cx="822960" cy="581081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0" y="1918172"/>
            <a:ext cx="457200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 el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416242"/>
            <a:ext cx="4572000" cy="2905406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bIns="228600" rtlCol="0" anchor="t"/>
          <a:lstStyle/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Entrenamiento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en campo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acompañado por personal con experiencia.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Alineado a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manuales técnicos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normas.</a:t>
            </a:r>
          </a:p>
          <a:p>
            <a:pPr marL="228600" indent="-228600" algn="l"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Desviaciones corregidas con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retroalimentación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Capítulo 1, numeral 1.1 Introducción general.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53949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Antes, cada inspector aprendía como podía y los criterios variaban entre personas. Con el OJT, la práctica en campo se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planifica, se supervisa y se documenta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conforme a los manuales técnicos.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3949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986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98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¿Qué es el OJT?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182625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desarrolla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aplica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</a:t>
            </a:r>
            <a:r>
              <a:rPr sz="25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competencia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funciones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un 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progresivos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Práctico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52928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Planificado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74336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95744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Supervisado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17152" y="3951957"/>
            <a:ext cx="1938528" cy="91312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" y="6193908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OJT: On the Job Training. Fuente: MEPT, </a:t>
            </a:r>
            <a:r>
              <a:rPr sz="1400" b="0" i="0" u="none" dirty="0" err="1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Definiciones</a:t>
            </a:r>
            <a:r>
              <a:rPr sz="1400" b="0" i="0" u="none" dirty="0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 y numeral 2.1.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5250324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basta con saber la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teoría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demuestras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puedes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acompañado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designado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250324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7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44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91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41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135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se ubica el OJT en tu formación?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Inducción SICT/AFAC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Al ingresar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81528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básico o inicial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02152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De tu especialidad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97880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18504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OJT niveles 1, 2 y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 tu puesto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14232" y="2457748"/>
            <a:ext cx="365760" cy="373552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34856" y="2084195"/>
            <a:ext cx="2331720" cy="1120656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Curso recurrente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6" y="3287864"/>
            <a:ext cx="233172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Cada 3 años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93463"/>
            <a:ext cx="10424160" cy="96436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básico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concluido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OJT.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</a:t>
            </a:r>
            <a:r>
              <a:rPr sz="2500" b="1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específicos</a:t>
            </a:r>
            <a:r>
              <a:rPr sz="2500" b="0" i="0" u="none" dirty="0"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Carta de Política CP CIAAC-01/23 R03; MEPT, numeral 5.2.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1663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OJT llega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después del curso básico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especialidad y se realiza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 tu puesto de trabajo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cursos recurrentes (cada 3 años) y específicos mantienen y amplían tu competencia.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364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89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4701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 9734 de la OACI</a:t>
            </a:r>
          </a:p>
        </p:txBody>
      </p:sp>
      <p:pic>
        <p:nvPicPr>
          <p:cNvPr id="3" name="Picture 2" descr="doc97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752149"/>
            <a:ext cx="3428741" cy="394305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6949440" cy="23541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Doc 9734,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Parte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establece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responsabilidades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Estados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miembros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OACI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vigilancia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la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seguridad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operacional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signatarios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Convenio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de Chicago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mediante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implantación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ocho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elementos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2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críticos</a:t>
            </a:r>
            <a:r>
              <a:rPr sz="22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948096"/>
            <a:ext cx="6949440" cy="747104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Manual de vigilancia de la seguridad operacional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A · Tercera edición, 2017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02730"/>
            <a:ext cx="694944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3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Los 8 elementos críticos de la OACI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OACI define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8 elementos críticos (CE)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sistema de vigilancia de la seguridad operacional de un Estado. La AFAC debe cumplirlos todos.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57748"/>
            <a:ext cx="6400800" cy="415058"/>
          </a:xfrm>
          <a:prstGeom prst="roundRect">
            <a:avLst>
              <a:gd name="adj" fmla="val 15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Establecer 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2457748"/>
            <a:ext cx="3794760" cy="415058"/>
          </a:xfrm>
          <a:prstGeom prst="roundRect">
            <a:avLst>
              <a:gd name="adj" fmla="val 15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Implementar el sistema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CE-1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Legislación aeronáutica básica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8648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CE-2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Reglamentos de explotación específicos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2997323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CE-3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Sistema y funciones estatales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5891" y="4325509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CE-4</a:t>
            </a: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Personal </a:t>
            </a:r>
            <a:r>
              <a:rPr sz="1400" b="0" i="0" u="none" dirty="0" err="1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técnico</a:t>
            </a:r>
            <a:r>
              <a:rPr sz="1400" b="0" i="0" u="none" dirty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cualificado</a:t>
            </a:r>
            <a:endParaRPr sz="1400" b="0" i="0" u="none" dirty="0">
              <a:solidFill>
                <a:srgbClr val="FFFFFF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65776" y="4325508"/>
            <a:ext cx="2029968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 dirty="0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CE-5</a:t>
            </a:r>
          </a:p>
          <a:p>
            <a:pPr algn="ctr">
              <a:spcAft>
                <a:spcPts val="0"/>
              </a:spcAft>
            </a:pP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Orientación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técnica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instrumentos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información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crítica</a:t>
            </a: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60920" y="2997323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CE-6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Otorgamiento de licencias, certificación, autorización y aprobación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885547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CE-7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Obligaciones de vigilancia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4773772"/>
            <a:ext cx="3794760" cy="78861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400" b="1" i="0" u="none">
                <a:solidFill>
                  <a:srgbClr val="1B4A78"/>
                </a:solidFill>
                <a:latin typeface="Montserrat Medium"/>
                <a:ea typeface="Montserrat Medium"/>
                <a:cs typeface="Montserrat Medium"/>
              </a:rPr>
              <a:t>CE-8</a:t>
            </a:r>
          </a:p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Solución de problemas de seguridad operacional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8725" y="4429273"/>
            <a:ext cx="1234986" cy="996139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ctr">
              <a:spcAft>
                <a:spcPts val="0"/>
              </a:spcAft>
            </a:pPr>
            <a:r>
              <a:rPr sz="11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Aquí</a:t>
            </a:r>
            <a:r>
              <a:rPr sz="11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1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ubica</a:t>
            </a:r>
            <a:endParaRPr sz="11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1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el </a:t>
            </a:r>
            <a:r>
              <a:rPr sz="11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Programa</a:t>
            </a:r>
            <a:r>
              <a:rPr sz="11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Manual de vigilancia de la seguridad operacional, Parte A (3.ª ed., 2017); Anexo 19, Apéndice 1; MEPT, Documentos de referencia.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12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979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426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CE-4: personal técnico cualificado y el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9137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cumplir el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CE-4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el Estado debe asegurar que sus inspectores estén cualificados. Esto implica:</a:t>
            </a:r>
          </a:p>
        </p:txBody>
      </p:sp>
      <p:sp>
        <p:nvSpPr>
          <p:cNvPr id="4" name="Oval 3"/>
          <p:cNvSpPr/>
          <p:nvPr/>
        </p:nvSpPr>
        <p:spPr>
          <a:xfrm>
            <a:off x="210312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Requisitos mínimos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cualificación para el personal técnico que realiza funciones de vigilancia.</a:t>
            </a:r>
          </a:p>
        </p:txBody>
      </p:sp>
      <p:sp>
        <p:nvSpPr>
          <p:cNvPr id="7" name="Oval 6"/>
          <p:cNvSpPr/>
          <p:nvPr/>
        </p:nvSpPr>
        <p:spPr>
          <a:xfrm>
            <a:off x="562356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Instrucción continua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inicial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periódica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especializada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puesto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trabajo</a:t>
            </a:r>
            <a:r>
              <a:rPr sz="1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(OJT)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0" y="2416242"/>
            <a:ext cx="548640" cy="498069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038829"/>
            <a:ext cx="329184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36899"/>
            <a:ext cx="3291840" cy="1203668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instrucción de cada inspector, para demostrar su competencia.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948096"/>
            <a:ext cx="10424160" cy="830116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¿Por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qué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te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5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importa</a:t>
            </a:r>
            <a:r>
              <a:rPr sz="15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?</a:t>
            </a:r>
            <a:r>
              <a:rPr sz="1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y sus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demuestran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 la OACI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AFAC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CE-4.</a:t>
            </a:r>
            <a:endParaRPr lang="es-MX"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endParaRPr sz="14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0"/>
              </a:spcAft>
            </a:pP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MEPT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exige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un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propios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(numeral 4.2.4).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02730"/>
            <a:ext cx="100584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OACI, Doc 9734, Parte A, capítulo 3, apartado 3.4 (numerales 3.4.2.5, 3.4.2.7 y 3.4.2.10), citado en el MEPT, numeral 4.2.4.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2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979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476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951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se actualizó el MEPT?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R05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(05 de enero de 2024) a la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R06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(11 de septiembre de 2026), el manual se actualizó para: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23774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Sustento</a:t>
            </a:r>
            <a:r>
              <a:rPr sz="17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OACI</a:t>
            </a:r>
            <a:r>
              <a:rPr lang="es-MX" sz="1700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- FAA</a:t>
            </a:r>
            <a:endParaRPr sz="170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417320" y="2880360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Precisar el CE-4 del Doc 9734 para que el programa sea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verificable en auditoría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6035040" y="2423160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3774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Trazabilidad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880360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evento por aprendiz, tarea y nivel,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y evidencia propias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51959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42062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Responsabilidades claras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4709159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CIAAC conduce; las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áreas ejecutan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evalúan y conservan la evidencia.</a:t>
            </a:r>
          </a:p>
        </p:txBody>
      </p:sp>
      <p:sp>
        <p:nvSpPr>
          <p:cNvPr id="13" name="Oval 12"/>
          <p:cNvSpPr/>
          <p:nvPr/>
        </p:nvSpPr>
        <p:spPr>
          <a:xfrm>
            <a:off x="6035040" y="4251959"/>
            <a:ext cx="548640" cy="5486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0840" y="4206240"/>
            <a:ext cx="443484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Operación ordenada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4709159"/>
            <a:ext cx="443484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Validez del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Módulo OJT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un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ciclo documental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plazos definidos.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CIAAC, Cuadro comparativo MEPT R05 – R06.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1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79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446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913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380"/>
                            </p:stCondLst>
                            <p:childTnLst>
                              <p:par>
                                <p:cTn id="4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847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4314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761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Marco documental del Programa OJT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1691640"/>
            <a:ext cx="6664445" cy="3383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Carta de Política CP CIAAC-01/23 R0</a:t>
            </a:r>
            <a:r>
              <a:rPr lang="es-MX"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3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: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adiestramiento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sus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manuales</a:t>
            </a:r>
            <a:r>
              <a:rPr lang="es-MX" sz="25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complementarios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MSIG · MPPC · MAC · MGCC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9894BC-31E1-A146-FA8E-977AC571F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35" y="1752149"/>
            <a:ext cx="3715273" cy="470357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Rounded Rectangle 6"/>
          <p:cNvSpPr/>
          <p:nvPr/>
        </p:nvSpPr>
        <p:spPr>
          <a:xfrm>
            <a:off x="5166359" y="5257800"/>
            <a:ext cx="6080760" cy="9144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Carta de Política establece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qué capacitación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recibes; el MEPT explica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cómo se realiza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OJT, paso a paso.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53263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¿Dónde consultar la Carta de Política?</a:t>
            </a:r>
          </a:p>
        </p:txBody>
      </p:sp>
      <p:sp>
        <p:nvSpPr>
          <p:cNvPr id="3" name="Oval 2"/>
          <p:cNvSpPr/>
          <p:nvPr/>
        </p:nvSpPr>
        <p:spPr>
          <a:xfrm>
            <a:off x="132588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Ingresa a gob.mx/afac</a:t>
            </a:r>
          </a:p>
        </p:txBody>
      </p:sp>
      <p:sp>
        <p:nvSpPr>
          <p:cNvPr id="5" name="Oval 4"/>
          <p:cNvSpPr/>
          <p:nvPr/>
        </p:nvSpPr>
        <p:spPr>
          <a:xfrm>
            <a:off x="356616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Abre el apartado «Legislación»</a:t>
            </a:r>
          </a:p>
        </p:txBody>
      </p:sp>
      <p:sp>
        <p:nvSpPr>
          <p:cNvPr id="7" name="Oval 6"/>
          <p:cNvSpPr/>
          <p:nvPr/>
        </p:nvSpPr>
        <p:spPr>
          <a:xfrm>
            <a:off x="580644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Elige «Cartas de Política»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Da clic en «Capacitación»</a:t>
            </a:r>
          </a:p>
        </p:txBody>
      </p:sp>
      <p:sp>
        <p:nvSpPr>
          <p:cNvPr id="11" name="Oval 10"/>
          <p:cNvSpPr/>
          <p:nvPr/>
        </p:nvSpPr>
        <p:spPr>
          <a:xfrm>
            <a:off x="10287000" y="1918172"/>
            <a:ext cx="685800" cy="622587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55480" y="2665277"/>
            <a:ext cx="2103120" cy="1577220"/>
          </a:xfrm>
          <a:prstGeom prst="roundRect">
            <a:avLst>
              <a:gd name="adj" fmla="val 10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o descarga el documento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4023360" y="4657556"/>
            <a:ext cx="4023360" cy="498069"/>
          </a:xfrm>
          <a:prstGeom prst="roundRect">
            <a:avLst>
              <a:gd name="adj" fmla="val 5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Ir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al portal de la AFAC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63154"/>
            <a:ext cx="10424160" cy="6640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Practica: localiza la Carta de Política y revisa qué revisión está vigente.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93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46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10424160" cy="2988418"/>
          </a:xfrm>
          <a:prstGeom prst="roundRect">
            <a:avLst>
              <a:gd name="adj" fmla="val 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320040" rIns="320040" bIns="320040" rtlCol="0" anchor="ctr"/>
          <a:lstStyle/>
          <a:p>
            <a:pPr algn="ctr">
              <a:spcAft>
                <a:spcPts val="0"/>
              </a:spcAft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 forma práctica en el puesto de trabajo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todo el personal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AFAC, conforme a estándares nacionales e internacionales, mejorando su desempeño mediante </a:t>
            </a:r>
            <a:r>
              <a:rPr sz="25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tareas específicas de vigilancia e inspección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de forma acompañada.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31108"/>
            <a:ext cx="104241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Aplica en Direcciones Ejecutivas y de Área, Comandancias del AICM y AIFA y Comandancias Regionales.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Objetivos específicos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Estandarizar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formatos por especialidad</a:t>
            </a:r>
          </a:p>
        </p:txBody>
      </p:sp>
      <p:sp>
        <p:nvSpPr>
          <p:cNvPr id="4" name="Oval 3"/>
          <p:cNvSpPr/>
          <p:nvPr/>
        </p:nvSpPr>
        <p:spPr>
          <a:xfrm>
            <a:off x="84124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 el IVA aprendiz demuestre sus tareas</a:t>
            </a:r>
          </a:p>
        </p:txBody>
      </p:sp>
      <p:sp>
        <p:nvSpPr>
          <p:cNvPr id="6" name="Oval 5"/>
          <p:cNvSpPr/>
          <p:nvPr/>
        </p:nvSpPr>
        <p:spPr>
          <a:xfrm>
            <a:off x="4361688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Llenar correctamente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formato OJT y bitácoras</a:t>
            </a:r>
          </a:p>
        </p:txBody>
      </p:sp>
      <p:sp>
        <p:nvSpPr>
          <p:cNvPr id="8" name="Oval 7"/>
          <p:cNvSpPr/>
          <p:nvPr/>
        </p:nvSpPr>
        <p:spPr>
          <a:xfrm>
            <a:off x="7882127" y="1976280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Controlar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desempeño y los resultados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instructores principales e instructores OJT</a:t>
            </a:r>
          </a:p>
        </p:txBody>
      </p:sp>
      <p:sp>
        <p:nvSpPr>
          <p:cNvPr id="12" name="Oval 11"/>
          <p:cNvSpPr/>
          <p:nvPr/>
        </p:nvSpPr>
        <p:spPr>
          <a:xfrm>
            <a:off x="4361688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827439"/>
            <a:ext cx="3291840" cy="1743243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Mejorar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continuamente el programa</a:t>
            </a:r>
          </a:p>
        </p:txBody>
      </p:sp>
      <p:sp>
        <p:nvSpPr>
          <p:cNvPr id="14" name="Oval 13"/>
          <p:cNvSpPr/>
          <p:nvPr/>
        </p:nvSpPr>
        <p:spPr>
          <a:xfrm>
            <a:off x="7882127" y="3927053"/>
            <a:ext cx="457200" cy="41505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2.4.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302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1.1 ANTECEDENTES, OBJETIVO GENERAL Y OBJETIVOS ESPECÍFICOS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 quién aplica el Programa OJT?</a:t>
            </a:r>
          </a:p>
        </p:txBody>
      </p:sp>
      <p:pic>
        <p:nvPicPr>
          <p:cNvPr id="3" name="Picture 2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6666"/>
            <a:ext cx="2988418" cy="2786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858000" cy="387798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especialidades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coordinadores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principales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personal IVA y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Dirección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CIAAC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</a:pPr>
            <a:endParaRPr lang="es-MX" sz="25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spcAft>
                <a:spcPts val="1200"/>
              </a:spcAft>
              <a:buClr>
                <a:srgbClr val="B98A2E"/>
              </a:buClr>
            </a:pPr>
            <a:r>
              <a:rPr lang="es-MX" sz="2500" dirty="0">
                <a:solidFill>
                  <a:srgbClr val="182430"/>
                </a:solidFill>
                <a:latin typeface="Montserrat Medium"/>
              </a:rPr>
              <a:t>Su aplicación comprenderá la gestión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física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digital o mixta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los documentos del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Tarea genérica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Unidad de trabajo con las subtareas necesarias para tus funciones.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Subtarea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 una tarea. Completarlas permite acreditar la tarea.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 por especialidad donde se registra cada nivel.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Parte del formato: describe las subtareas de cada tarea.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apartado de Definiciones.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68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Definiciones: resultado y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Competencia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Capacidad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demostrada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realizar una tarea conforme a procedimientos y criterios.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835161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Acreditación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49832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satisfactorio documentado de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una tarea y un nivel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Reconocimiento de entrenamiento previo, por tarea y nivel, con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fechas reales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868945"/>
            <a:ext cx="5029200" cy="51467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83617"/>
            <a:ext cx="5029200" cy="1286680"/>
          </a:xfrm>
          <a:prstGeom prst="roundRect">
            <a:avLst>
              <a:gd name="adj" fmla="val 4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Apartado de la plataforma de la AFAC para formatos, bitácoras y evidencias.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4236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La acreditación OJT no autoriza por sí sola a ejercer funciones ni designa instructor.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418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1.2 DEFINICIONES Y ABREVIATURAS DEL MANUAL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Abreviaturas: figuras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del Programa de Entrenamiento en el Puesto de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52149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52149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del Seguimiento Operacional de Programas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Jefe de División de Análisis Técnico del Entrenamiento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565663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565663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Coordinador OJT (ICOJT-S: suplente)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Principal 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3379177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3379177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 (adscrito al CIAAC)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4192690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IIFTA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192690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de Formación Técnica Aeronáutica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Verificador Aeronáutico Aprendiz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5006204"/>
            <a:ext cx="1325880" cy="664092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IAP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5006204"/>
            <a:ext cx="3794760" cy="664092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Instructor Aprendiz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124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9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7058"/>
                            </p:stCondLst>
                            <p:childTnLst>
                              <p:par>
                                <p:cTn id="7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7525"/>
                            </p:stCondLst>
                            <p:childTnLst>
                              <p:par>
                                <p:cTn id="8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992"/>
                            </p:stCondLst>
                            <p:childTnLst>
                              <p:par>
                                <p:cTn id="8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8459"/>
                            </p:stCondLst>
                            <p:childTnLst>
                              <p:par>
                                <p:cTn id="9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8926"/>
                            </p:stCondLst>
                            <p:childTnLst>
                              <p:par>
                                <p:cTn id="9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393"/>
                            </p:stCondLst>
                            <p:childTnLst>
                              <p:par>
                                <p:cTn id="10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MEPT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Descripción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Uso, control de revisiones y responsables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5196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Introducción general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752149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Cap. 2</a:t>
            </a:r>
          </a:p>
          <a:p>
            <a:pPr algn="ctr"/>
            <a:r>
              <a:rPr sz="1600" b="1">
                <a:solidFill>
                  <a:srgbClr val="9A7323"/>
                </a:solidFill>
                <a:latin typeface="Montserrat Medium"/>
              </a:rPr>
              <a:t>Objetivos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3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Estructura del sistema OJT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4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Requisitos para el OJT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121841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5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 de ejecución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87000" y="30222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Cap. 6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Evaluación y mejora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1</a:t>
            </a:r>
          </a:p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OJT y bitácoras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91532"/>
            <a:ext cx="3291840" cy="120366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Anexo 2</a:t>
            </a:r>
          </a:p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Manual de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usuario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Módulo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87000" y="4391918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Recuadros dorados: capítulos que estudias en este curso.</a:t>
            </a: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4EB2E0AC-E1A8-3EF6-98E8-2FEB6E2AE6AC}"/>
              </a:ext>
            </a:extLst>
          </p:cNvPr>
          <p:cNvSpPr/>
          <p:nvPr/>
        </p:nvSpPr>
        <p:spPr>
          <a:xfrm>
            <a:off x="10283305" y="1594427"/>
            <a:ext cx="731520" cy="315444"/>
          </a:xfrm>
          <a:prstGeom prst="roundRect">
            <a:avLst>
              <a:gd name="adj" fmla="val 5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21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18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1.3 ESTRUCTURA DEL MEPT: CAPÍTULOS Y ANEXOS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Anexo 1: formatos y bitácoras</a:t>
            </a:r>
          </a:p>
        </p:txBody>
      </p:sp>
      <p:pic>
        <p:nvPicPr>
          <p:cNvPr id="3" name="Picture 2" descr="s08_fd9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959678"/>
            <a:ext cx="2905406" cy="29054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694944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general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 de entrenamiento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 de cumplimiento y evaluación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y bitácoras por especialidad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Modelos de oficio de designación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448056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Estos documentos acompañan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cada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OJT. Usa siempre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 de tu especialidad: con la R06, cada registro refleja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una tarea, un nivel y su evidencia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448056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855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Organigrama AFAC – CIAAC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40236" y="1710643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</a:t>
            </a: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General de la AFAC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51916" y="2333229"/>
            <a:ext cx="0" cy="290541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40236" y="2623771"/>
            <a:ext cx="4023360" cy="622587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51916" y="3246358"/>
            <a:ext cx="0" cy="29054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53560" y="3536899"/>
            <a:ext cx="877824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5448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Programas para la Capacitación de Autoridades Aeronáuticas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4903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4320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Formación Técnica Aeronáutica Especializada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3775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Diseño Pedagógico de Programas Aeronáuticos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3815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32319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Calidad del CIAAC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9" y="3536899"/>
            <a:ext cx="0" cy="249034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26880" y="3785934"/>
            <a:ext cx="2057400" cy="1577220"/>
          </a:xfrm>
          <a:prstGeom prst="roundRect">
            <a:avLst>
              <a:gd name="adj" fmla="val 6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Coordinación de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 de Entrenamiento en el Puesto de Trabajo (CPEPT)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12189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0E2A47"/>
                </a:solidFill>
                <a:latin typeface="Montserrat Medium"/>
                <a:ea typeface="Montserrat Medium"/>
                <a:cs typeface="Montserrat Medium"/>
              </a:rPr>
              <a:t>La CPEPT conduce el Programa OJT a nombre de la Dirección del CIAAC.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875"/>
                            </p:stCondLst>
                            <p:childTnLst>
                              <p:par>
                                <p:cTn id="3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14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405"/>
                            </p:stCondLst>
                            <p:childTnLst>
                              <p:par>
                                <p:cTn id="4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79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257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24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191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658"/>
                            </p:stCondLst>
                            <p:childTnLst>
                              <p:par>
                                <p:cTn id="6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155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1.4 ORGANIGRAMA AFAC/CIAAC Y ESTRUCTURA DEL PROGRAMA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Estructura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06240" y="1669137"/>
            <a:ext cx="3657600" cy="498069"/>
          </a:xfrm>
          <a:prstGeom prst="roundRect">
            <a:avLst>
              <a:gd name="adj" fmla="val 8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0" y="2167207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931920" y="2374736"/>
            <a:ext cx="4206240" cy="498069"/>
          </a:xfrm>
          <a:prstGeom prst="roundRect">
            <a:avLst>
              <a:gd name="adj" fmla="val 8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35040" y="2872806"/>
            <a:ext cx="0" cy="207529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94560" y="3080335"/>
            <a:ext cx="7680960" cy="0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94560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3152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Seguimiento operacional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875519" y="3080335"/>
            <a:ext cx="0" cy="166023"/>
          </a:xfrm>
          <a:prstGeom prst="line">
            <a:avLst/>
          </a:prstGeom>
          <a:ln w="19050">
            <a:solidFill>
              <a:srgbClr val="5C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246358"/>
            <a:ext cx="2926080" cy="705598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Análisis técnico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246358"/>
            <a:ext cx="3657600" cy="705598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Inspector Instructor OJT</a:t>
            </a:r>
          </a:p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(adscrito al CIAAC)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0992"/>
            <a:ext cx="10515600" cy="128668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25895"/>
            <a:ext cx="8229600" cy="2905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En cada Dirección o Comandancia (designados por el área):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07238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2044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IPOJT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67842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2648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84464" y="4806976"/>
            <a:ext cx="384048" cy="31544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32520" y="4616050"/>
            <a:ext cx="2103120" cy="705598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12189"/>
            <a:ext cx="10515600" cy="41505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Llenado de formatos OJT, bitácoras e integración de evidencias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75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4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15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8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345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610"/>
                            </p:stCondLst>
                            <p:childTnLst>
                              <p:par>
                                <p:cTn id="3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995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462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929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426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951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426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823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215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6612"/>
                            </p:stCondLst>
                            <p:childTnLst>
                              <p:par>
                                <p:cTn id="7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7004"/>
                            </p:stCondLst>
                            <p:childTnLst>
                              <p:par>
                                <p:cTn id="7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7401"/>
                            </p:stCondLst>
                            <p:childTnLst>
                              <p:par>
                                <p:cTn id="8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7793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29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9" grpId="0" animBg="1"/>
      <p:bldP spid="21" grpId="0" animBg="1"/>
      <p:bldP spid="2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Una responsabilidad compartida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Dirección del CIAAC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Conduce: metodología, estandarización, registro, supervisión y mejora.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Direcciones y Comandancias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Aseguran la ejecución con los IVA de su adscripción.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76666"/>
            <a:ext cx="3291840" cy="747104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designado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623771"/>
            <a:ext cx="3291840" cy="199227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 evaluación técnica de la tarea.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06590"/>
            <a:ext cx="10241280" cy="78861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2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Ninguna intervención sustituye a las demás ni transfiere atribuciones.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61224"/>
            <a:ext cx="1042416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51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26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Conduce el Programa OJT de la AFAC a través de la CPEPT.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programas OJT con las áreas técnicas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su implementación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Asegura el registro de resultados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Gestiona los recursos del programa</a:t>
            </a:r>
          </a:p>
        </p:txBody>
      </p:sp>
      <p:pic>
        <p:nvPicPr>
          <p:cNvPr id="5" name="Picture 4" descr="s27_2dd7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3.4.1.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Director del CIAAC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conduce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programa a través de la CPEPT, pero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tu área: tu Dirección sigue siendo responsable de que realices y evidencies tu OJT.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Coordinador del Programa OJT (CPEPT)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Dirige las acciones que garantizan el cumplimiento del Programa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implementación en la AFAC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designaciones de instructores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 formatos y cambios de 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mejoras al MEPT</a:t>
            </a:r>
          </a:p>
        </p:txBody>
      </p:sp>
      <p:pic>
        <p:nvPicPr>
          <p:cNvPr id="5" name="Picture 4" descr="s28_312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752149"/>
            <a:ext cx="1909267" cy="3106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3.4.2.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1089"/>
              <a:gd name="adj2" fmla="val -7581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es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coordinación central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programa: valida a los instructores, autoriza los formatos y los cambios de tareas, y propone mejoras al MEPT.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JDOP: Seguimiento Operacional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Coordina las acciones que garantizan el cumplimiento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formatos y tareas en el Módulo 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 a IPOJT e IOJT en campo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Asesora en el uso de formatos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Vigila el proceso de designación</a:t>
            </a:r>
          </a:p>
        </p:txBody>
      </p:sp>
      <p:pic>
        <p:nvPicPr>
          <p:cNvPr id="5" name="Picture 4" descr="s10_b20e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3.4.3.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JDOP 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seguimiento operativo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revisa lo que se registra en el Módulo OJT y verifica que los instructores apliquen correctamente los formatos.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1.5 FUNCIONES Y RESPONSABILIDADES: DIRECTOR DEL CIAAC, CPEPT, JDOP Y JDAE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JDAE: Análisis Técnico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Supervisa que tareas y subtareas se apeguen al MEPT y a los manuales técnicos.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cambios a tareas y subtareas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 hallazgos para la mejora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a IPOJT e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Formula el presupuesto del programa</a:t>
            </a:r>
          </a:p>
        </p:txBody>
      </p:sp>
      <p:pic>
        <p:nvPicPr>
          <p:cNvPr id="5" name="Picture 4" descr="s30_4d61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3.4.4.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JDAE cuida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calidad técnica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analiza los cambios de tareas, revisa los hallazgos y evalúa a los instructores para mejorar el entrenamiento.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Coordinador OJT (ICOJT)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Designado por el titular del área; da seguimiento al OJT de su personal.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Define tareas y subtareas del área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Coordina la programación por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Reprograma hasta 2 veces más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expedientes y reporta</a:t>
            </a:r>
          </a:p>
        </p:txBody>
      </p:sp>
      <p:pic>
        <p:nvPicPr>
          <p:cNvPr id="5" name="Picture 4" descr="s19_cbde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553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3.4.5.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1229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es tu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enlace directo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el programa: programa y reprograma tus eventos, revisa tu formato e integra tu expediente.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Principal OJT (IPOJT)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Instructor líder, experto en la implementación del programa.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 a los IOJT en enseñanza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Monitorea y asiste su desempeño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Recomienda candidatos a IOJT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Funge como IOJT cuando se requiere</a:t>
            </a:r>
          </a:p>
        </p:txBody>
      </p:sp>
      <p:pic>
        <p:nvPicPr>
          <p:cNvPr id="5" name="Picture 4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3.4.6.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IPOJT 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experto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área: forma y acompaña a los instructores OJT para que la enseñanza sea uniforme.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Instructor OJT (IOJT)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Persona con mayor experiencia y competencia en la especialidad.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Instruye la tarea en cada nivel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Evalúa y registra resultado y evidencias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firma técnica expresa lo aprobado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 nuevas tareas y subtareas</a:t>
            </a:r>
          </a:p>
        </p:txBody>
      </p:sp>
      <p:pic>
        <p:nvPicPr>
          <p:cNvPr id="5" name="Picture 4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3.4.7.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IOJT 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instruye, evalúa y firma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cada nivel. Su firma técnica indica exactamente qué tareas y niveles aprobaste.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 (IVA 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10643"/>
            <a:ext cx="7223760" cy="7471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IVA de cualquier especialidad que recibe el entrenamiento OJT.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99253"/>
            <a:ext cx="7223760" cy="34864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Completa las tareas programadas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Lleva su formato a cada evento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 del formato</a:t>
            </a:r>
          </a:p>
          <a:p>
            <a:pPr marL="347472" indent="-347472" algn="l">
              <a:lnSpc>
                <a:spcPct val="100000"/>
              </a:lnSpc>
              <a:spcAft>
                <a:spcPts val="10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Justifica sus inasistencias</a:t>
            </a:r>
          </a:p>
        </p:txBody>
      </p:sp>
      <p:pic>
        <p:nvPicPr>
          <p:cNvPr id="5" name="Picture 4" descr="s21_292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59678"/>
            <a:ext cx="2739383" cy="27393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6400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3.4.8.</a:t>
            </a:r>
          </a:p>
        </p:txBody>
      </p:sp>
      <p:sp>
        <p:nvSpPr>
          <p:cNvPr id="7" name="Rounded Rectangular Callout 6"/>
          <p:cNvSpPr/>
          <p:nvPr/>
        </p:nvSpPr>
        <p:spPr>
          <a:xfrm>
            <a:off x="731520" y="5120640"/>
            <a:ext cx="8595359" cy="731520"/>
          </a:xfrm>
          <a:prstGeom prst="wedgeRoundRectCallout">
            <a:avLst>
              <a:gd name="adj1" fmla="val 45193"/>
              <a:gd name="adj2" fmla="val -97630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eres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protagonista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OJT: completas tus tareas,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tu formato y lo llevas a cada evento.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38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992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1.6 FUNCIONES Y RESPONSABILIDADES: ICOJT, IPOJT, IOJT E IVA APRENDIZ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Titulares de área y Comandancias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93655"/>
            <a:ext cx="10424160" cy="41505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Supervisan el OJT de su personal y gestionan recursos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Mantienen el </a:t>
            </a:r>
            <a:r>
              <a:rPr sz="2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 individual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cada IVA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Proponen y formalizan a los instructores OJT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Autorizan programación, comisiones y acceso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Plazo del OJT: </a:t>
            </a:r>
            <a:r>
              <a:rPr sz="2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mayor a un año</a:t>
            </a:r>
            <a:r>
              <a:rPr sz="2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(Carta de Política)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3.4.9 a 3.4.12.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512064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Dirección o Comandancia debe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asegurar que completes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 en el plazo de la Carta de Política; el vencimiento del plazo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entrenamiento.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512064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75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887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14951</TotalTime>
  <Words>2623</Words>
  <Application>Microsoft Office PowerPoint</Application>
  <PresentationFormat>Panorámica</PresentationFormat>
  <Paragraphs>364</Paragraphs>
  <Slides>32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40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1 Marco general del Programa OJT Actualización del Manual de Entrenamiento en el Puesto de Trabajo</vt:lpstr>
      <vt:lpstr>ACTIVIDAD DE INICIO Para iniciar, reflexiona</vt:lpstr>
      <vt:lpstr>1.1 ANTECEDENTES, OBJETIVO GENERAL Y OBJETIVOS ESPECÍFICOS DEL PROGRAMA OJT ¿Por qué surge el Programa OJT?</vt:lpstr>
      <vt:lpstr>1.1 ANTECEDENTES, OBJETIVO GENERAL Y OBJETIVOS ESPECÍFICOS DEL PROGRAMA OJT ¿Qué es el OJT?</vt:lpstr>
      <vt:lpstr>1.1 ANTECEDENTES, OBJETIVO GENERAL Y OBJETIVOS ESPECÍFICOS DEL PROGRAMA OJT ¿Dónde se ubica el OJT en tu formación?</vt:lpstr>
      <vt:lpstr>1.1 ANTECEDENTES, OBJETIVO GENERAL Y OBJETIVOS ESPECÍFICOS DEL PROGRAMA OJT Documento 9734 de la OACI</vt:lpstr>
      <vt:lpstr>1.1 ANTECEDENTES, OBJETIVO GENERAL Y OBJETIVOS ESPECÍFICOS DEL PROGRAMA OJT Los 8 elementos críticos de la OACI</vt:lpstr>
      <vt:lpstr>1.1 ANTECEDENTES, OBJETIVO GENERAL Y OBJETIVOS ESPECÍFICOS DEL PROGRAMA OJT CE-4: personal técnico cualificado y el OJT</vt:lpstr>
      <vt:lpstr>1.1 ANTECEDENTES, OBJETIVO GENERAL Y OBJETIVOS ESPECÍFICOS DEL PROGRAMA OJT ¿Por qué se actualizó el MEPT?</vt:lpstr>
      <vt:lpstr>1.1 ANTECEDENTES, OBJETIVO GENERAL Y OBJETIVOS ESPECÍFICOS DEL PROGRAMA OJT Marco documental del Programa OJT</vt:lpstr>
      <vt:lpstr>1.1 ANTECEDENTES, OBJETIVO GENERAL Y OBJETIVOS ESPECÍFICOS DEL PROGRAMA OJT ¿Dónde consultar la Carta de Política?</vt:lpstr>
      <vt:lpstr>1.1 ANTECEDENTES, OBJETIVO GENERAL Y OBJETIVOS ESPECÍFICOS DEL PROGRAMA OJT Objetivo general del Programa OJT</vt:lpstr>
      <vt:lpstr>1.1 ANTECEDENTES, OBJETIVO GENERAL Y OBJETIVOS ESPECÍFICOS DEL PROGRAMA OJT Objetivos específicos del Programa OJT</vt:lpstr>
      <vt:lpstr>1.1 ANTECEDENTES, OBJETIVO GENERAL Y OBJETIVOS ESPECÍFICOS DEL PROGRAMA OJT ¿A quién aplica el Programa OJT?</vt:lpstr>
      <vt:lpstr>1.2 DEFINICIONES Y ABREVIATURAS DEL MANUAL Definiciones: los documentos del OJT</vt:lpstr>
      <vt:lpstr>1.2 DEFINICIONES Y ABREVIATURAS DEL MANUAL Definiciones: resultado y registro</vt:lpstr>
      <vt:lpstr>1.2 DEFINICIONES Y ABREVIATURAS DEL MANUAL Abreviaturas: figuras del Programa OJT</vt:lpstr>
      <vt:lpstr>1.3 ESTRUCTURA DEL MEPT: CAPÍTULOS Y ANEXOS Estructura del MEPT</vt:lpstr>
      <vt:lpstr>1.3 ESTRUCTURA DEL MEPT: CAPÍTULOS Y ANEXOS Anexo 1: formatos y bitácoras</vt:lpstr>
      <vt:lpstr>1.4 ORGANIGRAMA AFAC/CIAAC Y ESTRUCTURA DEL PROGRAMA OJT Organigrama AFAC – CIAAC</vt:lpstr>
      <vt:lpstr>1.4 ORGANIGRAMA AFAC/CIAAC Y ESTRUCTURA DEL PROGRAMA OJT Estructura del Programa OJT</vt:lpstr>
      <vt:lpstr>1.5 FUNCIONES Y RESPONSABILIDADES: DIRECTOR DEL CIAAC, CPEPT, JDOP Y JDAE Una responsabilidad compartida</vt:lpstr>
      <vt:lpstr>1.5 FUNCIONES Y RESPONSABILIDADES: DIRECTOR DEL CIAAC, CPEPT, JDOP Y JDAE Director del CIAAC</vt:lpstr>
      <vt:lpstr>1.5 FUNCIONES Y RESPONSABILIDADES: DIRECTOR DEL CIAAC, CPEPT, JDOP Y JDAE Coordinador del Programa OJT (CPEPT)</vt:lpstr>
      <vt:lpstr>1.5 FUNCIONES Y RESPONSABILIDADES: DIRECTOR DEL CIAAC, CPEPT, JDOP Y JDAE JDOP: Seguimiento Operacional</vt:lpstr>
      <vt:lpstr>1.5 FUNCIONES Y RESPONSABILIDADES: DIRECTOR DEL CIAAC, CPEPT, JDOP Y JDAE JDAE: Análisis Técnico</vt:lpstr>
      <vt:lpstr>1.6 FUNCIONES Y RESPONSABILIDADES: ICOJT, IPOJT, IOJT E IVA APRENDIZ Instructor Coordinador OJT (ICOJT)</vt:lpstr>
      <vt:lpstr>1.6 FUNCIONES Y RESPONSABILIDADES: ICOJT, IPOJT, IOJT E IVA APRENDIZ Instructor Principal OJT (IPOJT)</vt:lpstr>
      <vt:lpstr>1.6 FUNCIONES Y RESPONSABILIDADES: ICOJT, IPOJT, IOJT E IVA APRENDIZ Instructor OJT (IOJT)</vt:lpstr>
      <vt:lpstr>1.6 FUNCIONES Y RESPONSABILIDADES: ICOJT, IPOJT, IOJT E IVA APRENDIZ IVA Aprendiz (IVA AP)</vt:lpstr>
      <vt:lpstr>1.6 FUNCIONES Y RESPONSABILIDADES: ICOJT, IPOJT, IOJT E IVA APRENDIZ Titulares de área y Comandancias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AVANZADO PARA EL INSPECTOR VERIFICADOR AERONÁUTICO DE INVESTIGACIÓN ADMINISTRATIVA Y SEGURIDAD AÉREA (IVA-IASA)</dc:title>
  <dc:creator>Ricardo Elias Delgado Villalobos</dc:creator>
  <cp:lastModifiedBy>Jose Manuel Figueroa Hernandez</cp:lastModifiedBy>
  <cp:revision>220</cp:revision>
  <dcterms:created xsi:type="dcterms:W3CDTF">2025-01-15T19:01:35Z</dcterms:created>
  <dcterms:modified xsi:type="dcterms:W3CDTF">2026-09-24T15:26:56Z</dcterms:modified>
</cp:coreProperties>
</file>