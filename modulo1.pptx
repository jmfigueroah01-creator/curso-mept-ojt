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3" r:id="rId2"/>
    <p:sldId id="266" r:id="rId3"/>
    <p:sldId id="267" r:id="rId4"/>
    <p:sldId id="268" r:id="rId5"/>
    <p:sldId id="269" r:id="rId6"/>
    <p:sldId id="301" r:id="rId7"/>
    <p:sldId id="299" r:id="rId8"/>
    <p:sldId id="300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8" r:id="rId3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CDAC"/>
    <a:srgbClr val="BC9C16"/>
    <a:srgbClr val="156082"/>
    <a:srgbClr val="0B3041"/>
    <a:srgbClr val="CCCCFF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65" d="100"/>
          <a:sy n="65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redo custSel delSld modSld">
      <pc:chgData name="Jose Manuel Figueroa Hernandez" userId="c23fd2b0-07fd-455e-80a2-756e0be2378e" providerId="ADAL" clId="{19EAFD33-AF50-43D6-BF52-FC06C69CD06D}" dt="2026-09-23T19:33:56.312" v="8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19:17:48.907" v="1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19:18:19.306" v="4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19:18:19.306" v="4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19:19:08.704" v="5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19:19:17.723" v="6" actId="47"/>
        <pc:sldMkLst>
          <pc:docMk/>
          <pc:sldMk cId="0" sldId="265"/>
        </pc:sldMkLst>
      </pc:sldChg>
      <pc:sldChg chg="modSp mod">
        <pc:chgData name="Jose Manuel Figueroa Hernandez" userId="c23fd2b0-07fd-455e-80a2-756e0be2378e" providerId="ADAL" clId="{19EAFD33-AF50-43D6-BF52-FC06C69CD06D}" dt="2026-09-23T19:20:24.478" v="9" actId="207"/>
        <pc:sldMkLst>
          <pc:docMk/>
          <pc:sldMk cId="0" sldId="266"/>
        </pc:sldMkLst>
        <pc:spChg chg="mod">
          <ac:chgData name="Jose Manuel Figueroa Hernandez" userId="c23fd2b0-07fd-455e-80a2-756e0be2378e" providerId="ADAL" clId="{19EAFD33-AF50-43D6-BF52-FC06C69CD06D}" dt="2026-09-23T19:20:24.478" v="9" actId="20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0:59.577" v="73" actId="13926"/>
        <pc:sldMkLst>
          <pc:docMk/>
          <pc:sldMk cId="0" sldId="268"/>
        </pc:sldMkLst>
        <pc:spChg chg="mod">
          <ac:chgData name="Jose Manuel Figueroa Hernandez" userId="c23fd2b0-07fd-455e-80a2-756e0be2378e" providerId="ADAL" clId="{19EAFD33-AF50-43D6-BF52-FC06C69CD06D}" dt="2026-09-23T19:30:59.577" v="73" actId="13926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1:21.282" v="79" actId="207"/>
        <pc:sldMkLst>
          <pc:docMk/>
          <pc:sldMk cId="0" sldId="269"/>
        </pc:sldMkLst>
        <pc:spChg chg="mod">
          <ac:chgData name="Jose Manuel Figueroa Hernandez" userId="c23fd2b0-07fd-455e-80a2-756e0be2378e" providerId="ADAL" clId="{19EAFD33-AF50-43D6-BF52-FC06C69CD06D}" dt="2026-09-23T19:31:21.282" v="79" actId="207"/>
          <ac:spMkLst>
            <pc:docMk/>
            <pc:sldMk cId="0" sldId="269"/>
            <ac:spMk id="14" creationId="{00000000-0000-0000-0000-000000000000}"/>
          </ac:spMkLst>
        </pc:spChg>
      </pc:sldChg>
      <pc:sldChg chg="addSp delSp modSp mod">
        <pc:chgData name="Jose Manuel Figueroa Hernandez" userId="c23fd2b0-07fd-455e-80a2-756e0be2378e" providerId="ADAL" clId="{19EAFD33-AF50-43D6-BF52-FC06C69CD06D}" dt="2026-09-23T19:31:05.449" v="75" actId="1076"/>
        <pc:sldMkLst>
          <pc:docMk/>
          <pc:sldMk cId="0" sldId="270"/>
        </pc:sldMkLst>
        <pc:spChg chg="mod">
          <ac:chgData name="Jose Manuel Figueroa Hernandez" userId="c23fd2b0-07fd-455e-80a2-756e0be2378e" providerId="ADAL" clId="{19EAFD33-AF50-43D6-BF52-FC06C69CD06D}" dt="2026-09-23T19:27:27.408" v="32" actId="1076"/>
          <ac:spMkLst>
            <pc:docMk/>
            <pc:sldMk cId="0" sldId="270"/>
            <ac:spMk id="4" creationId="{00000000-0000-0000-0000-000000000000}"/>
          </ac:spMkLst>
        </pc:spChg>
        <pc:picChg chg="del">
          <ac:chgData name="Jose Manuel Figueroa Hernandez" userId="c23fd2b0-07fd-455e-80a2-756e0be2378e" providerId="ADAL" clId="{19EAFD33-AF50-43D6-BF52-FC06C69CD06D}" dt="2026-09-23T19:24:25.640" v="20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Jose Manuel Figueroa Hernandez" userId="c23fd2b0-07fd-455e-80a2-756e0be2378e" providerId="ADAL" clId="{19EAFD33-AF50-43D6-BF52-FC06C69CD06D}" dt="2026-09-23T19:31:05.449" v="75" actId="1076"/>
          <ac:picMkLst>
            <pc:docMk/>
            <pc:sldMk cId="0" sldId="270"/>
            <ac:picMk id="6" creationId="{739894BC-31E1-A146-FA8E-977AC571FB7F}"/>
          </ac:picMkLst>
        </pc:picChg>
      </pc:sldChg>
      <pc:sldChg chg="del">
        <pc:chgData name="Jose Manuel Figueroa Hernandez" userId="c23fd2b0-07fd-455e-80a2-756e0be2378e" providerId="ADAL" clId="{19EAFD33-AF50-43D6-BF52-FC06C69CD06D}" dt="2026-09-23T19:33:56.312" v="82" actId="47"/>
        <pc:sldMkLst>
          <pc:docMk/>
          <pc:sldMk cId="0" sldId="295"/>
        </pc:sldMkLst>
      </pc:sldChg>
      <pc:sldChg chg="del">
        <pc:chgData name="Jose Manuel Figueroa Hernandez" userId="c23fd2b0-07fd-455e-80a2-756e0be2378e" providerId="ADAL" clId="{19EAFD33-AF50-43D6-BF52-FC06C69CD06D}" dt="2026-09-23T19:33:52.826" v="81" actId="47"/>
        <pc:sldMkLst>
          <pc:docMk/>
          <pc:sldMk cId="0" sldId="296"/>
        </pc:sldMkLst>
      </pc:sldChg>
      <pc:sldChg chg="del">
        <pc:chgData name="Jose Manuel Figueroa Hernandez" userId="c23fd2b0-07fd-455e-80a2-756e0be2378e" providerId="ADAL" clId="{19EAFD33-AF50-43D6-BF52-FC06C69CD06D}" dt="2026-09-23T19:33:45.372" v="80" actId="47"/>
        <pc:sldMkLst>
          <pc:docMk/>
          <pc:sldMk cId="0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23/09/2026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b.mx/afa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669935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1</a:t>
            </a:r>
          </a:p>
          <a:p>
            <a:pPr algn="ctr">
              <a:spcAft>
                <a:spcPts val="800"/>
              </a:spcAft>
            </a:pP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Marco general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Programa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de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Entrenamiento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en</a:t>
            </a:r>
            <a:r>
              <a:rPr sz="1600" b="0" i="0" u="none" dirty="0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 el Puesto de </a:t>
            </a:r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02_9bed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76666"/>
            <a:ext cx="2988418" cy="2988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34009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Recuerda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primera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campo: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enseñó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realizarla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Cómo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sabías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hacías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conforme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 La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retomarás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18172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aprendía de la </a:t>
            </a:r>
            <a:r>
              <a:rPr sz="20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experiencia heredada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los más antiguos.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Había </a:t>
            </a:r>
            <a:r>
              <a:rPr sz="20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discrecionalidad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individual.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Surgían diferencias en procesos y decisiones.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3453887"/>
            <a:ext cx="822960" cy="581081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918172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 el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416242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Entrenamiento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en campo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acompañado por personal con experiencia.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Alineado a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manuales técnicos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normas.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Desviaciones corregidas con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retroalimentación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Capítulo 1, numeral 1.1 Introducción general.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53949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Antes, cada inspector aprendía como podía y los criterios variaban entre personas. Con el OJT, la práctica en campo se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planifica, se supervisa y se documenta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conforme a los manuales técnicos.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3949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986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98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es el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182625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desarrolla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aplica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</a:t>
            </a:r>
            <a:r>
              <a:rPr sz="25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funciones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un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progresivos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52928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Planificado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74336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5744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Supervisado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17152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" y="6193908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OJT: On the Job Training. Fuente: MEPT, </a:t>
            </a:r>
            <a:r>
              <a:rPr sz="14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Definiciones</a:t>
            </a: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y numeral 2.1.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5250324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basta con saber la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teoría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acompañado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250324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7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44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91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1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135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se ubica el OJT en tu formación?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Inducción SICT/AFAC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Al ingresar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81528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básico 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2152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 tu especialidad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7880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18504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OJT niveles 1, 2 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 tu puesto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14232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34856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recurrente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6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Cada 3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93463"/>
            <a:ext cx="10424160" cy="9643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concluido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específicos</a:t>
            </a:r>
            <a:r>
              <a:rPr sz="2500" b="0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Carta de Política CP CIAAC-01/23 R03; MEPT, numeral 5.2.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1663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OJT llega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después del curso básico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especialidad y se realiza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 tu puesto de trabajo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cursos recurrentes (cada 3 años) y específicos mantienen y amplían tu competencia.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364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89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4701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 9734 de la OACI</a:t>
            </a:r>
          </a:p>
        </p:txBody>
      </p:sp>
      <p:pic>
        <p:nvPicPr>
          <p:cNvPr id="3" name="Picture 2" descr="doc97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752149"/>
            <a:ext cx="3428741" cy="394305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23541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Doc 9734,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Parte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establece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responsabilidades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Estados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miembros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OACI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vigilancia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seguridad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operacional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signatarios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Convenio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Chicago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implantación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ocho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elementos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críticos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48096"/>
            <a:ext cx="6949440" cy="747104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 de vigilancia de la seguridad operacional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A · Tercera edición, 2017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02730"/>
            <a:ext cx="694944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3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Los 8 elementos críticos de la OACI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OACI define </a:t>
            </a:r>
            <a:r>
              <a:rPr sz="18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8 elementos críticos (CE)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sistema de vigilancia de la seguridad operacional de un Estado. La AFAC debe cumplirlos todos.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57748"/>
            <a:ext cx="6400800" cy="415058"/>
          </a:xfrm>
          <a:prstGeom prst="roundRect">
            <a:avLst>
              <a:gd name="adj" fmla="val 15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Establecer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2457748"/>
            <a:ext cx="3794760" cy="415058"/>
          </a:xfrm>
          <a:prstGeom prst="roundRect">
            <a:avLst>
              <a:gd name="adj" fmla="val 15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Implementar 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CE-1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Legislación aeronáutica básica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8648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CE-2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Reglamentos de explotación específicos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CE-3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 y funciones estatales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5891" y="4325509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CE-4</a:t>
            </a: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Personal </a:t>
            </a:r>
            <a:r>
              <a:rPr sz="1400" b="0" i="0" u="none" dirty="0" err="1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técnico</a:t>
            </a:r>
            <a:r>
              <a:rPr sz="1400" b="0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cualificado</a:t>
            </a:r>
            <a:endParaRPr sz="1400" b="0" i="0" u="none" dirty="0">
              <a:solidFill>
                <a:srgbClr val="FFFFFF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65776" y="4325508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 dirty="0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CE-5</a:t>
            </a:r>
          </a:p>
          <a:p>
            <a:pPr algn="ctr">
              <a:spcAft>
                <a:spcPts val="0"/>
              </a:spcAft>
            </a:pP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Orientación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técnica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instrumentos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información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crítica</a:t>
            </a: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60920" y="2997323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CE-6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Otorgamiento de licencias, certificación, autorización y aprobación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885547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CE-7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Obligaciones de vigilancia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4773772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CE-8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Solución de problemas de seguridad operacional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8725" y="4429273"/>
            <a:ext cx="1234986" cy="996139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1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Aquí</a:t>
            </a:r>
            <a:r>
              <a:rPr sz="11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1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ubica</a:t>
            </a:r>
            <a:endParaRPr sz="11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1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el </a:t>
            </a:r>
            <a:r>
              <a:rPr sz="11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1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Manual de vigilancia de la seguridad operacional, Parte A (3.ª ed., 2017); Anexo 19, Apéndice 1;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12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979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426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CE-4: personal técnico cualificado y el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cumplir el </a:t>
            </a:r>
            <a:r>
              <a:rPr sz="1800" b="1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CE-4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el Estado debe asegurar que sus inspectores estén cualificados. Esto implica: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mínimos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cualificación para el personal técnico que realiza funciones de vigilancia.</a:t>
            </a:r>
          </a:p>
        </p:txBody>
      </p:sp>
      <p:sp>
        <p:nvSpPr>
          <p:cNvPr id="7" name="Oval 6"/>
          <p:cNvSpPr/>
          <p:nvPr/>
        </p:nvSpPr>
        <p:spPr>
          <a:xfrm>
            <a:off x="562356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 continua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periódica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especializada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(OJT)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instrucción de cada inspector, para demostrar su competencia.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48096"/>
            <a:ext cx="1042416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¿Por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te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importa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?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y sus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demuestran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 la OACI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AFAC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CE-4.</a:t>
            </a:r>
            <a:endParaRPr lang="es-MX"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MEPT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exige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propios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(numeral 4.2.4).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A, capítulo 3, apartado 3.4 (numerales 3.4.2.5, 3.4.2.7 y 3.4.2.10), citado en el MEPT, numeral 4.2.4.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2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979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476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951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Marco documental del Programa OJT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91640"/>
            <a:ext cx="6664445" cy="3383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Carta de Política CP CIAAC-01/23 R0</a:t>
            </a:r>
            <a:r>
              <a:rPr lang="es-MX"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3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: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adiestramiento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lang="es-MX" sz="2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complementarios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MSIG · MPPC · MAC · MGCC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894BC-31E1-A146-FA8E-977AC571F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35" y="1752149"/>
            <a:ext cx="3715273" cy="470357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Rounded Rectangle 6"/>
          <p:cNvSpPr/>
          <p:nvPr/>
        </p:nvSpPr>
        <p:spPr>
          <a:xfrm>
            <a:off x="5166359" y="5257800"/>
            <a:ext cx="6080760" cy="914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Carta de Política establece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 capacitación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recibes; el MEPT explica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cómo se realiza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OJT, paso a paso.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53263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consultar la Carta de Política?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Ingresa a gob.mx/afac</a:t>
            </a:r>
          </a:p>
        </p:txBody>
      </p:sp>
      <p:sp>
        <p:nvSpPr>
          <p:cNvPr id="5" name="Oval 4"/>
          <p:cNvSpPr/>
          <p:nvPr/>
        </p:nvSpPr>
        <p:spPr>
          <a:xfrm>
            <a:off x="356616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Abre el apartado «Legislación»</a:t>
            </a:r>
          </a:p>
        </p:txBody>
      </p:sp>
      <p:sp>
        <p:nvSpPr>
          <p:cNvPr id="7" name="Oval 6"/>
          <p:cNvSpPr/>
          <p:nvPr/>
        </p:nvSpPr>
        <p:spPr>
          <a:xfrm>
            <a:off x="580644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Elige «Cartas de Política»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Da clic en «Capacitación»</a:t>
            </a:r>
          </a:p>
        </p:txBody>
      </p:sp>
      <p:sp>
        <p:nvSpPr>
          <p:cNvPr id="11" name="Oval 10"/>
          <p:cNvSpPr/>
          <p:nvPr/>
        </p:nvSpPr>
        <p:spPr>
          <a:xfrm>
            <a:off x="1028700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o descarga el documento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4023360" y="4657556"/>
            <a:ext cx="4023360" cy="498069"/>
          </a:xfrm>
          <a:prstGeom prst="roundRect">
            <a:avLst>
              <a:gd name="adj" fmla="val 5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Ir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al portal de la AFAC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63154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Practica: localiza la Carta de Política y revisa qué revisión está vigente.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93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4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10424160" cy="2988418"/>
          </a:xfrm>
          <a:prstGeom prst="roundRect">
            <a:avLst>
              <a:gd name="adj" fmla="val 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 forma práctica en el puesto de trabajo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todo el personal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AFAC, conforme a estándares nacionales e internacionales, mejorando su desempeño mediante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tareas específicas de vigilancia e inspección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de forma acompañada.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31108"/>
            <a:ext cx="104241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Aplica en Direcciones Ejecutivas y de Área, Comandancias del AICM y AIFA y Comandancias Regionales.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Objetivos específicos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Estandarizar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formatos por especialidad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el IVA aprendiz demuestre sus tareas</a:t>
            </a:r>
          </a:p>
        </p:txBody>
      </p:sp>
      <p:sp>
        <p:nvSpPr>
          <p:cNvPr id="6" name="Oval 5"/>
          <p:cNvSpPr/>
          <p:nvPr/>
        </p:nvSpPr>
        <p:spPr>
          <a:xfrm>
            <a:off x="436168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Llenar correctamente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 OJT y bitácoras</a:t>
            </a:r>
          </a:p>
        </p:txBody>
      </p:sp>
      <p:sp>
        <p:nvSpPr>
          <p:cNvPr id="8" name="Oval 7"/>
          <p:cNvSpPr/>
          <p:nvPr/>
        </p:nvSpPr>
        <p:spPr>
          <a:xfrm>
            <a:off x="7882127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Controlar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desempeño y los resultados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Formar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instructores principales e instructores OJT</a:t>
            </a:r>
          </a:p>
        </p:txBody>
      </p:sp>
      <p:sp>
        <p:nvSpPr>
          <p:cNvPr id="12" name="Oval 11"/>
          <p:cNvSpPr/>
          <p:nvPr/>
        </p:nvSpPr>
        <p:spPr>
          <a:xfrm>
            <a:off x="436168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Mejorar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continuamente el programa</a:t>
            </a:r>
          </a:p>
        </p:txBody>
      </p:sp>
      <p:sp>
        <p:nvSpPr>
          <p:cNvPr id="14" name="Oval 13"/>
          <p:cNvSpPr/>
          <p:nvPr/>
        </p:nvSpPr>
        <p:spPr>
          <a:xfrm>
            <a:off x="7882127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302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 Y OBJETIVOS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 quién aplica el Programa OJT?</a:t>
            </a:r>
          </a:p>
        </p:txBody>
      </p:sp>
      <p:pic>
        <p:nvPicPr>
          <p:cNvPr id="3" name="Picture 2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6666"/>
            <a:ext cx="2988418" cy="2786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858000" cy="387798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especialidades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coordinadores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principales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personal IVA y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Dirección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CIAAC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</a:pPr>
            <a:endParaRPr lang="es-MX" sz="25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1200"/>
              </a:spcAft>
              <a:buClr>
                <a:srgbClr val="B98A2E"/>
              </a:buClr>
            </a:pPr>
            <a:r>
              <a:rPr lang="es-MX" sz="2500" dirty="0">
                <a:solidFill>
                  <a:srgbClr val="182430"/>
                </a:solidFill>
                <a:latin typeface="Montserrat Medium"/>
              </a:rPr>
              <a:t>Su aplicación comprenderá la gestión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digital o mixta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los documentos del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Tarea genérica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Unidad de trabajo con las subtareas necesarias para tus funciones.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Subtarea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 una tarea. Completarlas permite acreditar la tarea.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 por especialidad donde se registra cada nivel.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del formato: describe las subtareas de cada tarea.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apartado de Definiciones.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68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resultado y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Competencia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Capacidad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demostrada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realizar una tarea conforme a procedimientos y criterios.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Acreditación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satisfactorio documentado de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una tarea y un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Reconocimiento de entrenamiento previo, por tarea y nivel, con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fechas reales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Apartado de la plataforma de la AFAC para formatos, bitácoras y evidencias.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La acreditación OJT no autoriza por sí sola a ejercer funciones ni designa instructor.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418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Abreviaturas: figuras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del Programa de Entrenamiento en el Puesto de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del Seguimiento Operacional de Programas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 Análisis Técnico del Entrenamiento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Coordinador OJT (ICOJT-S: suplente)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Principal 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 (adscrito al CIAAC)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de Formación Técnica Aeronáutica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Verificador Aeronáutico Aprendiz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Aprendiz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24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9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058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525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992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459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926"/>
                            </p:stCondLst>
                            <p:childTnLst>
                              <p:par>
                                <p:cTn id="9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393"/>
                            </p:stCondLst>
                            <p:childTnLst>
                              <p:par>
                                <p:cTn id="10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MEPT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Descripción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Uso, control de revisiones y responsables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5196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Introducción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Cap. 2</a:t>
            </a:r>
          </a:p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Objetivos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3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Estructura del sistema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4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Requisitos para el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5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 de ejecución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6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 y mejora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OJT y bitácoras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2</a:t>
            </a:r>
          </a:p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 de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usuario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Módulo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Recuadros dorados: capítulos que estudias en este curso.</a:t>
            </a: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4EB2E0AC-E1A8-3EF6-98E8-2FEB6E2AE6AC}"/>
              </a:ext>
            </a:extLst>
          </p:cNvPr>
          <p:cNvSpPr/>
          <p:nvPr/>
        </p:nvSpPr>
        <p:spPr>
          <a:xfrm>
            <a:off x="10283305" y="15944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18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Anexo 1: formatos y bitácoras</a:t>
            </a:r>
          </a:p>
        </p:txBody>
      </p:sp>
      <p:pic>
        <p:nvPicPr>
          <p:cNvPr id="3" name="Picture 2" descr="s08_fd9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959678"/>
            <a:ext cx="2905406" cy="29054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94944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general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 de entrenamiento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de cumplimiento y evaluación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y bitácoras por especialidad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Modelos de oficio de designación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44805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documentos acompañan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OJT. Usa siempre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 de tu especialidad: con la R06, cada registro refleja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una tarea, un nivel y su evidencia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44805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Organigrama AFAC – CIAAC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40236" y="1710643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General de la AFAC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51916" y="2333229"/>
            <a:ext cx="0" cy="290541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40236" y="2623771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51916" y="3246358"/>
            <a:ext cx="0" cy="29054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53560" y="3536899"/>
            <a:ext cx="877824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Programas para la Capacitación de Autoridades Aeronáuticas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 Técnica Aeronáutica Especializada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3775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Pedagógico de Programas Aeronáuticos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5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3231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Calidad del CIAAC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2688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 de Entrenamiento en el Puesto de Trabajo (CPEPT)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12189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La CPEPT conduce el Programa OJT a nombre de la Dirección del CIAAC.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75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14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405"/>
                            </p:stCondLst>
                            <p:childTnLst>
                              <p:par>
                                <p:cTn id="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79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57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24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191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658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155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06240" y="1669137"/>
            <a:ext cx="3657600" cy="498069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2167207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31920" y="2374736"/>
            <a:ext cx="420624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872806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94560" y="3080335"/>
            <a:ext cx="768096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Seguimiento operacional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875519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Análisis técnico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246358"/>
            <a:ext cx="3657600" cy="70559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(adscrito al CIAAC)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0992"/>
            <a:ext cx="10515600" cy="128668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25895"/>
            <a:ext cx="8229600" cy="2905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En cada Dirección o Comandancia (designados por el área):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7238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2044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7842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2648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8446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12189"/>
            <a:ext cx="10515600" cy="41505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Llenado de formatos OJT, bitácoras e integración de evidencias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995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62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929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26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951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426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823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215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12"/>
                            </p:stCondLst>
                            <p:childTnLst>
                              <p:par>
                                <p:cTn id="7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7004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7401"/>
                            </p:stCondLst>
                            <p:childTnLst>
                              <p:par>
                                <p:cTn id="8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7793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29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  <p:bldP spid="21" grpId="0" animBg="1"/>
      <p:bldP spid="2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responsabilidad compartida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Conduce: metodología, estandarización, registro, supervisión y mejora.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Direcciones y Comandancias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Aseguran la ejecución con los IVA de su adscripción.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 evaluación técnica de la tarea.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06590"/>
            <a:ext cx="10241280" cy="78861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Ninguna intervención sustituye a las demás ni transfiere atribuciones.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51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26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Conduce el Programa OJT de la AFAC a través de la CPEPT.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programas OJT con las áreas técnicas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su implementación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 el registro de resultados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 los recursos del programa</a:t>
            </a:r>
          </a:p>
        </p:txBody>
      </p:sp>
      <p:pic>
        <p:nvPicPr>
          <p:cNvPr id="5" name="Picture 4" descr="s27_2dd7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3.4.1.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Director del CIAAC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conduce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programa a través de la CPEPT, pero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tu área: tu Dirección sigue siendo responsable de que realices y evidencies tu OJT.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Dirige las acciones que garantizan el cumplimiento del Programa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implementación en la AFAC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designaciones de instructores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formatos y cambios de 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mejoras al MEPT</a:t>
            </a:r>
          </a:p>
        </p:txBody>
      </p:sp>
      <p:pic>
        <p:nvPicPr>
          <p:cNvPr id="5" name="Picture 4" descr="s28_312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752149"/>
            <a:ext cx="1909267" cy="3106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3.4.2.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1089"/>
              <a:gd name="adj2" fmla="val -7581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es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coordinación central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programa: valida a los instructores, autoriza los formatos y los cambios de tareas, y propone mejoras al MEPT.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JDOP: Seguimiento Operacional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Coordina las acciones que garantizan el cumplimiento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formatos y tareas en el Módulo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 a IPOJT e IOJT en campo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Asesora en el uso de formatos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 el proceso de designación</a:t>
            </a:r>
          </a:p>
        </p:txBody>
      </p:sp>
      <p:pic>
        <p:nvPicPr>
          <p:cNvPr id="5" name="Picture 4" descr="s10_b20e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3.4.3.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JDOP 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seguimiento operativo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revisa lo que se registra en el Módulo OJT y verifica que los instructores apliquen correctamente los formatos.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JDAE: Análisis 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Supervisa que tareas y subtareas se apeguen al MEPT y a los manuales técnicos.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cambios a tareas y subtareas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hallazgos para la mejora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a IPOJT e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Formula el presupuesto del programa</a:t>
            </a:r>
          </a:p>
        </p:txBody>
      </p:sp>
      <p:pic>
        <p:nvPicPr>
          <p:cNvPr id="5" name="Picture 4" descr="s30_4d61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3.4.4.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JDAE cuida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calidad técnica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analiza los cambios de tareas, revisa los hallazgos y evalúa a los instructores para mejorar el entrenamiento.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Coordinador OJT (ICOJT)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Designado por el titular del área; da seguimiento al OJT de su personal.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tareas y subtareas del área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programación por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 hasta 2 veces más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expedientes y reporta</a:t>
            </a:r>
          </a:p>
        </p:txBody>
      </p:sp>
      <p:pic>
        <p:nvPicPr>
          <p:cNvPr id="5" name="Picture 4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553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3.4.5.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1229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es tu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enlace directo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el programa: programa y reprograma tus eventos, revisa tu formato e integra tu expediente.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Principal OJT (IPOJT)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Instructor líder, experto en la implementación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 a los IOJT en enseñanza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Monitorea y asiste su desempeño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Recomienda candidatos a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Funge como IOJT cuando se requiere</a:t>
            </a:r>
          </a:p>
        </p:txBody>
      </p:sp>
      <p:pic>
        <p:nvPicPr>
          <p:cNvPr id="5" name="Picture 4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3.4.6.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IPOJT 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experto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área: forma y acompaña a los instructores OJT para que la enseñanza sea uniforme.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(IOJT)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Persona con mayor experiencia y competencia en la especialidad.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Instruye la tarea en cada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y registra resultado y evidencias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firma técnica expresa lo aprobado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nuevas tareas y subtareas</a:t>
            </a:r>
          </a:p>
        </p:txBody>
      </p:sp>
      <p:pic>
        <p:nvPicPr>
          <p:cNvPr id="5" name="Picture 4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3.4.7.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IOJT 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instruye, evalúa y firma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cada nivel. Su firma técnica indica exactamente qué tareas y niveles aprobaste.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 (IVA 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IVA de cualquier especialidad que recibe el entrenamiento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Completa las tareas programadas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Lleva su formato a cada evento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 sus inasistencias</a:t>
            </a:r>
          </a:p>
        </p:txBody>
      </p:sp>
      <p:pic>
        <p:nvPicPr>
          <p:cNvPr id="5" name="Picture 4" descr="s21_292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3.4.8.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eres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protagonista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OJT: completas tus tareas,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formato y lo llevas a cada evento.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Titulares de área y Comandancias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Supervisan el OJT de su personal y gestionan recursos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 el </a:t>
            </a:r>
            <a:r>
              <a:rPr sz="2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 individual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cada IVA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Proponen y formalizan a los instructores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Autorizan programación, comisiones y acceso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Plazo del OJT: </a:t>
            </a:r>
            <a:r>
              <a:rPr sz="2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mayor a un año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(Carta de Política)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3.4.9 a 3.4.12.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512064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Dirección o Comandancia debe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 que completes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 en el plazo de la Carta de Política; el vencimiento del plazo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entrenamiento.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512064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75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87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14950</TotalTime>
  <Words>2428</Words>
  <Application>Microsoft Office PowerPoint</Application>
  <PresentationFormat>Panorámica</PresentationFormat>
  <Paragraphs>348</Paragraphs>
  <Slides>31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9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1 Marco general del Programa OJT Programa de Entrenamiento en el Puesto de Trabajo</vt:lpstr>
      <vt:lpstr>ACTIVIDAD DE INICIO Para iniciar, reflexiona</vt:lpstr>
      <vt:lpstr>1.1 ANTECEDENTES Y OBJETIVOS DEL PROGRAMA OJT ¿Por qué surge el Programa OJT?</vt:lpstr>
      <vt:lpstr>1.1 ANTECEDENTES Y OBJETIVOS DEL PROGRAMA OJT ¿Qué es el OJT?</vt:lpstr>
      <vt:lpstr>1.1 ANTECEDENTES Y OBJETIVOS DEL PROGRAMA OJT ¿Dónde se ubica el OJT en tu formación?</vt:lpstr>
      <vt:lpstr>1.1 ANTECEDENTES Y OBJETIVOS DEL PROGRAMA OJT Documento 9734 de la OACI</vt:lpstr>
      <vt:lpstr>1.1 ANTECEDENTES Y OBJETIVOS DEL PROGRAMA OJT Los 8 elementos críticos de la OACI</vt:lpstr>
      <vt:lpstr>1.1 ANTECEDENTES Y OBJETIVOS DEL PROGRAMA OJT CE-4: personal técnico cualificado y el OJT</vt:lpstr>
      <vt:lpstr>1.1 ANTECEDENTES Y OBJETIVOS DEL PROGRAMA OJT Marco documental del Programa OJT</vt:lpstr>
      <vt:lpstr>1.1 ANTECEDENTES Y OBJETIVOS DEL PROGRAMA OJT ¿Dónde consultar la Carta de Política?</vt:lpstr>
      <vt:lpstr>1.1 ANTECEDENTES Y OBJETIVOS DEL PROGRAMA OJT Objetivo general del Programa OJT</vt:lpstr>
      <vt:lpstr>1.1 ANTECEDENTES Y OBJETIVOS DEL PROGRAMA OJT Objetivos específicos del Programa OJT</vt:lpstr>
      <vt:lpstr>1.1 ANTECEDENTES Y OBJETIVOS DEL PROGRAMA OJT ¿A quién aplica el Programa OJT?</vt:lpstr>
      <vt:lpstr>1.2 DEFINICIONES Y ABREVIATURAS DEL MANUAL Definiciones: los documentos del OJT</vt:lpstr>
      <vt:lpstr>1.2 DEFINICIONES Y ABREVIATURAS DEL MANUAL Definiciones: resultado y registro</vt:lpstr>
      <vt:lpstr>1.2 DEFINICIONES Y ABREVIATURAS DEL MANUAL Abreviaturas: figuras del Programa OJT</vt:lpstr>
      <vt:lpstr>1.3 ESTRUCTURA DEL MEPT: CAPÍTULOS Y ANEXOS Estructura del MEPT</vt:lpstr>
      <vt:lpstr>1.3 ESTRUCTURA DEL MEPT: CAPÍTULOS Y ANEXOS Anexo 1: formatos y bitácoras</vt:lpstr>
      <vt:lpstr>1.4 ORGANIGRAMA AFAC/CIAAC Y ESTRUCTURA OJT Organigrama AFAC – CIAAC</vt:lpstr>
      <vt:lpstr>1.4 ORGANIGRAMA AFAC/CIAAC Y ESTRUCTURA OJT Estructura del Programa OJT</vt:lpstr>
      <vt:lpstr>1.5 FUNCIONES: DIRECTOR DEL CIAAC, CPEPT, JDOP Y JDAE Una responsabilidad compartida</vt:lpstr>
      <vt:lpstr>1.5 FUNCIONES: DIRECTOR DEL CIAAC, CPEPT, JDOP Y JDAE Director del CIAAC</vt:lpstr>
      <vt:lpstr>1.5 FUNCIONES: DIRECTOR DEL CIAAC, CPEPT, JDOP Y JDAE Coordinador del Programa OJT (CPEPT)</vt:lpstr>
      <vt:lpstr>1.5 FUNCIONES: DIRECTOR DEL CIAAC, CPEPT, JDOP Y JDAE JDOP: Seguimiento Operacional</vt:lpstr>
      <vt:lpstr>1.5 FUNCIONES: DIRECTOR DEL CIAAC, CPEPT, JDOP Y JDAE JDAE: Análisis Técnico</vt:lpstr>
      <vt:lpstr>1.6 FUNCIONES: ICOJT, IPOJT, IOJT E IVA APRENDIZ Instructor Coordinador OJT (ICOJT)</vt:lpstr>
      <vt:lpstr>1.6 FUNCIONES: ICOJT, IPOJT, IOJT E IVA APRENDIZ Instructor Principal OJT (IPOJT)</vt:lpstr>
      <vt:lpstr>1.6 FUNCIONES: ICOJT, IPOJT, IOJT E IVA APRENDIZ Instructor OJT (IOJT)</vt:lpstr>
      <vt:lpstr>1.6 FUNCIONES: ICOJT, IPOJT, IOJT E IVA APRENDIZ IVA Aprendiz (IVA AP)</vt:lpstr>
      <vt:lpstr>1.6 FUNCIONES: ICOJT, IPOJT, IOJT E IVA APRENDIZ Titulares de área y Comandancias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219</cp:revision>
  <dcterms:created xsi:type="dcterms:W3CDTF">2025-01-15T19:01:35Z</dcterms:created>
  <dcterms:modified xsi:type="dcterms:W3CDTF">2026-09-24T03:56:02Z</dcterms:modified>
</cp:coreProperties>
</file>