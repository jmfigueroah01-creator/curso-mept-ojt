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63" r:id="rId2"/>
    <p:sldId id="266" r:id="rId3"/>
    <p:sldId id="267" r:id="rId4"/>
    <p:sldId id="268" r:id="rId5"/>
    <p:sldId id="269" r:id="rId6"/>
    <p:sldId id="301" r:id="rId7"/>
    <p:sldId id="299" r:id="rId8"/>
    <p:sldId id="300" r:id="rId9"/>
    <p:sldId id="270" r:id="rId10"/>
    <p:sldId id="271" r:id="rId11"/>
    <p:sldId id="272" r:id="rId12"/>
    <p:sldId id="273" r:id="rId13"/>
    <p:sldId id="274" r:id="rId14"/>
    <p:sldId id="275" r:id="rId15"/>
    <p:sldId id="276" r:id="rId16"/>
    <p:sldId id="277" r:id="rId17"/>
    <p:sldId id="278" r:id="rId18"/>
    <p:sldId id="279" r:id="rId19"/>
    <p:sldId id="280" r:id="rId20"/>
    <p:sldId id="281" r:id="rId21"/>
    <p:sldId id="282" r:id="rId22"/>
    <p:sldId id="283" r:id="rId23"/>
    <p:sldId id="284" r:id="rId24"/>
    <p:sldId id="285" r:id="rId25"/>
    <p:sldId id="286" r:id="rId26"/>
    <p:sldId id="287" r:id="rId27"/>
    <p:sldId id="288" r:id="rId28"/>
    <p:sldId id="289" r:id="rId29"/>
    <p:sldId id="290" r:id="rId30"/>
    <p:sldId id="291" r:id="rId31"/>
    <p:sldId id="298" r:id="rId32"/>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CDAC"/>
    <a:srgbClr val="BC9C16"/>
    <a:srgbClr val="156082"/>
    <a:srgbClr val="0B3041"/>
    <a:srgbClr val="CCCCFF"/>
    <a:srgbClr val="7B95AF"/>
    <a:srgbClr val="003764"/>
    <a:srgbClr val="4E95D9"/>
    <a:srgbClr val="AEAEAE"/>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30" autoAdjust="0"/>
    <p:restoredTop sz="94038" autoAdjust="0"/>
  </p:normalViewPr>
  <p:slideViewPr>
    <p:cSldViewPr snapToGrid="0">
      <p:cViewPr varScale="1">
        <p:scale>
          <a:sx n="104" d="100"/>
          <a:sy n="104" d="100"/>
        </p:scale>
        <p:origin x="72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e Manuel Figueroa Hernandez" userId="c23fd2b0-07fd-455e-80a2-756e0be2378e" providerId="ADAL" clId="{19EAFD33-AF50-43D6-BF52-FC06C69CD06D}"/>
    <pc:docChg chg="undo redo custSel delSld modSld">
      <pc:chgData name="Jose Manuel Figueroa Hernandez" userId="c23fd2b0-07fd-455e-80a2-756e0be2378e" providerId="ADAL" clId="{19EAFD33-AF50-43D6-BF52-FC06C69CD06D}" dt="2026-09-23T19:33:56.312" v="82" actId="47"/>
      <pc:docMkLst>
        <pc:docMk/>
      </pc:docMkLst>
      <pc:sldChg chg="del">
        <pc:chgData name="Jose Manuel Figueroa Hernandez" userId="c23fd2b0-07fd-455e-80a2-756e0be2378e" providerId="ADAL" clId="{19EAFD33-AF50-43D6-BF52-FC06C69CD06D}" dt="2026-09-23T19:17:48.907" v="1" actId="47"/>
        <pc:sldMkLst>
          <pc:docMk/>
          <pc:sldMk cId="0" sldId="256"/>
        </pc:sldMkLst>
      </pc:sldChg>
      <pc:sldChg chg="del">
        <pc:chgData name="Jose Manuel Figueroa Hernandez" userId="c23fd2b0-07fd-455e-80a2-756e0be2378e" providerId="ADAL" clId="{19EAFD33-AF50-43D6-BF52-FC06C69CD06D}" dt="2026-09-23T19:17:44.248" v="0" actId="47"/>
        <pc:sldMkLst>
          <pc:docMk/>
          <pc:sldMk cId="0" sldId="257"/>
        </pc:sldMkLst>
      </pc:sldChg>
      <pc:sldChg chg="del">
        <pc:chgData name="Jose Manuel Figueroa Hernandez" userId="c23fd2b0-07fd-455e-80a2-756e0be2378e" providerId="ADAL" clId="{19EAFD33-AF50-43D6-BF52-FC06C69CD06D}" dt="2026-09-23T19:17:44.248" v="0" actId="47"/>
        <pc:sldMkLst>
          <pc:docMk/>
          <pc:sldMk cId="0" sldId="258"/>
        </pc:sldMkLst>
      </pc:sldChg>
      <pc:sldChg chg="del">
        <pc:chgData name="Jose Manuel Figueroa Hernandez" userId="c23fd2b0-07fd-455e-80a2-756e0be2378e" providerId="ADAL" clId="{19EAFD33-AF50-43D6-BF52-FC06C69CD06D}" dt="2026-09-23T19:17:44.248" v="0" actId="47"/>
        <pc:sldMkLst>
          <pc:docMk/>
          <pc:sldMk cId="0" sldId="259"/>
        </pc:sldMkLst>
      </pc:sldChg>
      <pc:sldChg chg="del">
        <pc:chgData name="Jose Manuel Figueroa Hernandez" userId="c23fd2b0-07fd-455e-80a2-756e0be2378e" providerId="ADAL" clId="{19EAFD33-AF50-43D6-BF52-FC06C69CD06D}" dt="2026-09-23T19:17:44.248" v="0" actId="47"/>
        <pc:sldMkLst>
          <pc:docMk/>
          <pc:sldMk cId="0" sldId="260"/>
        </pc:sldMkLst>
      </pc:sldChg>
      <pc:sldChg chg="del">
        <pc:chgData name="Jose Manuel Figueroa Hernandez" userId="c23fd2b0-07fd-455e-80a2-756e0be2378e" providerId="ADAL" clId="{19EAFD33-AF50-43D6-BF52-FC06C69CD06D}" dt="2026-09-23T19:17:44.248" v="0" actId="47"/>
        <pc:sldMkLst>
          <pc:docMk/>
          <pc:sldMk cId="0" sldId="261"/>
        </pc:sldMkLst>
      </pc:sldChg>
      <pc:sldChg chg="del">
        <pc:chgData name="Jose Manuel Figueroa Hernandez" userId="c23fd2b0-07fd-455e-80a2-756e0be2378e" providerId="ADAL" clId="{19EAFD33-AF50-43D6-BF52-FC06C69CD06D}" dt="2026-09-23T19:17:44.248" v="0" actId="47"/>
        <pc:sldMkLst>
          <pc:docMk/>
          <pc:sldMk cId="0" sldId="262"/>
        </pc:sldMkLst>
      </pc:sldChg>
      <pc:sldChg chg="modSp mod">
        <pc:chgData name="Jose Manuel Figueroa Hernandez" userId="c23fd2b0-07fd-455e-80a2-756e0be2378e" providerId="ADAL" clId="{19EAFD33-AF50-43D6-BF52-FC06C69CD06D}" dt="2026-09-23T19:18:19.306" v="4" actId="1076"/>
        <pc:sldMkLst>
          <pc:docMk/>
          <pc:sldMk cId="0" sldId="263"/>
        </pc:sldMkLst>
        <pc:spChg chg="mod">
          <ac:chgData name="Jose Manuel Figueroa Hernandez" userId="c23fd2b0-07fd-455e-80a2-756e0be2378e" providerId="ADAL" clId="{19EAFD33-AF50-43D6-BF52-FC06C69CD06D}" dt="2026-09-23T19:18:19.306" v="4" actId="1076"/>
          <ac:spMkLst>
            <pc:docMk/>
            <pc:sldMk cId="0" sldId="263"/>
            <ac:spMk id="2" creationId="{00000000-0000-0000-0000-000000000000}"/>
          </ac:spMkLst>
        </pc:spChg>
      </pc:sldChg>
      <pc:sldChg chg="del">
        <pc:chgData name="Jose Manuel Figueroa Hernandez" userId="c23fd2b0-07fd-455e-80a2-756e0be2378e" providerId="ADAL" clId="{19EAFD33-AF50-43D6-BF52-FC06C69CD06D}" dt="2026-09-23T19:19:08.704" v="5" actId="47"/>
        <pc:sldMkLst>
          <pc:docMk/>
          <pc:sldMk cId="0" sldId="264"/>
        </pc:sldMkLst>
      </pc:sldChg>
      <pc:sldChg chg="del">
        <pc:chgData name="Jose Manuel Figueroa Hernandez" userId="c23fd2b0-07fd-455e-80a2-756e0be2378e" providerId="ADAL" clId="{19EAFD33-AF50-43D6-BF52-FC06C69CD06D}" dt="2026-09-23T19:19:17.723" v="6" actId="47"/>
        <pc:sldMkLst>
          <pc:docMk/>
          <pc:sldMk cId="0" sldId="265"/>
        </pc:sldMkLst>
      </pc:sldChg>
      <pc:sldChg chg="modSp mod">
        <pc:chgData name="Jose Manuel Figueroa Hernandez" userId="c23fd2b0-07fd-455e-80a2-756e0be2378e" providerId="ADAL" clId="{19EAFD33-AF50-43D6-BF52-FC06C69CD06D}" dt="2026-09-23T19:20:24.478" v="9" actId="207"/>
        <pc:sldMkLst>
          <pc:docMk/>
          <pc:sldMk cId="0" sldId="266"/>
        </pc:sldMkLst>
        <pc:spChg chg="mod">
          <ac:chgData name="Jose Manuel Figueroa Hernandez" userId="c23fd2b0-07fd-455e-80a2-756e0be2378e" providerId="ADAL" clId="{19EAFD33-AF50-43D6-BF52-FC06C69CD06D}" dt="2026-09-23T19:20:24.478" v="9" actId="207"/>
          <ac:spMkLst>
            <pc:docMk/>
            <pc:sldMk cId="0" sldId="266"/>
            <ac:spMk id="4" creationId="{00000000-0000-0000-0000-000000000000}"/>
          </ac:spMkLst>
        </pc:spChg>
      </pc:sldChg>
      <pc:sldChg chg="modSp mod">
        <pc:chgData name="Jose Manuel Figueroa Hernandez" userId="c23fd2b0-07fd-455e-80a2-756e0be2378e" providerId="ADAL" clId="{19EAFD33-AF50-43D6-BF52-FC06C69CD06D}" dt="2026-09-23T19:30:59.577" v="73" actId="13926"/>
        <pc:sldMkLst>
          <pc:docMk/>
          <pc:sldMk cId="0" sldId="268"/>
        </pc:sldMkLst>
        <pc:spChg chg="mod">
          <ac:chgData name="Jose Manuel Figueroa Hernandez" userId="c23fd2b0-07fd-455e-80a2-756e0be2378e" providerId="ADAL" clId="{19EAFD33-AF50-43D6-BF52-FC06C69CD06D}" dt="2026-09-23T19:30:59.577" v="73" actId="13926"/>
          <ac:spMkLst>
            <pc:docMk/>
            <pc:sldMk cId="0" sldId="268"/>
            <ac:spMk id="3" creationId="{00000000-0000-0000-0000-000000000000}"/>
          </ac:spMkLst>
        </pc:spChg>
      </pc:sldChg>
      <pc:sldChg chg="modSp mod">
        <pc:chgData name="Jose Manuel Figueroa Hernandez" userId="c23fd2b0-07fd-455e-80a2-756e0be2378e" providerId="ADAL" clId="{19EAFD33-AF50-43D6-BF52-FC06C69CD06D}" dt="2026-09-23T19:31:21.282" v="79" actId="207"/>
        <pc:sldMkLst>
          <pc:docMk/>
          <pc:sldMk cId="0" sldId="269"/>
        </pc:sldMkLst>
        <pc:spChg chg="mod">
          <ac:chgData name="Jose Manuel Figueroa Hernandez" userId="c23fd2b0-07fd-455e-80a2-756e0be2378e" providerId="ADAL" clId="{19EAFD33-AF50-43D6-BF52-FC06C69CD06D}" dt="2026-09-23T19:31:21.282" v="79" actId="207"/>
          <ac:spMkLst>
            <pc:docMk/>
            <pc:sldMk cId="0" sldId="269"/>
            <ac:spMk id="14" creationId="{00000000-0000-0000-0000-000000000000}"/>
          </ac:spMkLst>
        </pc:spChg>
      </pc:sldChg>
      <pc:sldChg chg="addSp delSp modSp mod">
        <pc:chgData name="Jose Manuel Figueroa Hernandez" userId="c23fd2b0-07fd-455e-80a2-756e0be2378e" providerId="ADAL" clId="{19EAFD33-AF50-43D6-BF52-FC06C69CD06D}" dt="2026-09-23T19:31:05.449" v="75" actId="1076"/>
        <pc:sldMkLst>
          <pc:docMk/>
          <pc:sldMk cId="0" sldId="270"/>
        </pc:sldMkLst>
        <pc:spChg chg="mod">
          <ac:chgData name="Jose Manuel Figueroa Hernandez" userId="c23fd2b0-07fd-455e-80a2-756e0be2378e" providerId="ADAL" clId="{19EAFD33-AF50-43D6-BF52-FC06C69CD06D}" dt="2026-09-23T19:27:27.408" v="32" actId="1076"/>
          <ac:spMkLst>
            <pc:docMk/>
            <pc:sldMk cId="0" sldId="270"/>
            <ac:spMk id="4" creationId="{00000000-0000-0000-0000-000000000000}"/>
          </ac:spMkLst>
        </pc:spChg>
        <pc:picChg chg="del">
          <ac:chgData name="Jose Manuel Figueroa Hernandez" userId="c23fd2b0-07fd-455e-80a2-756e0be2378e" providerId="ADAL" clId="{19EAFD33-AF50-43D6-BF52-FC06C69CD06D}" dt="2026-09-23T19:24:25.640" v="20" actId="478"/>
          <ac:picMkLst>
            <pc:docMk/>
            <pc:sldMk cId="0" sldId="270"/>
            <ac:picMk id="3" creationId="{00000000-0000-0000-0000-000000000000}"/>
          </ac:picMkLst>
        </pc:picChg>
        <pc:picChg chg="add mod">
          <ac:chgData name="Jose Manuel Figueroa Hernandez" userId="c23fd2b0-07fd-455e-80a2-756e0be2378e" providerId="ADAL" clId="{19EAFD33-AF50-43D6-BF52-FC06C69CD06D}" dt="2026-09-23T19:31:05.449" v="75" actId="1076"/>
          <ac:picMkLst>
            <pc:docMk/>
            <pc:sldMk cId="0" sldId="270"/>
            <ac:picMk id="6" creationId="{739894BC-31E1-A146-FA8E-977AC571FB7F}"/>
          </ac:picMkLst>
        </pc:picChg>
      </pc:sldChg>
      <pc:sldChg chg="del">
        <pc:chgData name="Jose Manuel Figueroa Hernandez" userId="c23fd2b0-07fd-455e-80a2-756e0be2378e" providerId="ADAL" clId="{19EAFD33-AF50-43D6-BF52-FC06C69CD06D}" dt="2026-09-23T19:33:56.312" v="82" actId="47"/>
        <pc:sldMkLst>
          <pc:docMk/>
          <pc:sldMk cId="0" sldId="295"/>
        </pc:sldMkLst>
      </pc:sldChg>
      <pc:sldChg chg="del">
        <pc:chgData name="Jose Manuel Figueroa Hernandez" userId="c23fd2b0-07fd-455e-80a2-756e0be2378e" providerId="ADAL" clId="{19EAFD33-AF50-43D6-BF52-FC06C69CD06D}" dt="2026-09-23T19:33:52.826" v="81" actId="47"/>
        <pc:sldMkLst>
          <pc:docMk/>
          <pc:sldMk cId="0" sldId="296"/>
        </pc:sldMkLst>
      </pc:sldChg>
      <pc:sldChg chg="del">
        <pc:chgData name="Jose Manuel Figueroa Hernandez" userId="c23fd2b0-07fd-455e-80a2-756e0be2378e" providerId="ADAL" clId="{19EAFD33-AF50-43D6-BF52-FC06C69CD06D}" dt="2026-09-23T19:33:45.372" v="80" actId="47"/>
        <pc:sldMkLst>
          <pc:docMk/>
          <pc:sldMk cId="0" sldId="29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313DD9-E4B5-4997-8BD0-CCD1D82A46CA}" type="datetimeFigureOut">
              <a:rPr lang="es-MX" smtClean="0"/>
              <a:t>23/09/2026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F0ECBA-0A42-439B-8BB1-7C8EF8AA3563}" type="slidenum">
              <a:rPr lang="es-MX" smtClean="0"/>
              <a:t>‹Nº›</a:t>
            </a:fld>
            <a:endParaRPr lang="es-MX"/>
          </a:p>
        </p:txBody>
      </p:sp>
    </p:spTree>
    <p:extLst>
      <p:ext uri="{BB962C8B-B14F-4D97-AF65-F5344CB8AC3E}">
        <p14:creationId xmlns:p14="http://schemas.microsoft.com/office/powerpoint/2010/main" val="74049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Inducción: activa la experiencia previa del participante. El Programa OJT surge precisamente para que ese aprendizaje en campo deje de depender de la experiencia individual y quede planificado, supervisado y documentado.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1.1: la autoridad aeronáutica desarrollaba sus tareas conforme a la experiencia acumulada y la enseñanza quedaba a discreción de cada individuo, lo que generaba diferencias entre autoridades. La AFAC estableció un sistema de acompañamiento integrado: el IVA aplica sus conocimientos supervisado por un compañero con mayor experiencia, que corrige desviaciones conforme a los manuales técnicos de cada especialidad.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Definición del MEPT R06: "Proceso práctico, planificado, estructurado, supervisado y documentado por el cual el aprendiz desarrolla, aplica y demuestra competencia en las tareas de sus funciones, con un instructor designado. Comprende niveles progresivos, eventos diferenciados, evaluación y evidencia conforme a los numerales 2.1 y 4.2."</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Carta de Política clasifica la capacitación del IVA en: curso de inducción a la SICT/AFAC; curso básico o inicial (nuevo ingreso, reingreso o cambio de especialidad); curso recurrente (cada 3 años a partir del básico, según la especialidad); curso específico o especializado; curso transversal (opcional); y entrenamiento en el puesto de trabajo (OJT). MEPT 5.2: todo IVA que haya completado satisfactoriamente el curso básico de su especialidad es susceptible de integrarse al OJT.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Doc 9734 de la OACI, Parte A "Establecimiento y gestión de un sistema estatal de vigilancia de la seguridad operacional", se relaciona con las responsabilidades, funciones y obligaciones de los Estados miembros de la OACI respecto a la vigilancia de la seguridad operacional de la aviación, en cumplimiento de sus obligaciones como signatarios del Convenio sobre Aviación Civil Internacional (Convenio de Chicago), mediante la implantación de los ocho elementos críticos de dicho sistema. El MEPT lo cita como referencia principal para el personal técnico cualificado (CE-4).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ocho elementos críticos (CE) de un sistema estatal de vigilancia de la seguridad operacional (OACI, Doc 9734 Parte A y Anexo 19, Apéndice 1): CE-1 Legislación aeronáutica básica; CE-2 Reglamentos de explotación específicos; CE-3 Sistema y funciones estatales; CE-4 Personal técnico cualificado; CE-5 Orientación técnica, instrumentos y suministro de información crítica en materia de seguridad operacional; CE-6 Obligaciones de otorgamiento de licencias, certificación, autorización y aprobación; CE-7 Obligaciones de vigilancia; CE-8 Solución de problemas de seguridad operacional. Los CE-1 a CE-5 establecen el sistema y los CE-6 a CE-8 corresponden a su implementación. El Programa OJT del IVA atiende directamente el CE-4.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MEPT R06 (Documentos de referencia y numeral 4.2.4) toma como base el Doc 9734 de la OACI, Parte A, capítulo 3, apartado 3.4 "Personal técnico cualificado (CE-4)", especialmente los numerales 3.4.2.5, 3.4.2.7 y 3.4.2.10, así como el apartado 3.5. Bajo el CE-4 el Estado establece requisitos mínimos de cualificación para su personal técnico, proporciona instrucción inicial, periódica, especializada y en el puesto de trabajo (OJT) para mantener y mejorar su competencia, y mantiene un sistema de registros de instrucción. Estos elementos se revisan en las auditorías del Programa universal de auditoría de la vigilancia de la seguridad operacional (USOAP) de la OACI.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MEPT se correlaciona con manuales complementarios (MEPT 1.1): Manual del Sistema Integrado de Gestión (MSIG), Manual de Procesos y Procedimientos del CIAAC (MPPC), Manual de Aseguramiento de la Calidad (MAC) y Manual General de Capacitación del CIAAC (MGCC). La Carta de Política vigente define las especialidades y los plazos del programa. Referencias OACI del MEPT: Doc 9734 Parte A (CE-4 Personal técnico cualificado) y Anexo 19. Verifica en el portal de la AFAC que la revisión de la Carta de Política siga vigente.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Ruta descrita en la presentación base. Si el portal cambia de estructura, actualiza los pasos. Actividad autogestiva: el participante localiza el documento y confirma su revisión vigente.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2.3 Objetivo general del OJT: "Capacitar de forma práctica en el puesto de trabajo, a todo el personal Inspector Verificador Aeronáutico (IVA) de la AFAC (Direcciones Ejecutivas, Direcciones de Área, Comandancias del AICM y AIFA, así como en las Direcciones de Comandancias Regionales), cumpliendo con los estándares requeridos a nivel nacional e internacional en temas aeronáuticos, mejorando el desempeño en su entorno laboral de forma práctica y acompañada, realizando diversas tareas específicas de vigilancia e inspección."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2.4: 1) Establecer formatos estandarizados por especialidad, homologando tareas y subtareas. 2) Asegurar que el IVA aprendiz conozca, desarrolle y demuestre las tareas conforme al plan individual y a los criterios de desempeño. 3) Asegurar que el Instructor OJT y el IVA aprendiz llenen correctamente el formato OJT y las bitácoras. 4) Organizar un sistema de control del desempeño y resultados. 5) Formar instructores principales e instructores OJT. 6) Aplicar un sistema de mejora continua al programa.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2.5 Aplicabilidad: aplica a todas las especialidades de IVA, Instructores Principales, Instructores Coordinadores OJT e Instructores adscritos a la AFAC; a las Direcciones Ejecutivas, Direcciones de Área, Comandancias Regionales, de Aeropuerto y Centrales del AICM y AIFA con personal sujeto al programa, así como a la Dirección del CIAAC. Comprende gestión física, digital y mixta (numerales 4.11 y 5.7).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Relación entre documentos: el Formato general OJT (por especialidad) contiene las tareas genéricas; la Bitácora, que forma parte integral del formato, describe las subtareas de cada tarea. Las tareas se apegan a los procedimientos de los manuales técnicos de la especialidad.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Acreditación OJT: reconocimiento documentado de un resultado satisfactorio para una tarea y un nivel específicos, sustentado en su evaluación y evidencias. No equivale por sí solo a autorización institucional para ejercer funciones ni a designación como instructor. Convalidación: conforme a los numerales 4.4 y 4.5; conserva las fechas reales de los eventos y no sustituye actividades no demostradas.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Otras abreviaturas del MEPT: AFAC, CIAAC, SICT, OACI, FAA, AICM, AIFA, MSIG, MPPC, MAC, MGCC, MEPT, SRH, EPT (Entrenamiento en el Puesto de Trabajo = OJT). Corrección respecto de la presentación base: el MEPT usa IIFTA (no "INFTA") y JDAE corresponde al Jefe de División de Análisis Técnico del Entrenamiento OJT.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2.2: el manual se divide en seis capítulos y anexos. Nota de verificación: el texto del numeral 2.2 dice "seis capítulos y un anexo", pero describe dos anexos (Anexo 1 Formatos OJT y bitácoras; Anexo 2 Manual de usuario de la plataforma, apartado del Módulo OJT). Se recomienda homologar la redacción en la carta descriptiva ("capítulos y anexos").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2.2, Anexo 1 (revisión vigente): formato general OJT; formato general de bitácora de entrenamiento; formato de cumplimiento y evaluación; formatos y bitácoras de las especialidades de la Carta de Política vigente; y modelos de oficio de designación del Instructor Coordinador, Instructor Principal, Instructor OJT y de aceptación de designación.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3.1 y 3.2: organigrama relacionado AFAC – CIAAC y organigrama principal del CIAAC con sus cinco coordinaciones.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3.3: la estructura relaciona la conducción institucional del CIAAC con las Direcciones y Comandancias responsables de la ejecución. Las líneas de coordinación NO modifican la adscripción orgánica ni la cadena de mando. El Instructor Coordinador, el Instructor Principal y el Instructor OJT son designados por el área; el Inspector Instructor OJT está adscrito al CIAAC.</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 la implementación del Programa OJT es una responsabilidad institucional compartida y delimitada.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3.4.1: determina con las áreas técnicas planes y programas por especialidad; asegura criterios metodológicos e instrumentos; tramita modificaciones al MEPT; autoriza la implementación de los planes OJT (distinta de la autorización operativa de cada área); asegura el registro institucional y supervisa el Módulo OJT; gestiona recursos humanos, materiales y económicos. La administración del CIAAC no sustituye la responsabilidad de los titulares de área.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3.4.2 funciones a) a p). Destacan: asegurar la implementación eficiente con las áreas; establecer seguimiento y control con formatos y herramientas; integrar y proponer mejoras al MEPT y al Módulo OJT; validar propuestas de designación; validar herramientas electrónicas; planear la capacitación de instructores e IVA; autorizar formatos y cambios de tareas/subtareas; definir perfiles del Módulo OJT (la habilitación informática no es designación).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3.4.3: depende de la CPEPT. Interpreta el MEPT; revisa formatos y el Módulo OJT; establece cambios de tareas y subtareas; revisa el seguimiento del adiestramiento de las figuras OJT; supervisa la participación de IPOJT e IOJT en verificaciones; verifica herramientas electrónicas y el registro continuo de formatos; vigila el proceso de designación.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3.4.4: depende de la CPEPT. Analiza cambios de tareas con base en la opinión técnica de los instructores; revisa el estatus de cumplimiento por IVA en el Módulo OJT; revisa hallazgos; revisa el MEPT; evalúa y analiza el desempeño de IPOJT e IOJT; coordina reuniones para estandarizar tareas; formula recomendaciones y el presupuesto del programa.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3.4.5: define tareas genéricas y subtareas con visto bueno del titular; propone instructores; coordina la convalidación; da seguimiento; vigila que el IVA inicie su OJT lo antes posible; coordina la programación y la reprogramación hasta en dos oportunidades más por causas justificadas; reporta al finalizar cada nivel; conforma y resguarda expedientes; coordina el registro en el Módulo OJT. El ICOJT Suplente (ICOJT-S) apoya y sustituye al ICOJT en sus ausencias.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3.4.6: designado por el Director de Área, Comandantes del AICM y AIFA o Comandante Regional. Además apoya al ICOJT a identificar tareas y a revisar formatos, bitácoras y evidencias, y verifica que los candidatos a IOJT hayan completado los cursos básicos y de técnicas de enseñanza OJT.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3.4.7: evalúa de manera eficiente, integral e imparcial; su instrucción se enfoca a regulaciones y prácticas nacionales e internacionales; evalúa y registra el resultado de cada tarea y nivel conforme a 4.2.4 a 4.2.6; se asegura de que el IVA pueda realizar la tarea sin asistencia antes de la aprobación final.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3.4.8: desempeña las tareas de forma autónoma solo después de su acreditación y de la autorización institucional; participa en la evaluación y en la retroalimentación (incluida la del instructor); puede solicitar validación de experiencia previa documentada; presenta justificante oficial por inasistencia. Tiene hasta dos oportunidades adicionales de reprogramación por impedimentos justificados; reprogramar no acredita competencia.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MEPT 3.4.9 a 3.4.12: Direcciones Ejecutivas, de Área, Comandancias Regionales, de Aeropuerto y Centrales (AICM y AIFA). El vencimiento del plazo no produce acreditación automática. La falta de operaciones para una tarea se documenta y gestiona; no justifica registrarla como cumplida.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sp>
        <p:nvSpPr>
          <p:cNvPr id="2" name="Título 1">
            <a:extLst>
              <a:ext uri="{FF2B5EF4-FFF2-40B4-BE49-F238E27FC236}">
                <a16:creationId xmlns:a16="http://schemas.microsoft.com/office/drawing/2014/main" id="{E783C967-2F54-09E4-AA30-298CA5655112}"/>
              </a:ext>
            </a:extLst>
          </p:cNvPr>
          <p:cNvSpPr>
            <a:spLocks noGrp="1"/>
          </p:cNvSpPr>
          <p:nvPr>
            <p:ph type="ctrTitle"/>
          </p:nvPr>
        </p:nvSpPr>
        <p:spPr>
          <a:xfrm>
            <a:off x="1524000" y="2235200"/>
            <a:ext cx="9144000" cy="2387600"/>
          </a:xfrm>
        </p:spPr>
        <p:txBody>
          <a:bodyPr anchor="ctr"/>
          <a:lstStyle>
            <a:lvl1pPr algn="ctr">
              <a:defRPr sz="6000"/>
            </a:lvl1pPr>
          </a:lstStyle>
          <a:p>
            <a:r>
              <a:rPr lang="es-ES" dirty="0"/>
              <a:t>Haga clic para modificar el estilo de título del patrón</a:t>
            </a:r>
            <a:endParaRPr lang="es-MX" dirty="0"/>
          </a:p>
        </p:txBody>
      </p:sp>
      <p:pic>
        <p:nvPicPr>
          <p:cNvPr id="18" name="Imagen 17">
            <a:extLst>
              <a:ext uri="{FF2B5EF4-FFF2-40B4-BE49-F238E27FC236}">
                <a16:creationId xmlns:a16="http://schemas.microsoft.com/office/drawing/2014/main" id="{BB59DC73-C653-C81C-D52E-0C69633752F9}"/>
              </a:ext>
            </a:extLst>
          </p:cNvPr>
          <p:cNvPicPr>
            <a:picLocks noChangeAspect="1"/>
          </p:cNvPicPr>
          <p:nvPr userDrawn="1"/>
        </p:nvPicPr>
        <p:blipFill>
          <a:blip r:embed="rId3">
            <a:alphaModFix amt="85000"/>
          </a:blip>
          <a:stretch>
            <a:fillRect/>
          </a:stretch>
        </p:blipFill>
        <p:spPr>
          <a:xfrm>
            <a:off x="2210987" y="4899638"/>
            <a:ext cx="7766977" cy="1072989"/>
          </a:xfrm>
          <a:prstGeom prst="rect">
            <a:avLst/>
          </a:prstGeom>
        </p:spPr>
      </p:pic>
      <p:pic>
        <p:nvPicPr>
          <p:cNvPr id="25" name="Imagen 24">
            <a:extLst>
              <a:ext uri="{FF2B5EF4-FFF2-40B4-BE49-F238E27FC236}">
                <a16:creationId xmlns:a16="http://schemas.microsoft.com/office/drawing/2014/main" id="{A8FDDAFA-5E8D-9796-4199-96DDF49E0C4F}"/>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1689787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Diapositiva de título, fin de presentación">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F8A2C392-B539-B6D8-7851-5351BEE0B7B2}"/>
              </a:ext>
            </a:extLst>
          </p:cNvPr>
          <p:cNvPicPr/>
          <p:nvPr userDrawn="1"/>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p:blipFill>
        <p:spPr bwMode="auto">
          <a:xfrm>
            <a:off x="3855720" y="1760220"/>
            <a:ext cx="8336280" cy="5097780"/>
          </a:xfrm>
          <a:prstGeom prst="rect">
            <a:avLst/>
          </a:prstGeom>
        </p:spPr>
      </p:pic>
      <p:cxnSp>
        <p:nvCxnSpPr>
          <p:cNvPr id="6" name="Conector recto 5">
            <a:extLst>
              <a:ext uri="{FF2B5EF4-FFF2-40B4-BE49-F238E27FC236}">
                <a16:creationId xmlns:a16="http://schemas.microsoft.com/office/drawing/2014/main" id="{66826DB8-4520-87EC-C957-39CC5FEDDF23}"/>
              </a:ext>
            </a:extLst>
          </p:cNvPr>
          <p:cNvCxnSpPr>
            <a:cxnSpLocks/>
          </p:cNvCxnSpPr>
          <p:nvPr userDrawn="1"/>
        </p:nvCxnSpPr>
        <p:spPr>
          <a:xfrm>
            <a:off x="2610003" y="3429000"/>
            <a:ext cx="6968946" cy="0"/>
          </a:xfrm>
          <a:prstGeom prst="line">
            <a:avLst/>
          </a:prstGeom>
          <a:ln w="28575">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 name="Título 1">
            <a:extLst>
              <a:ext uri="{FF2B5EF4-FFF2-40B4-BE49-F238E27FC236}">
                <a16:creationId xmlns:a16="http://schemas.microsoft.com/office/drawing/2014/main" id="{14770139-593C-68D8-65A7-D32A6375DD90}"/>
              </a:ext>
            </a:extLst>
          </p:cNvPr>
          <p:cNvSpPr>
            <a:spLocks noGrp="1"/>
          </p:cNvSpPr>
          <p:nvPr>
            <p:ph type="ctrTitle"/>
          </p:nvPr>
        </p:nvSpPr>
        <p:spPr>
          <a:xfrm>
            <a:off x="2429619" y="1992089"/>
            <a:ext cx="7329714" cy="1436911"/>
          </a:xfrm>
        </p:spPr>
        <p:txBody>
          <a:bodyPr anchor="ctr">
            <a:noAutofit/>
          </a:bodyPr>
          <a:lstStyle>
            <a:lvl1pPr algn="ctr">
              <a:defRPr sz="5000"/>
            </a:lvl1pPr>
          </a:lstStyle>
          <a:p>
            <a:endParaRPr lang="es-MX" dirty="0"/>
          </a:p>
        </p:txBody>
      </p:sp>
      <p:pic>
        <p:nvPicPr>
          <p:cNvPr id="3" name="Imagen 2">
            <a:extLst>
              <a:ext uri="{FF2B5EF4-FFF2-40B4-BE49-F238E27FC236}">
                <a16:creationId xmlns:a16="http://schemas.microsoft.com/office/drawing/2014/main" id="{351A90F6-F9C8-C3DC-0206-47FA2B0E52A1}"/>
              </a:ext>
            </a:extLst>
          </p:cNvPr>
          <p:cNvPicPr>
            <a:picLocks noChangeAspect="1"/>
          </p:cNvPicPr>
          <p:nvPr userDrawn="1"/>
        </p:nvPicPr>
        <p:blipFill>
          <a:blip r:embed="rId3">
            <a:alphaModFix amt="85000"/>
          </a:blip>
          <a:stretch>
            <a:fillRect/>
          </a:stretch>
        </p:blipFill>
        <p:spPr>
          <a:xfrm>
            <a:off x="2210987" y="3772615"/>
            <a:ext cx="7766977" cy="1072989"/>
          </a:xfrm>
          <a:prstGeom prst="rect">
            <a:avLst/>
          </a:prstGeom>
        </p:spPr>
      </p:pic>
      <p:pic>
        <p:nvPicPr>
          <p:cNvPr id="4" name="Imagen 3">
            <a:extLst>
              <a:ext uri="{FF2B5EF4-FFF2-40B4-BE49-F238E27FC236}">
                <a16:creationId xmlns:a16="http://schemas.microsoft.com/office/drawing/2014/main" id="{FAADA8D9-AE01-0879-2B0F-D35E84BE75D9}"/>
              </a:ext>
            </a:extLst>
          </p:cNvPr>
          <p:cNvPicPr>
            <a:picLocks noChangeAspect="1"/>
          </p:cNvPicPr>
          <p:nvPr userDrawn="1"/>
        </p:nvPicPr>
        <p:blipFill>
          <a:blip r:embed="rId4"/>
          <a:srcRect l="365" t="2142" b="1"/>
          <a:stretch/>
        </p:blipFill>
        <p:spPr>
          <a:xfrm>
            <a:off x="-1525" y="0"/>
            <a:ext cx="12192000" cy="2031091"/>
          </a:xfrm>
          <a:prstGeom prst="rect">
            <a:avLst/>
          </a:prstGeom>
        </p:spPr>
      </p:pic>
    </p:spTree>
    <p:extLst>
      <p:ext uri="{BB962C8B-B14F-4D97-AF65-F5344CB8AC3E}">
        <p14:creationId xmlns:p14="http://schemas.microsoft.com/office/powerpoint/2010/main" val="2568854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B9625AD5-FD90-7ED4-A463-1E5CB822AAE6}"/>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19332400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CBA6592-4655-ECA7-5E54-6A226619694F}"/>
              </a:ext>
            </a:extLst>
          </p:cNvPr>
          <p:cNvPicPr>
            <a:picLocks noChangeAspect="1"/>
          </p:cNvPicPr>
          <p:nvPr userDrawn="1"/>
        </p:nvPicPr>
        <p:blipFill>
          <a:blip r:embed="rId2"/>
          <a:srcRect l="365" b="4156"/>
          <a:stretch/>
        </p:blipFill>
        <p:spPr>
          <a:xfrm>
            <a:off x="0" y="0"/>
            <a:ext cx="12192000" cy="1416049"/>
          </a:xfrm>
          <a:prstGeom prst="rect">
            <a:avLst/>
          </a:prstGeom>
        </p:spPr>
      </p:pic>
      <p:sp>
        <p:nvSpPr>
          <p:cNvPr id="2" name="Título 1">
            <a:extLst>
              <a:ext uri="{FF2B5EF4-FFF2-40B4-BE49-F238E27FC236}">
                <a16:creationId xmlns:a16="http://schemas.microsoft.com/office/drawing/2014/main" id="{798B7789-9006-E47A-926E-AC183E21524C}"/>
              </a:ext>
            </a:extLst>
          </p:cNvPr>
          <p:cNvSpPr>
            <a:spLocks noGrp="1"/>
          </p:cNvSpPr>
          <p:nvPr>
            <p:ph type="title"/>
          </p:nvPr>
        </p:nvSpPr>
        <p:spPr>
          <a:xfrm>
            <a:off x="3033486" y="0"/>
            <a:ext cx="8955314" cy="1325563"/>
          </a:xfrm>
        </p:spPr>
        <p:txBody>
          <a:bodyPr>
            <a:normAutofit/>
          </a:bodyPr>
          <a:lstStyle>
            <a:lvl1pPr algn="just">
              <a:defRPr sz="4000">
                <a:solidFill>
                  <a:schemeClr val="bg1"/>
                </a:solidFill>
              </a:defRPr>
            </a:lvl1pPr>
          </a:lstStyle>
          <a:p>
            <a:r>
              <a:rPr lang="es-ES" dirty="0"/>
              <a:t>Haga clic para modificar el estilo de título del patrón</a:t>
            </a:r>
            <a:endParaRPr lang="es-MX" dirty="0"/>
          </a:p>
        </p:txBody>
      </p:sp>
      <p:pic>
        <p:nvPicPr>
          <p:cNvPr id="7" name="Imagen 6" descr="Patrón de fondo&#10;&#10;Descripción generada automáticamente">
            <a:extLst>
              <a:ext uri="{FF2B5EF4-FFF2-40B4-BE49-F238E27FC236}">
                <a16:creationId xmlns:a16="http://schemas.microsoft.com/office/drawing/2014/main" id="{A6FA8314-6B07-608F-1066-971AAD270147}"/>
              </a:ext>
            </a:extLst>
          </p:cNvPr>
          <p:cNvPicPr>
            <a:picLocks noChangeAspect="1"/>
          </p:cNvPicPr>
          <p:nvPr userDrawn="1"/>
        </p:nvPicPr>
        <p:blipFill>
          <a:blip r:embed="rId3"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418853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
        <p:nvSpPr>
          <p:cNvPr id="4" name="Rectángulo 3">
            <a:extLst>
              <a:ext uri="{FF2B5EF4-FFF2-40B4-BE49-F238E27FC236}">
                <a16:creationId xmlns:a16="http://schemas.microsoft.com/office/drawing/2014/main" id="{801879A4-A5B6-7D86-61D5-66ACD9BA94ED}"/>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3131143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3_En blanco">
    <p:spTree>
      <p:nvGrpSpPr>
        <p:cNvPr id="1" name=""/>
        <p:cNvGrpSpPr/>
        <p:nvPr/>
      </p:nvGrpSpPr>
      <p:grpSpPr>
        <a:xfrm>
          <a:off x="0" y="0"/>
          <a:ext cx="0" cy="0"/>
          <a:chOff x="0" y="0"/>
          <a:chExt cx="0" cy="0"/>
        </a:xfrm>
      </p:grpSpPr>
      <p:pic>
        <p:nvPicPr>
          <p:cNvPr id="4" name="Imagen 3" descr="Patrón de fondo&#10;&#10;Descripción generada automáticamente">
            <a:extLst>
              <a:ext uri="{FF2B5EF4-FFF2-40B4-BE49-F238E27FC236}">
                <a16:creationId xmlns:a16="http://schemas.microsoft.com/office/drawing/2014/main" id="{634EBF27-8651-00A8-AF4C-4E9644167F6A}"/>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
        <p:nvSpPr>
          <p:cNvPr id="5" name="Rectángulo 4">
            <a:extLst>
              <a:ext uri="{FF2B5EF4-FFF2-40B4-BE49-F238E27FC236}">
                <a16:creationId xmlns:a16="http://schemas.microsoft.com/office/drawing/2014/main" id="{FBE94F59-AD2E-40B1-B026-72BC4AB241A4}"/>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15826098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2_En blanco">
    <p:spTree>
      <p:nvGrpSpPr>
        <p:cNvPr id="1" name=""/>
        <p:cNvGrpSpPr/>
        <p:nvPr/>
      </p:nvGrpSpPr>
      <p:grpSpPr>
        <a:xfrm>
          <a:off x="0" y="0"/>
          <a:ext cx="0" cy="0"/>
          <a:chOff x="0" y="0"/>
          <a:chExt cx="0" cy="0"/>
        </a:xfrm>
      </p:grpSpPr>
      <p:pic>
        <p:nvPicPr>
          <p:cNvPr id="2" name="Imagen 1" descr="Patrón de fondo&#10;&#10;Descripción generada automáticamente">
            <a:extLst>
              <a:ext uri="{FF2B5EF4-FFF2-40B4-BE49-F238E27FC236}">
                <a16:creationId xmlns:a16="http://schemas.microsoft.com/office/drawing/2014/main" id="{A5A1F8B5-C537-E163-7F62-A12931C7E165}"/>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
        <p:nvSpPr>
          <p:cNvPr id="5" name="Rectángulo 4">
            <a:extLst>
              <a:ext uri="{FF2B5EF4-FFF2-40B4-BE49-F238E27FC236}">
                <a16:creationId xmlns:a16="http://schemas.microsoft.com/office/drawing/2014/main" id="{79621210-2A91-1552-D4F2-DF2766531006}"/>
              </a:ext>
            </a:extLst>
          </p:cNvPr>
          <p:cNvSpPr/>
          <p:nvPr userDrawn="1"/>
        </p:nvSpPr>
        <p:spPr>
          <a:xfrm>
            <a:off x="11829143" y="0"/>
            <a:ext cx="362857" cy="1746912"/>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744666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4" name="Imagen 3" descr="Patrón de fondo&#10;&#10;Descripción generada automáticamente">
            <a:extLst>
              <a:ext uri="{FF2B5EF4-FFF2-40B4-BE49-F238E27FC236}">
                <a16:creationId xmlns:a16="http://schemas.microsoft.com/office/drawing/2014/main" id="{CEFCEBEC-42C8-C58C-CD8C-206F903423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11098146" y="6096500"/>
            <a:ext cx="992252" cy="702553"/>
          </a:xfrm>
          <a:prstGeom prst="rect">
            <a:avLst/>
          </a:prstGeom>
        </p:spPr>
      </p:pic>
    </p:spTree>
    <p:extLst>
      <p:ext uri="{BB962C8B-B14F-4D97-AF65-F5344CB8AC3E}">
        <p14:creationId xmlns:p14="http://schemas.microsoft.com/office/powerpoint/2010/main" val="30911022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5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532B9242-CE35-04A2-18AA-987DB5B40A5D}"/>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87084" y="6082877"/>
            <a:ext cx="992252" cy="702553"/>
          </a:xfrm>
          <a:prstGeom prst="rect">
            <a:avLst/>
          </a:prstGeom>
        </p:spPr>
      </p:pic>
    </p:spTree>
    <p:extLst>
      <p:ext uri="{BB962C8B-B14F-4D97-AF65-F5344CB8AC3E}">
        <p14:creationId xmlns:p14="http://schemas.microsoft.com/office/powerpoint/2010/main" val="3391567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4_En blanco">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2C42BCD7-7546-798B-E3E1-8978EB603A65}"/>
              </a:ext>
            </a:extLst>
          </p:cNvPr>
          <p:cNvSpPr/>
          <p:nvPr userDrawn="1"/>
        </p:nvSpPr>
        <p:spPr>
          <a:xfrm>
            <a:off x="11832609" y="0"/>
            <a:ext cx="359391" cy="1746913"/>
          </a:xfrm>
          <a:prstGeom prst="rect">
            <a:avLst/>
          </a:prstGeom>
          <a:solidFill>
            <a:srgbClr val="7B95A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latin typeface="Noto Sans"/>
            </a:endParaRPr>
          </a:p>
        </p:txBody>
      </p:sp>
      <p:pic>
        <p:nvPicPr>
          <p:cNvPr id="3" name="Imagen 2" descr="Patrón de fondo&#10;&#10;Descripción generada automáticamente">
            <a:extLst>
              <a:ext uri="{FF2B5EF4-FFF2-40B4-BE49-F238E27FC236}">
                <a16:creationId xmlns:a16="http://schemas.microsoft.com/office/drawing/2014/main" id="{85BD324A-C024-0077-DF8F-20DCA813AADF}"/>
              </a:ext>
            </a:extLst>
          </p:cNvPr>
          <p:cNvPicPr>
            <a:picLocks noChangeAspect="1"/>
          </p:cNvPicPr>
          <p:nvPr userDrawn="1"/>
        </p:nvPicPr>
        <p:blipFill>
          <a:blip r:embed="rId2" cstate="print">
            <a:alphaModFix amt="50000"/>
            <a:extLst>
              <a:ext uri="{28A0092B-C50C-407E-A947-70E740481C1C}">
                <a14:useLocalDpi xmlns:a14="http://schemas.microsoft.com/office/drawing/2010/main" val="0"/>
              </a:ext>
            </a:extLst>
          </a:blip>
          <a:stretch>
            <a:fillRect/>
          </a:stretch>
        </p:blipFill>
        <p:spPr>
          <a:xfrm>
            <a:off x="58058" y="66706"/>
            <a:ext cx="992252" cy="702553"/>
          </a:xfrm>
          <a:prstGeom prst="rect">
            <a:avLst/>
          </a:prstGeom>
        </p:spPr>
      </p:pic>
    </p:spTree>
    <p:extLst>
      <p:ext uri="{BB962C8B-B14F-4D97-AF65-F5344CB8AC3E}">
        <p14:creationId xmlns:p14="http://schemas.microsoft.com/office/powerpoint/2010/main" val="2011138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D3F39D5-2B33-B76C-39CA-AE6BED786D9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DBD0F07-E6DF-E238-D01E-6075CA1AE2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Tree>
    <p:extLst>
      <p:ext uri="{BB962C8B-B14F-4D97-AF65-F5344CB8AC3E}">
        <p14:creationId xmlns:p14="http://schemas.microsoft.com/office/powerpoint/2010/main" val="883371375"/>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61" r:id="rId4"/>
    <p:sldLayoutId id="2147483655" r:id="rId5"/>
    <p:sldLayoutId id="2147483664" r:id="rId6"/>
    <p:sldLayoutId id="2147483663" r:id="rId7"/>
    <p:sldLayoutId id="2147483662" r:id="rId8"/>
    <p:sldLayoutId id="2147483666" r:id="rId9"/>
    <p:sldLayoutId id="2147483665"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www.gob.mx/afac"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1669935"/>
            <a:ext cx="10515600" cy="2651760"/>
          </a:xfrm>
        </p:spPr>
        <p:txBody>
          <a:bodyPr wrap="square" anchor="ctr"/>
          <a:lstStyle/>
          <a:p>
            <a:pPr algn="ctr">
              <a:spcAft>
                <a:spcPts val="600"/>
              </a:spcAft>
            </a:pPr>
            <a:r>
              <a:rPr sz="5400" b="0" i="0" u="none" dirty="0" err="1">
                <a:solidFill>
                  <a:srgbClr val="B98A2E"/>
                </a:solidFill>
                <a:latin typeface="Montserrat SemiBold"/>
                <a:ea typeface="Montserrat SemiBold"/>
                <a:cs typeface="Montserrat SemiBold"/>
              </a:rPr>
              <a:t>Módulo</a:t>
            </a:r>
            <a:r>
              <a:rPr sz="5400" b="0" i="0" u="none" dirty="0">
                <a:solidFill>
                  <a:srgbClr val="B98A2E"/>
                </a:solidFill>
                <a:latin typeface="Montserrat SemiBold"/>
                <a:ea typeface="Montserrat SemiBold"/>
                <a:cs typeface="Montserrat SemiBold"/>
              </a:rPr>
              <a:t> 1</a:t>
            </a:r>
          </a:p>
          <a:p>
            <a:pPr algn="ctr">
              <a:spcAft>
                <a:spcPts val="800"/>
              </a:spcAft>
            </a:pPr>
            <a:r>
              <a:rPr sz="4000" b="1" i="0" u="none" dirty="0">
                <a:solidFill>
                  <a:srgbClr val="0E2A47"/>
                </a:solidFill>
                <a:latin typeface="Montserrat"/>
                <a:ea typeface="Montserrat"/>
                <a:cs typeface="Montserrat"/>
              </a:rPr>
              <a:t>Marco general del </a:t>
            </a:r>
            <a:r>
              <a:rPr sz="4000" b="1" i="0" u="none" dirty="0" err="1">
                <a:solidFill>
                  <a:srgbClr val="0E2A47"/>
                </a:solidFill>
                <a:latin typeface="Montserrat"/>
                <a:ea typeface="Montserrat"/>
                <a:cs typeface="Montserrat"/>
              </a:rPr>
              <a:t>Programa</a:t>
            </a:r>
            <a:r>
              <a:rPr sz="4000" b="1" i="0" u="none" dirty="0">
                <a:solidFill>
                  <a:srgbClr val="0E2A47"/>
                </a:solidFill>
                <a:latin typeface="Montserrat"/>
                <a:ea typeface="Montserrat"/>
                <a:cs typeface="Montserrat"/>
              </a:rPr>
              <a:t> OJT</a:t>
            </a:r>
          </a:p>
          <a:p>
            <a:pPr algn="ctr"/>
            <a:r>
              <a:rPr sz="1600" b="0" i="0" u="none" dirty="0" err="1">
                <a:solidFill>
                  <a:srgbClr val="182430"/>
                </a:solidFill>
                <a:latin typeface="Montserrat SemiBold"/>
                <a:ea typeface="Montserrat SemiBold"/>
                <a:cs typeface="Montserrat SemiBold"/>
              </a:rPr>
              <a:t>Programa</a:t>
            </a:r>
            <a:r>
              <a:rPr sz="1600" b="0" i="0" u="none" dirty="0">
                <a:solidFill>
                  <a:srgbClr val="182430"/>
                </a:solidFill>
                <a:latin typeface="Montserrat SemiBold"/>
                <a:ea typeface="Montserrat SemiBold"/>
                <a:cs typeface="Montserrat SemiBold"/>
              </a:rPr>
              <a:t> de </a:t>
            </a:r>
            <a:r>
              <a:rPr sz="1600" b="0" i="0" u="none" dirty="0" err="1">
                <a:solidFill>
                  <a:srgbClr val="182430"/>
                </a:solidFill>
                <a:latin typeface="Montserrat SemiBold"/>
                <a:ea typeface="Montserrat SemiBold"/>
                <a:cs typeface="Montserrat SemiBold"/>
              </a:rPr>
              <a:t>Entrenamiento</a:t>
            </a:r>
            <a:r>
              <a:rPr sz="1600" b="0" i="0" u="none" dirty="0">
                <a:solidFill>
                  <a:srgbClr val="182430"/>
                </a:solidFill>
                <a:latin typeface="Montserrat SemiBold"/>
                <a:ea typeface="Montserrat SemiBold"/>
                <a:cs typeface="Montserrat SemiBold"/>
              </a:rPr>
              <a:t> </a:t>
            </a:r>
            <a:r>
              <a:rPr sz="1600" b="0" i="0" u="none" dirty="0" err="1">
                <a:solidFill>
                  <a:srgbClr val="182430"/>
                </a:solidFill>
                <a:latin typeface="Montserrat SemiBold"/>
                <a:ea typeface="Montserrat SemiBold"/>
                <a:cs typeface="Montserrat SemiBold"/>
              </a:rPr>
              <a:t>en</a:t>
            </a:r>
            <a:r>
              <a:rPr sz="1600" b="0" i="0" u="none" dirty="0">
                <a:solidFill>
                  <a:srgbClr val="182430"/>
                </a:solidFill>
                <a:latin typeface="Montserrat SemiBold"/>
                <a:ea typeface="Montserrat SemiBold"/>
                <a:cs typeface="Montserrat SemiBold"/>
              </a:rPr>
              <a:t> el Puesto de </a:t>
            </a:r>
            <a:r>
              <a:rPr sz="1600" b="0" i="0" u="none" dirty="0" err="1">
                <a:solidFill>
                  <a:srgbClr val="182430"/>
                </a:solidFill>
                <a:latin typeface="Montserrat SemiBold"/>
                <a:ea typeface="Montserrat SemiBold"/>
                <a:cs typeface="Montserrat SemiBold"/>
              </a:rPr>
              <a:t>Trabajo</a:t>
            </a:r>
            <a:endParaRPr sz="1600" b="0" i="0" u="none" dirty="0">
              <a:solidFill>
                <a:srgbClr val="182430"/>
              </a:solidFill>
              <a:latin typeface="Montserrat SemiBold"/>
              <a:ea typeface="Montserrat SemiBold"/>
              <a:cs typeface="Montserrat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ACTIVIDAD DE INICIO</a:t>
            </a:r>
          </a:p>
          <a:p>
            <a:pPr algn="l"/>
            <a:r>
              <a:rPr sz="2800" b="0" i="0" u="none">
                <a:solidFill>
                  <a:srgbClr val="FFFFFF"/>
                </a:solidFill>
                <a:latin typeface="Montserrat SemiBold"/>
                <a:ea typeface="Montserrat SemiBold"/>
                <a:cs typeface="Montserrat SemiBold"/>
              </a:rPr>
              <a:t>Para iniciar, reflexiona</a:t>
            </a:r>
          </a:p>
        </p:txBody>
      </p:sp>
      <p:pic>
        <p:nvPicPr>
          <p:cNvPr id="3" name="Picture 2" descr="s02_9bed83.png"/>
          <p:cNvPicPr>
            <a:picLocks noChangeAspect="1"/>
          </p:cNvPicPr>
          <p:nvPr/>
        </p:nvPicPr>
        <p:blipFill>
          <a:blip r:embed="rId3"/>
          <a:stretch>
            <a:fillRect/>
          </a:stretch>
        </p:blipFill>
        <p:spPr>
          <a:xfrm>
            <a:off x="7955279" y="1876666"/>
            <a:ext cx="2988418" cy="2988418"/>
          </a:xfrm>
          <a:prstGeom prst="rect">
            <a:avLst/>
          </a:prstGeom>
        </p:spPr>
      </p:pic>
      <p:sp>
        <p:nvSpPr>
          <p:cNvPr id="4" name="TextBox 3"/>
          <p:cNvSpPr txBox="1"/>
          <p:nvPr/>
        </p:nvSpPr>
        <p:spPr>
          <a:xfrm>
            <a:off x="731520" y="1835161"/>
            <a:ext cx="6949440" cy="3400931"/>
          </a:xfrm>
          <a:prstGeom prst="rect">
            <a:avLst/>
          </a:prstGeom>
          <a:noFill/>
        </p:spPr>
        <p:txBody>
          <a:bodyPr wrap="square" lIns="45720" rIns="45720" anchor="t">
            <a:spAutoFit/>
          </a:bodyPr>
          <a:lstStyle/>
          <a:p>
            <a:pPr algn="l">
              <a:lnSpc>
                <a:spcPct val="100000"/>
              </a:lnSpc>
              <a:spcAft>
                <a:spcPts val="1200"/>
              </a:spcAft>
            </a:pPr>
            <a:r>
              <a:rPr sz="2500" b="0" i="0" u="none" dirty="0" err="1">
                <a:solidFill>
                  <a:srgbClr val="182430"/>
                </a:solidFill>
                <a:latin typeface="Montserrat Medium"/>
                <a:ea typeface="Montserrat Medium"/>
                <a:cs typeface="Montserrat Medium"/>
              </a:rPr>
              <a:t>Recuerda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tu</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primera</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inspección</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a:t>
            </a:r>
            <a:r>
              <a:rPr sz="2500" b="0" i="0" u="none" dirty="0">
                <a:solidFill>
                  <a:srgbClr val="182430"/>
                </a:solidFill>
                <a:latin typeface="Montserrat Medium"/>
                <a:ea typeface="Montserrat Medium"/>
                <a:cs typeface="Montserrat Medium"/>
              </a:rPr>
              <a:t> campo:</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a:t>
            </a:r>
            <a:r>
              <a:rPr sz="2500" b="0" i="0" u="none" dirty="0" err="1">
                <a:solidFill>
                  <a:srgbClr val="182430"/>
                </a:solidFill>
                <a:latin typeface="Montserrat Medium"/>
                <a:ea typeface="Montserrat Medium"/>
                <a:cs typeface="Montserrat Medium"/>
              </a:rPr>
              <a:t>Quién</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te</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enseñó</a:t>
            </a:r>
            <a:r>
              <a:rPr sz="2500" b="0" i="0" u="none" dirty="0">
                <a:solidFill>
                  <a:srgbClr val="182430"/>
                </a:solidFill>
                <a:latin typeface="Montserrat Medium"/>
                <a:ea typeface="Montserrat Medium"/>
                <a:cs typeface="Montserrat Medium"/>
              </a:rPr>
              <a:t> a </a:t>
            </a:r>
            <a:r>
              <a:rPr sz="2500" b="0" i="0" u="none" dirty="0" err="1">
                <a:solidFill>
                  <a:srgbClr val="182430"/>
                </a:solidFill>
                <a:latin typeface="Montserrat Medium"/>
                <a:ea typeface="Montserrat Medium"/>
                <a:cs typeface="Montserrat Medium"/>
              </a:rPr>
              <a:t>realizarla</a:t>
            </a:r>
            <a:r>
              <a:rPr sz="2500" b="0" i="0" u="none" dirty="0">
                <a:solidFill>
                  <a:srgbClr val="182430"/>
                </a:solidFill>
                <a:latin typeface="Montserrat Medium"/>
                <a:ea typeface="Montserrat Medium"/>
                <a:cs typeface="Montserrat Medium"/>
              </a:rPr>
              <a:t>?</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a:t>
            </a:r>
            <a:r>
              <a:rPr sz="2500" b="0" i="0" u="none" dirty="0" err="1">
                <a:solidFill>
                  <a:srgbClr val="182430"/>
                </a:solidFill>
                <a:latin typeface="Montserrat Medium"/>
                <a:ea typeface="Montserrat Medium"/>
                <a:cs typeface="Montserrat Medium"/>
              </a:rPr>
              <a:t>Cómo</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sabías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que</a:t>
            </a:r>
            <a:r>
              <a:rPr sz="2500" b="0" i="0" u="none" dirty="0">
                <a:solidFill>
                  <a:srgbClr val="182430"/>
                </a:solidFill>
                <a:latin typeface="Montserrat Medium"/>
                <a:ea typeface="Montserrat Medium"/>
                <a:cs typeface="Montserrat Medium"/>
              </a:rPr>
              <a:t> la </a:t>
            </a:r>
            <a:r>
              <a:rPr sz="2500" b="0" i="0" u="none" dirty="0" err="1">
                <a:solidFill>
                  <a:srgbClr val="182430"/>
                </a:solidFill>
                <a:latin typeface="Montserrat Medium"/>
                <a:ea typeface="Montserrat Medium"/>
                <a:cs typeface="Montserrat Medium"/>
              </a:rPr>
              <a:t>hacías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conforme</a:t>
            </a:r>
            <a:r>
              <a:rPr sz="2500" b="0" i="0" u="none" dirty="0">
                <a:solidFill>
                  <a:srgbClr val="182430"/>
                </a:solidFill>
                <a:latin typeface="Montserrat Medium"/>
                <a:ea typeface="Montserrat Medium"/>
                <a:cs typeface="Montserrat Medium"/>
              </a:rPr>
              <a:t> al </a:t>
            </a:r>
            <a:r>
              <a:rPr sz="2500" b="0" i="0" u="none" dirty="0" err="1">
                <a:solidFill>
                  <a:srgbClr val="182430"/>
                </a:solidFill>
                <a:latin typeface="Montserrat Medium"/>
                <a:ea typeface="Montserrat Medium"/>
                <a:cs typeface="Montserrat Medium"/>
              </a:rPr>
              <a:t>procedimiento</a:t>
            </a:r>
            <a:r>
              <a:rPr sz="2500" b="0" i="0" u="none" dirty="0">
                <a:solidFill>
                  <a:srgbClr val="182430"/>
                </a:solidFill>
                <a:latin typeface="Montserrat Medium"/>
                <a:ea typeface="Montserrat Medium"/>
                <a:cs typeface="Montserrat Medium"/>
              </a:rPr>
              <a:t>?</a:t>
            </a:r>
            <a:endParaRPr lang="es-MX" sz="2500" b="0" i="0" u="none" dirty="0">
              <a:solidFill>
                <a:srgbClr val="182430"/>
              </a:solidFill>
              <a:latin typeface="Montserrat Medium"/>
              <a:ea typeface="Montserrat Medium"/>
              <a:cs typeface="Montserrat Medium"/>
            </a:endParaRPr>
          </a:p>
          <a:p>
            <a:pPr marL="347472" indent="-347472" algn="l">
              <a:lnSpc>
                <a:spcPct val="100000"/>
              </a:lnSpc>
              <a:spcAft>
                <a:spcPts val="1200"/>
              </a:spcAft>
              <a:buClr>
                <a:srgbClr val="B98A2E"/>
              </a:buClr>
              <a:buFont typeface="Arial"/>
              <a:buChar char="•"/>
            </a:pPr>
            <a:endParaRPr sz="2500" b="0" i="0" u="none" dirty="0">
              <a:solidFill>
                <a:srgbClr val="182430"/>
              </a:solidFill>
              <a:latin typeface="Montserrat Medium"/>
              <a:ea typeface="Montserrat Medium"/>
              <a:cs typeface="Montserrat Medium"/>
            </a:endParaRPr>
          </a:p>
          <a:p>
            <a:pPr algn="l">
              <a:lnSpc>
                <a:spcPct val="100000"/>
              </a:lnSpc>
              <a:spcAft>
                <a:spcPts val="1200"/>
              </a:spcAft>
            </a:pPr>
            <a:r>
              <a:rPr sz="2500" b="1" dirty="0" err="1">
                <a:solidFill>
                  <a:srgbClr val="0E2A47"/>
                </a:solidFill>
                <a:highlight>
                  <a:srgbClr val="EFDDB0"/>
                </a:highlight>
                <a:latin typeface="Montserrat Medium"/>
              </a:rPr>
              <a:t>Anota</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tu</a:t>
            </a:r>
            <a:r>
              <a:rPr sz="2500" b="1" dirty="0">
                <a:solidFill>
                  <a:srgbClr val="0E2A47"/>
                </a:solidFill>
                <a:highlight>
                  <a:srgbClr val="EFDDB0"/>
                </a:highlight>
                <a:latin typeface="Montserrat Medium"/>
              </a:rPr>
              <a:t> </a:t>
            </a:r>
            <a:r>
              <a:rPr sz="2500" b="1" dirty="0" err="1">
                <a:solidFill>
                  <a:srgbClr val="0E2A47"/>
                </a:solidFill>
                <a:highlight>
                  <a:srgbClr val="EFDDB0"/>
                </a:highlight>
                <a:latin typeface="Montserrat Medium"/>
              </a:rPr>
              <a:t>respuesta</a:t>
            </a:r>
            <a:r>
              <a:rPr sz="2500" b="1" dirty="0">
                <a:solidFill>
                  <a:srgbClr val="0E2A47"/>
                </a:solidFill>
                <a:highlight>
                  <a:srgbClr val="EFDDB0"/>
                </a:highlight>
                <a:latin typeface="Montserrat Medium"/>
              </a:rPr>
              <a:t>. La </a:t>
            </a:r>
            <a:r>
              <a:rPr sz="2500" b="1" dirty="0" err="1">
                <a:solidFill>
                  <a:srgbClr val="0E2A47"/>
                </a:solidFill>
                <a:highlight>
                  <a:srgbClr val="EFDDB0"/>
                </a:highlight>
                <a:latin typeface="Montserrat Medium"/>
              </a:rPr>
              <a:t>retomarás</a:t>
            </a:r>
            <a:r>
              <a:rPr sz="2500" b="1" dirty="0">
                <a:solidFill>
                  <a:srgbClr val="0E2A47"/>
                </a:solidFill>
                <a:highlight>
                  <a:srgbClr val="EFDDB0"/>
                </a:highlight>
                <a:latin typeface="Montserrat Medium"/>
              </a:rPr>
              <a:t> al final.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¿Por qué surge el Programa OJT?</a:t>
            </a:r>
          </a:p>
        </p:txBody>
      </p:sp>
      <p:sp>
        <p:nvSpPr>
          <p:cNvPr id="3" name="Rounded Rectangle 2"/>
          <p:cNvSpPr/>
          <p:nvPr/>
        </p:nvSpPr>
        <p:spPr>
          <a:xfrm>
            <a:off x="731520" y="1918172"/>
            <a:ext cx="4572000" cy="498069"/>
          </a:xfrm>
          <a:prstGeom prst="roundRect">
            <a:avLst>
              <a:gd name="adj" fmla="val 8000"/>
            </a:avLst>
          </a:prstGeom>
          <a:solidFill>
            <a:srgbClr val="5C6B7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200" b="0" i="0" u="none">
                <a:solidFill>
                  <a:srgbClr val="FFFFFF"/>
                </a:solidFill>
                <a:latin typeface="Montserrat SemiBold"/>
                <a:ea typeface="Montserrat SemiBold"/>
                <a:cs typeface="Montserrat SemiBold"/>
              </a:rPr>
              <a:t>Antes</a:t>
            </a:r>
          </a:p>
        </p:txBody>
      </p:sp>
      <p:sp>
        <p:nvSpPr>
          <p:cNvPr id="4" name="Rounded Rectangle 3"/>
          <p:cNvSpPr/>
          <p:nvPr/>
        </p:nvSpPr>
        <p:spPr>
          <a:xfrm>
            <a:off x="731520" y="2416242"/>
            <a:ext cx="4572000" cy="2905406"/>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Se aprendía de la </a:t>
            </a:r>
            <a:r>
              <a:rPr sz="2000" b="1" i="0" u="none">
                <a:solidFill>
                  <a:srgbClr val="0E2A47"/>
                </a:solidFill>
                <a:highlight>
                  <a:srgbClr val="EFDDB0"/>
                </a:highlight>
                <a:latin typeface="Montserrat Medium"/>
                <a:ea typeface="Montserrat Medium"/>
                <a:cs typeface="Montserrat Medium"/>
              </a:rPr>
              <a:t>experiencia heredada</a:t>
            </a:r>
            <a:r>
              <a:rPr sz="2000" b="0" i="0" u="none">
                <a:solidFill>
                  <a:srgbClr val="182430"/>
                </a:solidFill>
                <a:latin typeface="Montserrat Medium"/>
                <a:ea typeface="Montserrat Medium"/>
                <a:cs typeface="Montserrat Medium"/>
              </a:rPr>
              <a:t> de los más antiguos.</a:t>
            </a:r>
          </a:p>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Había </a:t>
            </a:r>
            <a:r>
              <a:rPr sz="2000" b="1" i="0" u="none">
                <a:solidFill>
                  <a:srgbClr val="0E2A47"/>
                </a:solidFill>
                <a:highlight>
                  <a:srgbClr val="EFDDB0"/>
                </a:highlight>
                <a:latin typeface="Montserrat Medium"/>
                <a:ea typeface="Montserrat Medium"/>
                <a:cs typeface="Montserrat Medium"/>
              </a:rPr>
              <a:t>discrecionalidad</a:t>
            </a:r>
            <a:r>
              <a:rPr sz="2000" b="0" i="0" u="none">
                <a:solidFill>
                  <a:srgbClr val="182430"/>
                </a:solidFill>
                <a:latin typeface="Montserrat Medium"/>
                <a:ea typeface="Montserrat Medium"/>
                <a:cs typeface="Montserrat Medium"/>
              </a:rPr>
              <a:t> individual.</a:t>
            </a:r>
          </a:p>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Surgían diferencias en procesos y decisiones.</a:t>
            </a:r>
          </a:p>
        </p:txBody>
      </p:sp>
      <p:sp>
        <p:nvSpPr>
          <p:cNvPr id="5" name="Right Arrow 4"/>
          <p:cNvSpPr/>
          <p:nvPr/>
        </p:nvSpPr>
        <p:spPr>
          <a:xfrm>
            <a:off x="5532120" y="3453887"/>
            <a:ext cx="822960" cy="581081"/>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0" y="1918172"/>
            <a:ext cx="4572000" cy="498069"/>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200" b="0" i="0" u="none">
                <a:solidFill>
                  <a:srgbClr val="FFFFFF"/>
                </a:solidFill>
                <a:latin typeface="Montserrat SemiBold"/>
                <a:ea typeface="Montserrat SemiBold"/>
                <a:cs typeface="Montserrat SemiBold"/>
              </a:rPr>
              <a:t>Con el OJT</a:t>
            </a:r>
          </a:p>
        </p:txBody>
      </p:sp>
      <p:sp>
        <p:nvSpPr>
          <p:cNvPr id="7" name="Rounded Rectangle 6"/>
          <p:cNvSpPr/>
          <p:nvPr/>
        </p:nvSpPr>
        <p:spPr>
          <a:xfrm>
            <a:off x="6583680" y="2416242"/>
            <a:ext cx="4572000" cy="2905406"/>
          </a:xfrm>
          <a:prstGeom prst="roundRect">
            <a:avLst>
              <a:gd name="adj" fmla="val 4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Entrenamiento </a:t>
            </a:r>
            <a:r>
              <a:rPr sz="2000" b="1" i="0" u="none">
                <a:solidFill>
                  <a:srgbClr val="0E2A47"/>
                </a:solidFill>
                <a:highlight>
                  <a:srgbClr val="E6CC8F"/>
                </a:highlight>
                <a:latin typeface="Montserrat Medium"/>
                <a:ea typeface="Montserrat Medium"/>
                <a:cs typeface="Montserrat Medium"/>
              </a:rPr>
              <a:t>en campo</a:t>
            </a:r>
            <a:r>
              <a:rPr sz="2000" b="0" i="0" u="none">
                <a:solidFill>
                  <a:srgbClr val="182430"/>
                </a:solidFill>
                <a:latin typeface="Montserrat Medium"/>
                <a:ea typeface="Montserrat Medium"/>
                <a:cs typeface="Montserrat Medium"/>
              </a:rPr>
              <a:t>, acompañado por personal con experiencia.</a:t>
            </a:r>
          </a:p>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Alineado a </a:t>
            </a:r>
            <a:r>
              <a:rPr sz="2000" b="1" i="0" u="none">
                <a:solidFill>
                  <a:srgbClr val="0E2A47"/>
                </a:solidFill>
                <a:highlight>
                  <a:srgbClr val="E6CC8F"/>
                </a:highlight>
                <a:latin typeface="Montserrat Medium"/>
                <a:ea typeface="Montserrat Medium"/>
                <a:cs typeface="Montserrat Medium"/>
              </a:rPr>
              <a:t>manuales técnicos</a:t>
            </a:r>
            <a:r>
              <a:rPr sz="2000" b="0" i="0" u="none">
                <a:solidFill>
                  <a:srgbClr val="182430"/>
                </a:solidFill>
                <a:latin typeface="Montserrat Medium"/>
                <a:ea typeface="Montserrat Medium"/>
                <a:cs typeface="Montserrat Medium"/>
              </a:rPr>
              <a:t> y normas.</a:t>
            </a:r>
          </a:p>
          <a:p>
            <a:pPr marL="228600" indent="-228600" algn="l">
              <a:spcAft>
                <a:spcPts val="1000"/>
              </a:spcAft>
              <a:buClr>
                <a:srgbClr val="B98A2E"/>
              </a:buClr>
              <a:buFont typeface="Arial"/>
              <a:buChar char="•"/>
            </a:pPr>
            <a:r>
              <a:rPr sz="2000" b="0" i="0" u="none">
                <a:solidFill>
                  <a:srgbClr val="182430"/>
                </a:solidFill>
                <a:latin typeface="Montserrat Medium"/>
                <a:ea typeface="Montserrat Medium"/>
                <a:cs typeface="Montserrat Medium"/>
              </a:rPr>
              <a:t>Desviaciones corregidas con </a:t>
            </a:r>
            <a:r>
              <a:rPr sz="2000" b="1" i="0" u="none">
                <a:solidFill>
                  <a:srgbClr val="0E2A47"/>
                </a:solidFill>
                <a:highlight>
                  <a:srgbClr val="E6CC8F"/>
                </a:highlight>
                <a:latin typeface="Montserrat Medium"/>
                <a:ea typeface="Montserrat Medium"/>
                <a:cs typeface="Montserrat Medium"/>
              </a:rPr>
              <a:t>retroalimentación</a:t>
            </a:r>
            <a:r>
              <a:rPr sz="2000" b="0" i="0" u="none">
                <a:solidFill>
                  <a:srgbClr val="182430"/>
                </a:solidFill>
                <a:latin typeface="Montserrat Medium"/>
                <a:ea typeface="Montserrat Medium"/>
                <a:cs typeface="Montserrat Medium"/>
              </a:rPr>
              <a:t>.</a:t>
            </a:r>
          </a:p>
        </p:txBody>
      </p:sp>
      <p:sp>
        <p:nvSpPr>
          <p:cNvPr id="8" name="TextBox 7"/>
          <p:cNvSpPr txBox="1"/>
          <p:nvPr/>
        </p:nvSpPr>
        <p:spPr>
          <a:xfrm>
            <a:off x="731520" y="5570683"/>
            <a:ext cx="10424160" cy="415058"/>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Capítulo 1, numeral 1.1 Introducción general.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¿Qué es el OJT?</a:t>
            </a:r>
          </a:p>
        </p:txBody>
      </p:sp>
      <p:sp>
        <p:nvSpPr>
          <p:cNvPr id="3" name="TextBox 2"/>
          <p:cNvSpPr txBox="1"/>
          <p:nvPr/>
        </p:nvSpPr>
        <p:spPr>
          <a:xfrm>
            <a:off x="731520" y="1793655"/>
            <a:ext cx="10424160" cy="1826255"/>
          </a:xfrm>
          <a:prstGeom prst="rect">
            <a:avLst/>
          </a:prstGeom>
          <a:noFill/>
        </p:spPr>
        <p:txBody>
          <a:bodyPr wrap="square" lIns="45720" rIns="45720" anchor="t">
            <a:spAutoFit/>
          </a:bodyPr>
          <a:lstStyle/>
          <a:p>
            <a:pPr algn="ctr">
              <a:lnSpc>
                <a:spcPct val="100000"/>
              </a:lnSpc>
              <a:spcAft>
                <a:spcPts val="600"/>
              </a:spcAft>
            </a:pPr>
            <a:r>
              <a:rPr sz="2500" b="0" i="0" u="none" dirty="0">
                <a:solidFill>
                  <a:srgbClr val="182430"/>
                </a:solidFill>
                <a:latin typeface="Montserrat Medium"/>
                <a:ea typeface="Montserrat Medium"/>
                <a:cs typeface="Montserrat Medium"/>
              </a:rPr>
              <a:t>Es el </a:t>
            </a:r>
            <a:r>
              <a:rPr sz="2500" b="0" i="0" u="none" dirty="0" err="1">
                <a:solidFill>
                  <a:srgbClr val="182430"/>
                </a:solidFill>
                <a:latin typeface="Montserrat Medium"/>
                <a:ea typeface="Montserrat Medium"/>
                <a:cs typeface="Montserrat Medium"/>
              </a:rPr>
              <a:t>proceso</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mediante</a:t>
            </a:r>
            <a:r>
              <a:rPr sz="2500" b="0" i="0" u="none" dirty="0">
                <a:solidFill>
                  <a:srgbClr val="182430"/>
                </a:solidFill>
                <a:latin typeface="Montserrat Medium"/>
                <a:ea typeface="Montserrat Medium"/>
                <a:cs typeface="Montserrat Medium"/>
              </a:rPr>
              <a:t> el </a:t>
            </a:r>
            <a:r>
              <a:rPr sz="2500" b="0" i="0" u="none" dirty="0" err="1">
                <a:solidFill>
                  <a:srgbClr val="182430"/>
                </a:solidFill>
                <a:latin typeface="Montserrat Medium"/>
                <a:ea typeface="Montserrat Medium"/>
                <a:cs typeface="Montserrat Medium"/>
              </a:rPr>
              <a:t>cual</a:t>
            </a:r>
            <a:r>
              <a:rPr sz="2500" b="0" i="0" u="none" dirty="0">
                <a:solidFill>
                  <a:srgbClr val="182430"/>
                </a:solidFill>
                <a:latin typeface="Montserrat Medium"/>
                <a:ea typeface="Montserrat Medium"/>
                <a:cs typeface="Montserrat Medium"/>
              </a:rPr>
              <a:t> el </a:t>
            </a:r>
            <a:r>
              <a:rPr sz="2500" b="0" i="0" u="none" dirty="0" err="1">
                <a:solidFill>
                  <a:srgbClr val="182430"/>
                </a:solidFill>
                <a:latin typeface="Montserrat Medium"/>
                <a:ea typeface="Montserrat Medium"/>
                <a:cs typeface="Montserrat Medium"/>
              </a:rPr>
              <a:t>aprendiz</a:t>
            </a:r>
            <a:r>
              <a:rPr sz="2500" b="0" i="0" u="none" dirty="0">
                <a:solidFill>
                  <a:srgbClr val="182430"/>
                </a:solidFill>
                <a:latin typeface="Montserrat Medium"/>
                <a:ea typeface="Montserrat Medium"/>
                <a:cs typeface="Montserrat Medium"/>
              </a:rPr>
              <a:t> </a:t>
            </a:r>
            <a:r>
              <a:rPr sz="2500" b="1" i="0" u="none" dirty="0" err="1">
                <a:solidFill>
                  <a:srgbClr val="0E2A47"/>
                </a:solidFill>
                <a:highlight>
                  <a:srgbClr val="EFDDB0"/>
                </a:highlight>
                <a:latin typeface="Montserrat Medium"/>
                <a:ea typeface="Montserrat Medium"/>
                <a:cs typeface="Montserrat Medium"/>
              </a:rPr>
              <a:t>desarrolla</a:t>
            </a:r>
            <a:r>
              <a:rPr sz="2500" b="1" i="0" u="none" dirty="0">
                <a:solidFill>
                  <a:srgbClr val="0E2A47"/>
                </a:solidFill>
                <a:highlight>
                  <a:srgbClr val="EFDDB0"/>
                </a:highlight>
                <a:latin typeface="Montserrat Medium"/>
                <a:ea typeface="Montserrat Medium"/>
                <a:cs typeface="Montserrat Medium"/>
              </a:rPr>
              <a:t>, </a:t>
            </a:r>
            <a:r>
              <a:rPr sz="2500" b="1" i="0" u="none" dirty="0" err="1">
                <a:solidFill>
                  <a:srgbClr val="0E2A47"/>
                </a:solidFill>
                <a:highlight>
                  <a:srgbClr val="EFDDB0"/>
                </a:highlight>
                <a:latin typeface="Montserrat Medium"/>
                <a:ea typeface="Montserrat Medium"/>
                <a:cs typeface="Montserrat Medium"/>
              </a:rPr>
              <a:t>aplica</a:t>
            </a:r>
            <a:r>
              <a:rPr sz="2500" b="1" i="0" u="none" dirty="0">
                <a:solidFill>
                  <a:srgbClr val="0E2A47"/>
                </a:solidFill>
                <a:highlight>
                  <a:srgbClr val="EFDDB0"/>
                </a:highlight>
                <a:latin typeface="Montserrat Medium"/>
                <a:ea typeface="Montserrat Medium"/>
                <a:cs typeface="Montserrat Medium"/>
              </a:rPr>
              <a:t> y </a:t>
            </a:r>
            <a:r>
              <a:rPr sz="2500" b="1" i="0" u="none" dirty="0" err="1">
                <a:solidFill>
                  <a:srgbClr val="0E2A47"/>
                </a:solidFill>
                <a:highlight>
                  <a:srgbClr val="EFDDB0"/>
                </a:highlight>
                <a:latin typeface="Montserrat Medium"/>
                <a:ea typeface="Montserrat Medium"/>
                <a:cs typeface="Montserrat Medium"/>
              </a:rPr>
              <a:t>demuestra</a:t>
            </a:r>
            <a:r>
              <a:rPr sz="2500" b="1" i="0" u="none" dirty="0">
                <a:solidFill>
                  <a:srgbClr val="182430"/>
                </a:solidFill>
                <a:latin typeface="Montserrat Medium"/>
                <a:ea typeface="Montserrat Medium"/>
                <a:cs typeface="Montserrat Medium"/>
              </a:rPr>
              <a:t> </a:t>
            </a:r>
            <a:r>
              <a:rPr sz="2500" b="1" i="0" u="none" dirty="0" err="1">
                <a:solidFill>
                  <a:srgbClr val="0E2A47"/>
                </a:solidFill>
                <a:highlight>
                  <a:srgbClr val="EFDDB0"/>
                </a:highlight>
                <a:latin typeface="Montserrat Medium"/>
                <a:ea typeface="Montserrat Medium"/>
                <a:cs typeface="Montserrat Medium"/>
              </a:rPr>
              <a:t>competencia</a:t>
            </a:r>
            <a:r>
              <a:rPr lang="es-MX"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a:t>
            </a:r>
            <a:r>
              <a:rPr sz="2500" b="0" i="0" u="none" dirty="0">
                <a:solidFill>
                  <a:srgbClr val="182430"/>
                </a:solidFill>
                <a:latin typeface="Montserrat Medium"/>
                <a:ea typeface="Montserrat Medium"/>
                <a:cs typeface="Montserrat Medium"/>
              </a:rPr>
              <a:t> las </a:t>
            </a:r>
            <a:r>
              <a:rPr sz="2500" b="0" i="0" u="none" dirty="0" err="1">
                <a:solidFill>
                  <a:srgbClr val="182430"/>
                </a:solidFill>
                <a:latin typeface="Montserrat Medium"/>
                <a:ea typeface="Montserrat Medium"/>
                <a:cs typeface="Montserrat Medium"/>
              </a:rPr>
              <a:t>tareas</a:t>
            </a:r>
            <a:r>
              <a:rPr sz="2500" b="0" i="0" u="none" dirty="0">
                <a:solidFill>
                  <a:srgbClr val="182430"/>
                </a:solidFill>
                <a:latin typeface="Montserrat Medium"/>
                <a:ea typeface="Montserrat Medium"/>
                <a:cs typeface="Montserrat Medium"/>
              </a:rPr>
              <a:t> de sus </a:t>
            </a:r>
            <a:r>
              <a:rPr sz="2500" b="0" i="0" u="none" dirty="0" err="1">
                <a:solidFill>
                  <a:srgbClr val="182430"/>
                </a:solidFill>
                <a:latin typeface="Montserrat Medium"/>
                <a:ea typeface="Montserrat Medium"/>
                <a:cs typeface="Montserrat Medium"/>
              </a:rPr>
              <a:t>funciones</a:t>
            </a:r>
            <a:r>
              <a:rPr sz="2500" b="0" i="0" u="none" dirty="0">
                <a:solidFill>
                  <a:srgbClr val="182430"/>
                </a:solidFill>
                <a:latin typeface="Montserrat Medium"/>
                <a:ea typeface="Montserrat Medium"/>
                <a:cs typeface="Montserrat Medium"/>
              </a:rPr>
              <a:t>, con un </a:t>
            </a:r>
            <a:r>
              <a:rPr sz="2500" b="1" i="0" u="none" dirty="0">
                <a:solidFill>
                  <a:srgbClr val="0E2A47"/>
                </a:solidFill>
                <a:highlight>
                  <a:srgbClr val="EFDDB0"/>
                </a:highlight>
                <a:latin typeface="Montserrat Medium"/>
                <a:ea typeface="Montserrat Medium"/>
                <a:cs typeface="Montserrat Medium"/>
              </a:rPr>
              <a:t>instructor </a:t>
            </a:r>
            <a:r>
              <a:rPr sz="2500" b="1" i="0" u="none" dirty="0" err="1">
                <a:solidFill>
                  <a:srgbClr val="0E2A47"/>
                </a:solidFill>
                <a:highlight>
                  <a:srgbClr val="EFDDB0"/>
                </a:highlight>
                <a:latin typeface="Montserrat Medium"/>
                <a:ea typeface="Montserrat Medium"/>
                <a:cs typeface="Montserrat Medium"/>
              </a:rPr>
              <a:t>designado</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en</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niveles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progresivos</a:t>
            </a:r>
            <a:r>
              <a:rPr sz="2500" b="0" i="0" u="none" dirty="0">
                <a:solidFill>
                  <a:srgbClr val="182430"/>
                </a:solidFill>
                <a:latin typeface="Montserrat Medium"/>
                <a:ea typeface="Montserrat Medium"/>
                <a:cs typeface="Montserrat Medium"/>
              </a:rPr>
              <a:t> y con </a:t>
            </a:r>
            <a:r>
              <a:rPr sz="2500" b="0" i="0" u="none" dirty="0" err="1">
                <a:solidFill>
                  <a:srgbClr val="182430"/>
                </a:solidFill>
                <a:latin typeface="Montserrat Medium"/>
                <a:ea typeface="Montserrat Medium"/>
                <a:cs typeface="Montserrat Medium"/>
              </a:rPr>
              <a:t>evidencia</a:t>
            </a:r>
            <a:r>
              <a:rPr sz="2500" b="0" i="0" u="none" dirty="0">
                <a:solidFill>
                  <a:srgbClr val="182430"/>
                </a:solidFill>
                <a:latin typeface="Montserrat Medium"/>
                <a:ea typeface="Montserrat Medium"/>
                <a:cs typeface="Montserrat Medium"/>
              </a:rPr>
              <a:t>.</a:t>
            </a:r>
          </a:p>
        </p:txBody>
      </p:sp>
      <p:sp>
        <p:nvSpPr>
          <p:cNvPr id="4" name="Rounded Rectangle 3"/>
          <p:cNvSpPr/>
          <p:nvPr/>
        </p:nvSpPr>
        <p:spPr>
          <a:xfrm>
            <a:off x="731520" y="3951957"/>
            <a:ext cx="1938528" cy="913127"/>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Práctico</a:t>
            </a:r>
          </a:p>
        </p:txBody>
      </p:sp>
      <p:sp>
        <p:nvSpPr>
          <p:cNvPr id="5" name="Rounded Rectangle 4"/>
          <p:cNvSpPr/>
          <p:nvPr/>
        </p:nvSpPr>
        <p:spPr>
          <a:xfrm>
            <a:off x="2852928" y="3951957"/>
            <a:ext cx="1938528" cy="913127"/>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Planificado</a:t>
            </a:r>
          </a:p>
        </p:txBody>
      </p:sp>
      <p:sp>
        <p:nvSpPr>
          <p:cNvPr id="6" name="Rounded Rectangle 5"/>
          <p:cNvSpPr/>
          <p:nvPr/>
        </p:nvSpPr>
        <p:spPr>
          <a:xfrm>
            <a:off x="4974336" y="3951957"/>
            <a:ext cx="1938528" cy="913127"/>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Estructurado</a:t>
            </a:r>
          </a:p>
        </p:txBody>
      </p:sp>
      <p:sp>
        <p:nvSpPr>
          <p:cNvPr id="7" name="Rounded Rectangle 6"/>
          <p:cNvSpPr/>
          <p:nvPr/>
        </p:nvSpPr>
        <p:spPr>
          <a:xfrm>
            <a:off x="7095744" y="3951957"/>
            <a:ext cx="1938528" cy="913127"/>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Supervisado</a:t>
            </a:r>
          </a:p>
        </p:txBody>
      </p:sp>
      <p:sp>
        <p:nvSpPr>
          <p:cNvPr id="8" name="Rounded Rectangle 7"/>
          <p:cNvSpPr/>
          <p:nvPr/>
        </p:nvSpPr>
        <p:spPr>
          <a:xfrm>
            <a:off x="9217152" y="3951957"/>
            <a:ext cx="1938528" cy="913127"/>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Documentado</a:t>
            </a:r>
          </a:p>
        </p:txBody>
      </p:sp>
      <p:sp>
        <p:nvSpPr>
          <p:cNvPr id="9" name="TextBox 8"/>
          <p:cNvSpPr txBox="1"/>
          <p:nvPr/>
        </p:nvSpPr>
        <p:spPr>
          <a:xfrm>
            <a:off x="731520" y="5155625"/>
            <a:ext cx="10424160" cy="664092"/>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OJT: On the Job Training. Fuente: MEPT, Definiciones y numeral 2.1.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¿Dónde se ubica el OJT en tu formación?</a:t>
            </a:r>
          </a:p>
        </p:txBody>
      </p:sp>
      <p:sp>
        <p:nvSpPr>
          <p:cNvPr id="3" name="Rounded Rectangle 2"/>
          <p:cNvSpPr/>
          <p:nvPr/>
        </p:nvSpPr>
        <p:spPr>
          <a:xfrm>
            <a:off x="685800" y="2084195"/>
            <a:ext cx="2331720" cy="1120656"/>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Inducción SICT/AFAC</a:t>
            </a:r>
          </a:p>
        </p:txBody>
      </p:sp>
      <p:sp>
        <p:nvSpPr>
          <p:cNvPr id="4" name="TextBox 3"/>
          <p:cNvSpPr txBox="1"/>
          <p:nvPr/>
        </p:nvSpPr>
        <p:spPr>
          <a:xfrm>
            <a:off x="685800" y="3287864"/>
            <a:ext cx="233172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5C6B7A"/>
                </a:solidFill>
                <a:latin typeface="Montserrat Medium"/>
                <a:ea typeface="Montserrat Medium"/>
                <a:cs typeface="Montserrat Medium"/>
              </a:rPr>
              <a:t>Al ingresar</a:t>
            </a:r>
          </a:p>
        </p:txBody>
      </p:sp>
      <p:sp>
        <p:nvSpPr>
          <p:cNvPr id="5" name="Right Arrow 4"/>
          <p:cNvSpPr/>
          <p:nvPr/>
        </p:nvSpPr>
        <p:spPr>
          <a:xfrm>
            <a:off x="3081528" y="2457748"/>
            <a:ext cx="365760" cy="373552"/>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2084195"/>
            <a:ext cx="2331720" cy="1120656"/>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Curso básico o inicial</a:t>
            </a:r>
          </a:p>
        </p:txBody>
      </p:sp>
      <p:sp>
        <p:nvSpPr>
          <p:cNvPr id="7" name="TextBox 6"/>
          <p:cNvSpPr txBox="1"/>
          <p:nvPr/>
        </p:nvSpPr>
        <p:spPr>
          <a:xfrm>
            <a:off x="3502152" y="3287864"/>
            <a:ext cx="233172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5C6B7A"/>
                </a:solidFill>
                <a:latin typeface="Montserrat Medium"/>
                <a:ea typeface="Montserrat Medium"/>
                <a:cs typeface="Montserrat Medium"/>
              </a:rPr>
              <a:t>De tu especialidad</a:t>
            </a:r>
          </a:p>
        </p:txBody>
      </p:sp>
      <p:sp>
        <p:nvSpPr>
          <p:cNvPr id="8" name="Right Arrow 7"/>
          <p:cNvSpPr/>
          <p:nvPr/>
        </p:nvSpPr>
        <p:spPr>
          <a:xfrm>
            <a:off x="5897880" y="2457748"/>
            <a:ext cx="365760" cy="373552"/>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18504" y="2084195"/>
            <a:ext cx="2331720" cy="1120656"/>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OJT niveles 1, 2 y 3</a:t>
            </a:r>
          </a:p>
        </p:txBody>
      </p:sp>
      <p:sp>
        <p:nvSpPr>
          <p:cNvPr id="10" name="TextBox 9"/>
          <p:cNvSpPr txBox="1"/>
          <p:nvPr/>
        </p:nvSpPr>
        <p:spPr>
          <a:xfrm>
            <a:off x="6318504" y="3287864"/>
            <a:ext cx="233172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5C6B7A"/>
                </a:solidFill>
                <a:latin typeface="Montserrat Medium"/>
                <a:ea typeface="Montserrat Medium"/>
                <a:cs typeface="Montserrat Medium"/>
              </a:rPr>
              <a:t>En tu puesto</a:t>
            </a:r>
          </a:p>
        </p:txBody>
      </p:sp>
      <p:sp>
        <p:nvSpPr>
          <p:cNvPr id="11" name="Right Arrow 10"/>
          <p:cNvSpPr/>
          <p:nvPr/>
        </p:nvSpPr>
        <p:spPr>
          <a:xfrm>
            <a:off x="8714232" y="2457748"/>
            <a:ext cx="365760" cy="373552"/>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134856" y="2084195"/>
            <a:ext cx="2331720" cy="1120656"/>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Curso recurrente</a:t>
            </a:r>
          </a:p>
        </p:txBody>
      </p:sp>
      <p:sp>
        <p:nvSpPr>
          <p:cNvPr id="13" name="TextBox 12"/>
          <p:cNvSpPr txBox="1"/>
          <p:nvPr/>
        </p:nvSpPr>
        <p:spPr>
          <a:xfrm>
            <a:off x="9134856" y="3287864"/>
            <a:ext cx="2331720" cy="415058"/>
          </a:xfrm>
          <a:prstGeom prst="rect">
            <a:avLst/>
          </a:prstGeom>
          <a:noFill/>
        </p:spPr>
        <p:txBody>
          <a:bodyPr wrap="square" lIns="45720" rIns="45720" anchor="t">
            <a:spAutoFit/>
          </a:bodyPr>
          <a:lstStyle/>
          <a:p>
            <a:pPr algn="ctr">
              <a:lnSpc>
                <a:spcPct val="100000"/>
              </a:lnSpc>
              <a:spcAft>
                <a:spcPts val="600"/>
              </a:spcAft>
            </a:pPr>
            <a:r>
              <a:rPr sz="1600" b="0" i="0" u="none">
                <a:solidFill>
                  <a:srgbClr val="5C6B7A"/>
                </a:solidFill>
                <a:latin typeface="Montserrat Medium"/>
                <a:ea typeface="Montserrat Medium"/>
                <a:cs typeface="Montserrat Medium"/>
              </a:rPr>
              <a:t>Cada 3 años</a:t>
            </a:r>
          </a:p>
        </p:txBody>
      </p:sp>
      <p:sp>
        <p:nvSpPr>
          <p:cNvPr id="14" name="TextBox 13"/>
          <p:cNvSpPr txBox="1"/>
          <p:nvPr/>
        </p:nvSpPr>
        <p:spPr>
          <a:xfrm>
            <a:off x="731520" y="3993463"/>
            <a:ext cx="10424160" cy="964367"/>
          </a:xfrm>
          <a:prstGeom prst="rect">
            <a:avLst/>
          </a:prstGeom>
          <a:noFill/>
        </p:spPr>
        <p:txBody>
          <a:bodyPr wrap="square" lIns="45720" rIns="45720" anchor="t">
            <a:spAutoFit/>
          </a:bodyPr>
          <a:lstStyle/>
          <a:p>
            <a:pPr marL="347472" indent="-347472" algn="l">
              <a:lnSpc>
                <a:spcPct val="100000"/>
              </a:lnSpc>
              <a:spcAft>
                <a:spcPts val="800"/>
              </a:spcAft>
              <a:buClr>
                <a:srgbClr val="B98A2E"/>
              </a:buClr>
              <a:buFont typeface="Arial"/>
              <a:buChar char="•"/>
            </a:pPr>
            <a:r>
              <a:rPr sz="2500" b="0" i="0" u="none" dirty="0">
                <a:solidFill>
                  <a:srgbClr val="182430"/>
                </a:solidFill>
                <a:latin typeface="Montserrat Medium"/>
                <a:ea typeface="Montserrat Medium"/>
                <a:cs typeface="Montserrat Medium"/>
              </a:rPr>
              <a:t>Sin </a:t>
            </a:r>
            <a:r>
              <a:rPr sz="2500" b="1" i="0" u="none" dirty="0" err="1">
                <a:solidFill>
                  <a:srgbClr val="0E2A47"/>
                </a:solidFill>
                <a:highlight>
                  <a:srgbClr val="EFDDB0"/>
                </a:highlight>
                <a:latin typeface="Montserrat Medium"/>
                <a:ea typeface="Montserrat Medium"/>
                <a:cs typeface="Montserrat Medium"/>
              </a:rPr>
              <a:t>curso</a:t>
            </a:r>
            <a:r>
              <a:rPr sz="2500" b="1" i="0" u="none" dirty="0">
                <a:latin typeface="Montserrat Medium"/>
                <a:ea typeface="Montserrat Medium"/>
                <a:cs typeface="Montserrat Medium"/>
              </a:rPr>
              <a:t> </a:t>
            </a:r>
            <a:r>
              <a:rPr sz="2500" b="1" i="0" u="none" dirty="0" err="1">
                <a:solidFill>
                  <a:srgbClr val="0E2A47"/>
                </a:solidFill>
                <a:highlight>
                  <a:srgbClr val="EFDDB0"/>
                </a:highlight>
                <a:latin typeface="Montserrat Medium"/>
                <a:ea typeface="Montserrat Medium"/>
                <a:cs typeface="Montserrat Medium"/>
              </a:rPr>
              <a:t>básico</a:t>
            </a:r>
            <a:r>
              <a:rPr sz="2500" b="1" i="0" u="none" dirty="0">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concluido</a:t>
            </a:r>
            <a:r>
              <a:rPr sz="2500" b="0" i="0" u="none" dirty="0">
                <a:solidFill>
                  <a:srgbClr val="182430"/>
                </a:solidFill>
                <a:latin typeface="Montserrat Medium"/>
                <a:ea typeface="Montserrat Medium"/>
                <a:cs typeface="Montserrat Medium"/>
              </a:rPr>
              <a:t> no </a:t>
            </a:r>
            <a:r>
              <a:rPr sz="2500" b="0" i="0" u="none" dirty="0" err="1">
                <a:solidFill>
                  <a:srgbClr val="182430"/>
                </a:solidFill>
                <a:latin typeface="Montserrat Medium"/>
                <a:ea typeface="Montserrat Medium"/>
                <a:cs typeface="Montserrat Medium"/>
              </a:rPr>
              <a:t>inicia</a:t>
            </a:r>
            <a:r>
              <a:rPr sz="2500" b="0" i="0" u="none" dirty="0">
                <a:solidFill>
                  <a:srgbClr val="182430"/>
                </a:solidFill>
                <a:latin typeface="Montserrat Medium"/>
                <a:ea typeface="Montserrat Medium"/>
                <a:cs typeface="Montserrat Medium"/>
              </a:rPr>
              <a:t> el OJT.</a:t>
            </a:r>
          </a:p>
          <a:p>
            <a:pPr marL="347472" indent="-347472" algn="l">
              <a:lnSpc>
                <a:spcPct val="100000"/>
              </a:lnSpc>
              <a:spcAft>
                <a:spcPts val="800"/>
              </a:spcAft>
              <a:buClr>
                <a:srgbClr val="B98A2E"/>
              </a:buClr>
              <a:buFont typeface="Arial"/>
              <a:buChar char="•"/>
            </a:pPr>
            <a:r>
              <a:rPr sz="2500" b="0" i="0" u="none" dirty="0">
                <a:solidFill>
                  <a:srgbClr val="182430"/>
                </a:solidFill>
                <a:latin typeface="Montserrat Medium"/>
                <a:ea typeface="Montserrat Medium"/>
                <a:cs typeface="Montserrat Medium"/>
              </a:rPr>
              <a:t>Los </a:t>
            </a:r>
            <a:r>
              <a:rPr sz="2500" b="1" i="0" u="none" dirty="0" err="1">
                <a:solidFill>
                  <a:srgbClr val="0E2A47"/>
                </a:solidFill>
                <a:highlight>
                  <a:srgbClr val="EFDDB0"/>
                </a:highlight>
                <a:latin typeface="Montserrat Medium"/>
                <a:ea typeface="Montserrat Medium"/>
                <a:cs typeface="Montserrat Medium"/>
              </a:rPr>
              <a:t>cursos</a:t>
            </a:r>
            <a:r>
              <a:rPr sz="2500" b="1" i="0" u="none" dirty="0">
                <a:latin typeface="Montserrat Medium"/>
                <a:ea typeface="Montserrat Medium"/>
                <a:cs typeface="Montserrat Medium"/>
              </a:rPr>
              <a:t> </a:t>
            </a:r>
            <a:r>
              <a:rPr sz="2500" b="1" i="0" u="none" dirty="0" err="1">
                <a:solidFill>
                  <a:srgbClr val="0E2A47"/>
                </a:solidFill>
                <a:highlight>
                  <a:srgbClr val="EFDDB0"/>
                </a:highlight>
                <a:latin typeface="Montserrat Medium"/>
                <a:ea typeface="Montserrat Medium"/>
                <a:cs typeface="Montserrat Medium"/>
              </a:rPr>
              <a:t>específicos</a:t>
            </a:r>
            <a:r>
              <a:rPr sz="2500" b="0" i="0" u="none" dirty="0">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complementan</a:t>
            </a:r>
            <a:r>
              <a:rPr sz="2500" b="0" i="0" u="none" dirty="0">
                <a:solidFill>
                  <a:srgbClr val="182430"/>
                </a:solidFill>
                <a:latin typeface="Montserrat Medium"/>
                <a:ea typeface="Montserrat Medium"/>
                <a:cs typeface="Montserrat Medium"/>
              </a:rPr>
              <a:t> la </a:t>
            </a:r>
            <a:r>
              <a:rPr sz="2500" b="0" i="0" u="none" dirty="0" err="1">
                <a:solidFill>
                  <a:srgbClr val="182430"/>
                </a:solidFill>
                <a:latin typeface="Montserrat Medium"/>
                <a:ea typeface="Montserrat Medium"/>
                <a:cs typeface="Montserrat Medium"/>
              </a:rPr>
              <a:t>formación</a:t>
            </a:r>
            <a:r>
              <a:rPr sz="2500" b="0" i="0" u="none" dirty="0">
                <a:solidFill>
                  <a:srgbClr val="182430"/>
                </a:solidFill>
                <a:latin typeface="Montserrat Medium"/>
                <a:ea typeface="Montserrat Medium"/>
                <a:cs typeface="Montserrat Medium"/>
              </a:rPr>
              <a:t>.</a:t>
            </a:r>
          </a:p>
        </p:txBody>
      </p:sp>
      <p:sp>
        <p:nvSpPr>
          <p:cNvPr id="15" name="TextBox 14"/>
          <p:cNvSpPr txBox="1"/>
          <p:nvPr/>
        </p:nvSpPr>
        <p:spPr>
          <a:xfrm>
            <a:off x="731520" y="5861224"/>
            <a:ext cx="1042416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Carta de Política CP CIAAC-01/23 R03; MEPT, numeral 5.2.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Documento 9734 de la OACI</a:t>
            </a:r>
          </a:p>
        </p:txBody>
      </p:sp>
      <p:pic>
        <p:nvPicPr>
          <p:cNvPr id="3" name="Picture 2" descr="doc9734.png"/>
          <p:cNvPicPr>
            <a:picLocks noChangeAspect="1"/>
          </p:cNvPicPr>
          <p:nvPr/>
        </p:nvPicPr>
        <p:blipFill>
          <a:blip r:embed="rId3"/>
          <a:stretch>
            <a:fillRect/>
          </a:stretch>
        </p:blipFill>
        <p:spPr>
          <a:xfrm>
            <a:off x="8001000" y="1752149"/>
            <a:ext cx="3428741" cy="3943051"/>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4" name="TextBox 3"/>
          <p:cNvSpPr txBox="1"/>
          <p:nvPr/>
        </p:nvSpPr>
        <p:spPr>
          <a:xfrm>
            <a:off x="731520" y="1835161"/>
            <a:ext cx="6949440" cy="2354171"/>
          </a:xfrm>
          <a:prstGeom prst="rect">
            <a:avLst/>
          </a:prstGeom>
          <a:noFill/>
        </p:spPr>
        <p:txBody>
          <a:bodyPr wrap="square" lIns="45720" rIns="45720" anchor="t">
            <a:spAutoFit/>
          </a:bodyPr>
          <a:lstStyle/>
          <a:p>
            <a:pPr algn="l">
              <a:lnSpc>
                <a:spcPct val="110000"/>
              </a:lnSpc>
              <a:spcAft>
                <a:spcPts val="800"/>
              </a:spcAft>
            </a:pPr>
            <a:r>
              <a:rPr sz="2200" b="0" i="0" u="none" dirty="0">
                <a:solidFill>
                  <a:srgbClr val="182430"/>
                </a:solidFill>
                <a:latin typeface="Montserrat Medium"/>
                <a:ea typeface="Montserrat Medium"/>
                <a:cs typeface="Montserrat Medium"/>
              </a:rPr>
              <a:t>El </a:t>
            </a:r>
            <a:r>
              <a:rPr sz="2200" b="1" dirty="0">
                <a:solidFill>
                  <a:srgbClr val="0E2A47"/>
                </a:solidFill>
                <a:highlight>
                  <a:srgbClr val="EFDDB0"/>
                </a:highlight>
                <a:latin typeface="Montserrat Medium"/>
              </a:rPr>
              <a:t>Doc 9734, </a:t>
            </a:r>
            <a:r>
              <a:rPr sz="2200" b="1" dirty="0" err="1">
                <a:solidFill>
                  <a:srgbClr val="0E2A47"/>
                </a:solidFill>
                <a:highlight>
                  <a:srgbClr val="EFDDB0"/>
                </a:highlight>
                <a:latin typeface="Montserrat Medium"/>
              </a:rPr>
              <a:t>Parte</a:t>
            </a:r>
            <a:r>
              <a:rPr sz="2200" b="1" dirty="0">
                <a:solidFill>
                  <a:srgbClr val="0E2A47"/>
                </a:solidFill>
                <a:highlight>
                  <a:srgbClr val="EFDDB0"/>
                </a:highlight>
                <a:latin typeface="Montserrat Medium"/>
              </a:rPr>
              <a:t> A </a:t>
            </a:r>
            <a:r>
              <a:rPr sz="2200" b="0" i="0" u="none" dirty="0" err="1">
                <a:solidFill>
                  <a:srgbClr val="182430"/>
                </a:solidFill>
                <a:latin typeface="Montserrat Medium"/>
                <a:ea typeface="Montserrat Medium"/>
                <a:cs typeface="Montserrat Medium"/>
              </a:rPr>
              <a:t>establece</a:t>
            </a:r>
            <a:r>
              <a:rPr sz="2200" b="0" i="0" u="none" dirty="0">
                <a:solidFill>
                  <a:srgbClr val="182430"/>
                </a:solidFill>
                <a:latin typeface="Montserrat Medium"/>
                <a:ea typeface="Montserrat Medium"/>
                <a:cs typeface="Montserrat Medium"/>
              </a:rPr>
              <a:t> las </a:t>
            </a:r>
            <a:r>
              <a:rPr sz="2200" b="0" i="0" u="none" dirty="0" err="1">
                <a:solidFill>
                  <a:srgbClr val="182430"/>
                </a:solidFill>
                <a:latin typeface="Montserrat Medium"/>
                <a:ea typeface="Montserrat Medium"/>
                <a:cs typeface="Montserrat Medium"/>
              </a:rPr>
              <a:t>responsabilidades</a:t>
            </a:r>
            <a:r>
              <a:rPr sz="2200" b="0" i="0" u="none" dirty="0">
                <a:solidFill>
                  <a:srgbClr val="182430"/>
                </a:solidFill>
                <a:latin typeface="Montserrat Medium"/>
                <a:ea typeface="Montserrat Medium"/>
                <a:cs typeface="Montserrat Medium"/>
              </a:rPr>
              <a:t> de </a:t>
            </a:r>
            <a:r>
              <a:rPr sz="2200" b="0" i="0" u="none" dirty="0" err="1">
                <a:solidFill>
                  <a:srgbClr val="182430"/>
                </a:solidFill>
                <a:latin typeface="Montserrat Medium"/>
                <a:ea typeface="Montserrat Medium"/>
                <a:cs typeface="Montserrat Medium"/>
              </a:rPr>
              <a:t>los</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Estados</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miembros</a:t>
            </a:r>
            <a:r>
              <a:rPr sz="2200" b="0" i="0" u="none" dirty="0">
                <a:solidFill>
                  <a:srgbClr val="182430"/>
                </a:solidFill>
                <a:latin typeface="Montserrat Medium"/>
                <a:ea typeface="Montserrat Medium"/>
                <a:cs typeface="Montserrat Medium"/>
              </a:rPr>
              <a:t> de la OACI </a:t>
            </a:r>
            <a:r>
              <a:rPr sz="2200" b="0" i="0" u="none" dirty="0" err="1">
                <a:solidFill>
                  <a:srgbClr val="182430"/>
                </a:solidFill>
                <a:latin typeface="Montserrat Medium"/>
                <a:ea typeface="Montserrat Medium"/>
                <a:cs typeface="Montserrat Medium"/>
              </a:rPr>
              <a:t>en</a:t>
            </a:r>
            <a:r>
              <a:rPr sz="2200" b="0" i="0" u="none" dirty="0">
                <a:solidFill>
                  <a:srgbClr val="182430"/>
                </a:solidFill>
                <a:latin typeface="Montserrat Medium"/>
                <a:ea typeface="Montserrat Medium"/>
                <a:cs typeface="Montserrat Medium"/>
              </a:rPr>
              <a:t> la </a:t>
            </a:r>
            <a:r>
              <a:rPr sz="2200" b="1" dirty="0" err="1">
                <a:solidFill>
                  <a:srgbClr val="0E2A47"/>
                </a:solidFill>
                <a:highlight>
                  <a:srgbClr val="EFDDB0"/>
                </a:highlight>
                <a:latin typeface="Montserrat Medium"/>
              </a:rPr>
              <a:t>vigilancia</a:t>
            </a:r>
            <a:r>
              <a:rPr sz="2200" b="1" dirty="0">
                <a:solidFill>
                  <a:srgbClr val="0E2A47"/>
                </a:solidFill>
                <a:highlight>
                  <a:srgbClr val="EFDDB0"/>
                </a:highlight>
                <a:latin typeface="Montserrat Medium"/>
              </a:rPr>
              <a:t> de la </a:t>
            </a:r>
            <a:r>
              <a:rPr sz="2200" b="1" dirty="0" err="1">
                <a:solidFill>
                  <a:srgbClr val="0E2A47"/>
                </a:solidFill>
                <a:highlight>
                  <a:srgbClr val="EFDDB0"/>
                </a:highlight>
                <a:latin typeface="Montserrat Medium"/>
              </a:rPr>
              <a:t>seguridad</a:t>
            </a:r>
            <a:r>
              <a:rPr sz="2200" b="1" dirty="0">
                <a:solidFill>
                  <a:srgbClr val="0E2A47"/>
                </a:solidFill>
                <a:highlight>
                  <a:srgbClr val="EFDDB0"/>
                </a:highlight>
                <a:latin typeface="Montserrat Medium"/>
              </a:rPr>
              <a:t> </a:t>
            </a:r>
            <a:r>
              <a:rPr sz="2200" b="1" dirty="0" err="1">
                <a:solidFill>
                  <a:srgbClr val="0E2A47"/>
                </a:solidFill>
                <a:highlight>
                  <a:srgbClr val="EFDDB0"/>
                </a:highlight>
                <a:latin typeface="Montserrat Medium"/>
              </a:rPr>
              <a:t>operacional</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como</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signatarios</a:t>
            </a:r>
            <a:r>
              <a:rPr sz="2200" b="0" i="0" u="none" dirty="0">
                <a:solidFill>
                  <a:srgbClr val="182430"/>
                </a:solidFill>
                <a:latin typeface="Montserrat Medium"/>
                <a:ea typeface="Montserrat Medium"/>
                <a:cs typeface="Montserrat Medium"/>
              </a:rPr>
              <a:t> del </a:t>
            </a:r>
            <a:r>
              <a:rPr sz="2200" b="1" dirty="0" err="1">
                <a:solidFill>
                  <a:srgbClr val="0E2A47"/>
                </a:solidFill>
                <a:highlight>
                  <a:srgbClr val="EFDDB0"/>
                </a:highlight>
                <a:latin typeface="Montserrat Medium"/>
              </a:rPr>
              <a:t>Convenio</a:t>
            </a:r>
            <a:r>
              <a:rPr sz="2200" b="1" dirty="0">
                <a:solidFill>
                  <a:srgbClr val="0E2A47"/>
                </a:solidFill>
                <a:highlight>
                  <a:srgbClr val="EFDDB0"/>
                </a:highlight>
                <a:latin typeface="Montserrat Medium"/>
              </a:rPr>
              <a:t> de Chicago</a:t>
            </a:r>
            <a:r>
              <a:rPr sz="2200" b="0" i="0" u="none" dirty="0">
                <a:solidFill>
                  <a:srgbClr val="182430"/>
                </a:solidFill>
                <a:latin typeface="Montserrat Medium"/>
                <a:ea typeface="Montserrat Medium"/>
                <a:cs typeface="Montserrat Medium"/>
              </a:rPr>
              <a:t>, </a:t>
            </a:r>
            <a:r>
              <a:rPr sz="2200" b="0" i="0" u="none" dirty="0" err="1">
                <a:solidFill>
                  <a:srgbClr val="182430"/>
                </a:solidFill>
                <a:latin typeface="Montserrat Medium"/>
                <a:ea typeface="Montserrat Medium"/>
                <a:cs typeface="Montserrat Medium"/>
              </a:rPr>
              <a:t>mediante</a:t>
            </a:r>
            <a:r>
              <a:rPr sz="2200" b="0" i="0" u="none" dirty="0">
                <a:solidFill>
                  <a:srgbClr val="182430"/>
                </a:solidFill>
                <a:latin typeface="Montserrat Medium"/>
                <a:ea typeface="Montserrat Medium"/>
                <a:cs typeface="Montserrat Medium"/>
              </a:rPr>
              <a:t> la </a:t>
            </a:r>
            <a:r>
              <a:rPr sz="2200" b="0" i="0" u="none" dirty="0" err="1">
                <a:solidFill>
                  <a:srgbClr val="182430"/>
                </a:solidFill>
                <a:latin typeface="Montserrat Medium"/>
                <a:ea typeface="Montserrat Medium"/>
                <a:cs typeface="Montserrat Medium"/>
              </a:rPr>
              <a:t>implantación</a:t>
            </a:r>
            <a:r>
              <a:rPr sz="2200" b="0" i="0" u="none" dirty="0">
                <a:solidFill>
                  <a:srgbClr val="182430"/>
                </a:solidFill>
                <a:latin typeface="Montserrat Medium"/>
                <a:ea typeface="Montserrat Medium"/>
                <a:cs typeface="Montserrat Medium"/>
              </a:rPr>
              <a:t> de </a:t>
            </a:r>
            <a:r>
              <a:rPr sz="2200" b="0" i="0" u="none" dirty="0" err="1">
                <a:solidFill>
                  <a:srgbClr val="182430"/>
                </a:solidFill>
                <a:latin typeface="Montserrat Medium"/>
                <a:ea typeface="Montserrat Medium"/>
                <a:cs typeface="Montserrat Medium"/>
              </a:rPr>
              <a:t>los</a:t>
            </a:r>
            <a:r>
              <a:rPr sz="2200" b="0" i="0" u="none" dirty="0">
                <a:solidFill>
                  <a:srgbClr val="182430"/>
                </a:solidFill>
                <a:latin typeface="Montserrat Medium"/>
                <a:ea typeface="Montserrat Medium"/>
                <a:cs typeface="Montserrat Medium"/>
              </a:rPr>
              <a:t> </a:t>
            </a:r>
            <a:r>
              <a:rPr sz="2200" b="1" dirty="0" err="1">
                <a:solidFill>
                  <a:srgbClr val="0E2A47"/>
                </a:solidFill>
                <a:highlight>
                  <a:srgbClr val="EFDDB0"/>
                </a:highlight>
                <a:latin typeface="Montserrat Medium"/>
              </a:rPr>
              <a:t>ocho</a:t>
            </a:r>
            <a:r>
              <a:rPr sz="2200" b="1" dirty="0">
                <a:solidFill>
                  <a:srgbClr val="0E2A47"/>
                </a:solidFill>
                <a:highlight>
                  <a:srgbClr val="EFDDB0"/>
                </a:highlight>
                <a:latin typeface="Montserrat Medium"/>
              </a:rPr>
              <a:t> </a:t>
            </a:r>
            <a:r>
              <a:rPr sz="2200" b="1" dirty="0" err="1">
                <a:solidFill>
                  <a:srgbClr val="0E2A47"/>
                </a:solidFill>
                <a:highlight>
                  <a:srgbClr val="EFDDB0"/>
                </a:highlight>
                <a:latin typeface="Montserrat Medium"/>
              </a:rPr>
              <a:t>elementos</a:t>
            </a:r>
            <a:r>
              <a:rPr sz="2200" b="1" dirty="0">
                <a:solidFill>
                  <a:srgbClr val="0E2A47"/>
                </a:solidFill>
                <a:highlight>
                  <a:srgbClr val="EFDDB0"/>
                </a:highlight>
                <a:latin typeface="Montserrat Medium"/>
              </a:rPr>
              <a:t> </a:t>
            </a:r>
            <a:r>
              <a:rPr sz="2200" b="1" dirty="0" err="1">
                <a:solidFill>
                  <a:srgbClr val="0E2A47"/>
                </a:solidFill>
                <a:highlight>
                  <a:srgbClr val="EFDDB0"/>
                </a:highlight>
                <a:latin typeface="Montserrat Medium"/>
              </a:rPr>
              <a:t>críticos</a:t>
            </a:r>
            <a:r>
              <a:rPr sz="2200" b="1" dirty="0">
                <a:solidFill>
                  <a:srgbClr val="0E2A47"/>
                </a:solidFill>
                <a:highlight>
                  <a:srgbClr val="EFDDB0"/>
                </a:highlight>
                <a:latin typeface="Montserrat Medium"/>
              </a:rPr>
              <a:t>.</a:t>
            </a:r>
          </a:p>
        </p:txBody>
      </p:sp>
      <p:sp>
        <p:nvSpPr>
          <p:cNvPr id="5" name="Rounded Rectangle 4"/>
          <p:cNvSpPr/>
          <p:nvPr/>
        </p:nvSpPr>
        <p:spPr>
          <a:xfrm>
            <a:off x="731520" y="4948096"/>
            <a:ext cx="6949440" cy="747104"/>
          </a:xfrm>
          <a:prstGeom prst="roundRect">
            <a:avLst>
              <a:gd name="adj" fmla="val 10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600" b="1" i="0" u="none">
                <a:solidFill>
                  <a:srgbClr val="0E2A47"/>
                </a:solidFill>
                <a:highlight>
                  <a:srgbClr val="E6CC8F"/>
                </a:highlight>
                <a:latin typeface="Montserrat Medium"/>
                <a:ea typeface="Montserrat Medium"/>
                <a:cs typeface="Montserrat Medium"/>
              </a:rPr>
              <a:t>Manual de vigilancia de la seguridad operacional</a:t>
            </a:r>
          </a:p>
          <a:p>
            <a:pPr algn="ctr">
              <a:spcAft>
                <a:spcPts val="0"/>
              </a:spcAft>
            </a:pPr>
            <a:r>
              <a:rPr sz="1600" b="0" i="0" u="none">
                <a:solidFill>
                  <a:srgbClr val="182430"/>
                </a:solidFill>
                <a:latin typeface="Montserrat Medium"/>
                <a:ea typeface="Montserrat Medium"/>
                <a:cs typeface="Montserrat Medium"/>
              </a:rPr>
              <a:t>Parte A · Tercera edición, 2017</a:t>
            </a:r>
          </a:p>
        </p:txBody>
      </p:sp>
      <p:sp>
        <p:nvSpPr>
          <p:cNvPr id="6" name="TextBox 5"/>
          <p:cNvSpPr txBox="1"/>
          <p:nvPr/>
        </p:nvSpPr>
        <p:spPr>
          <a:xfrm>
            <a:off x="731520" y="5902730"/>
            <a:ext cx="6949440" cy="332046"/>
          </a:xfrm>
          <a:prstGeom prst="rect">
            <a:avLst/>
          </a:prstGeom>
          <a:noFill/>
        </p:spPr>
        <p:txBody>
          <a:bodyPr wrap="square" lIns="45720" rIns="45720" anchor="t">
            <a:spAutoFit/>
          </a:bodyPr>
          <a:lstStyle/>
          <a:p>
            <a:pPr algn="l">
              <a:lnSpc>
                <a:spcPct val="100000"/>
              </a:lnSpc>
              <a:spcAft>
                <a:spcPts val="600"/>
              </a:spcAft>
            </a:pPr>
            <a:r>
              <a:rPr sz="1200" b="0" i="0" u="none">
                <a:solidFill>
                  <a:srgbClr val="5C6B7A"/>
                </a:solidFill>
                <a:latin typeface="Montserrat"/>
                <a:ea typeface="Montserrat"/>
                <a:cs typeface="Montserrat"/>
              </a:rPr>
              <a:t>Fuente: OACI, Doc 9734, Parte A; MEPT, Documentos de referencia.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Los 8 elementos críticos de la OACI</a:t>
            </a:r>
          </a:p>
        </p:txBody>
      </p:sp>
      <p:sp>
        <p:nvSpPr>
          <p:cNvPr id="3" name="TextBox 2"/>
          <p:cNvSpPr txBox="1"/>
          <p:nvPr/>
        </p:nvSpPr>
        <p:spPr>
          <a:xfrm>
            <a:off x="731520" y="1669137"/>
            <a:ext cx="10424160" cy="664092"/>
          </a:xfrm>
          <a:prstGeom prst="rect">
            <a:avLst/>
          </a:prstGeom>
          <a:noFill/>
        </p:spPr>
        <p:txBody>
          <a:bodyPr wrap="square" lIns="45720" rIns="45720" anchor="t">
            <a:spAutoFit/>
          </a:bodyPr>
          <a:lstStyle/>
          <a:p>
            <a:pPr algn="l">
              <a:lnSpc>
                <a:spcPct val="100000"/>
              </a:lnSpc>
              <a:spcAft>
                <a:spcPts val="600"/>
              </a:spcAft>
            </a:pPr>
            <a:r>
              <a:rPr sz="1800" b="0" i="0" u="none">
                <a:solidFill>
                  <a:srgbClr val="182430"/>
                </a:solidFill>
                <a:latin typeface="Montserrat Medium"/>
                <a:ea typeface="Montserrat Medium"/>
                <a:cs typeface="Montserrat Medium"/>
              </a:rPr>
              <a:t>La OACI define </a:t>
            </a:r>
            <a:r>
              <a:rPr sz="1800" b="1" i="0" u="none">
                <a:solidFill>
                  <a:srgbClr val="182430"/>
                </a:solidFill>
                <a:latin typeface="Montserrat Medium"/>
                <a:ea typeface="Montserrat Medium"/>
                <a:cs typeface="Montserrat Medium"/>
              </a:rPr>
              <a:t>8 elementos críticos (CE)</a:t>
            </a:r>
            <a:r>
              <a:rPr sz="1800" b="0" i="0" u="none">
                <a:solidFill>
                  <a:srgbClr val="182430"/>
                </a:solidFill>
                <a:latin typeface="Montserrat Medium"/>
                <a:ea typeface="Montserrat Medium"/>
                <a:cs typeface="Montserrat Medium"/>
              </a:rPr>
              <a:t> del sistema de vigilancia de la seguridad operacional de un Estado. La AFAC debe cumplirlos todos.</a:t>
            </a:r>
          </a:p>
        </p:txBody>
      </p:sp>
      <p:sp>
        <p:nvSpPr>
          <p:cNvPr id="4" name="Rounded Rectangle 3"/>
          <p:cNvSpPr/>
          <p:nvPr/>
        </p:nvSpPr>
        <p:spPr>
          <a:xfrm>
            <a:off x="731520" y="2457748"/>
            <a:ext cx="6400800" cy="415058"/>
          </a:xfrm>
          <a:prstGeom prst="roundRect">
            <a:avLst>
              <a:gd name="adj" fmla="val 15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Establecer el sistema</a:t>
            </a:r>
          </a:p>
        </p:txBody>
      </p:sp>
      <p:sp>
        <p:nvSpPr>
          <p:cNvPr id="5" name="Rounded Rectangle 4"/>
          <p:cNvSpPr/>
          <p:nvPr/>
        </p:nvSpPr>
        <p:spPr>
          <a:xfrm>
            <a:off x="7360920" y="2457748"/>
            <a:ext cx="3794760" cy="415058"/>
          </a:xfrm>
          <a:prstGeom prst="roundRect">
            <a:avLst>
              <a:gd name="adj" fmla="val 15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Implementar el sistema</a:t>
            </a:r>
          </a:p>
        </p:txBody>
      </p:sp>
      <p:sp>
        <p:nvSpPr>
          <p:cNvPr id="6" name="Rounded Rectangle 5"/>
          <p:cNvSpPr/>
          <p:nvPr/>
        </p:nvSpPr>
        <p:spPr>
          <a:xfrm>
            <a:off x="731520" y="2997323"/>
            <a:ext cx="2029968"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CE-1</a:t>
            </a:r>
          </a:p>
          <a:p>
            <a:pPr algn="ctr">
              <a:spcAft>
                <a:spcPts val="0"/>
              </a:spcAft>
            </a:pPr>
            <a:r>
              <a:rPr sz="1400" b="0" i="0" u="none">
                <a:solidFill>
                  <a:srgbClr val="182430"/>
                </a:solidFill>
                <a:latin typeface="Montserrat Medium"/>
                <a:ea typeface="Montserrat Medium"/>
                <a:cs typeface="Montserrat Medium"/>
              </a:rPr>
              <a:t>Legislación aeronáutica básica</a:t>
            </a:r>
          </a:p>
        </p:txBody>
      </p:sp>
      <p:sp>
        <p:nvSpPr>
          <p:cNvPr id="7" name="Rounded Rectangle 6"/>
          <p:cNvSpPr/>
          <p:nvPr/>
        </p:nvSpPr>
        <p:spPr>
          <a:xfrm>
            <a:off x="2898648" y="2997323"/>
            <a:ext cx="2029968"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CE-2</a:t>
            </a:r>
          </a:p>
          <a:p>
            <a:pPr algn="ctr">
              <a:spcAft>
                <a:spcPts val="0"/>
              </a:spcAft>
            </a:pPr>
            <a:r>
              <a:rPr sz="1400" b="0" i="0" u="none">
                <a:solidFill>
                  <a:srgbClr val="182430"/>
                </a:solidFill>
                <a:latin typeface="Montserrat Medium"/>
                <a:ea typeface="Montserrat Medium"/>
                <a:cs typeface="Montserrat Medium"/>
              </a:rPr>
              <a:t>Reglamentos de explotación específicos</a:t>
            </a:r>
          </a:p>
        </p:txBody>
      </p:sp>
      <p:sp>
        <p:nvSpPr>
          <p:cNvPr id="8" name="Rounded Rectangle 7"/>
          <p:cNvSpPr/>
          <p:nvPr/>
        </p:nvSpPr>
        <p:spPr>
          <a:xfrm>
            <a:off x="5065776" y="2997323"/>
            <a:ext cx="2029968"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CE-3</a:t>
            </a:r>
          </a:p>
          <a:p>
            <a:pPr algn="ctr">
              <a:spcAft>
                <a:spcPts val="0"/>
              </a:spcAft>
            </a:pPr>
            <a:r>
              <a:rPr sz="1400" b="0" i="0" u="none">
                <a:solidFill>
                  <a:srgbClr val="182430"/>
                </a:solidFill>
                <a:latin typeface="Montserrat Medium"/>
                <a:ea typeface="Montserrat Medium"/>
                <a:cs typeface="Montserrat Medium"/>
              </a:rPr>
              <a:t>Sistema y funciones estatales</a:t>
            </a:r>
          </a:p>
        </p:txBody>
      </p:sp>
      <p:sp>
        <p:nvSpPr>
          <p:cNvPr id="9" name="Rounded Rectangle 8"/>
          <p:cNvSpPr/>
          <p:nvPr/>
        </p:nvSpPr>
        <p:spPr>
          <a:xfrm>
            <a:off x="1305891" y="4325509"/>
            <a:ext cx="2029968" cy="1203668"/>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dirty="0">
                <a:solidFill>
                  <a:srgbClr val="FFFFFF"/>
                </a:solidFill>
                <a:latin typeface="Montserrat Medium"/>
                <a:ea typeface="Montserrat Medium"/>
                <a:cs typeface="Montserrat Medium"/>
              </a:rPr>
              <a:t>CE-4</a:t>
            </a:r>
          </a:p>
          <a:p>
            <a:pPr algn="ctr">
              <a:spcAft>
                <a:spcPts val="0"/>
              </a:spcAft>
            </a:pPr>
            <a:r>
              <a:rPr sz="1400" b="0" i="0" u="none" dirty="0">
                <a:solidFill>
                  <a:srgbClr val="FFFFFF"/>
                </a:solidFill>
                <a:latin typeface="Montserrat Medium"/>
                <a:ea typeface="Montserrat Medium"/>
                <a:cs typeface="Montserrat Medium"/>
              </a:rPr>
              <a:t>Personal </a:t>
            </a:r>
            <a:r>
              <a:rPr sz="1400" b="0" i="0" u="none" dirty="0" err="1">
                <a:solidFill>
                  <a:srgbClr val="FFFFFF"/>
                </a:solidFill>
                <a:latin typeface="Montserrat Medium"/>
                <a:ea typeface="Montserrat Medium"/>
                <a:cs typeface="Montserrat Medium"/>
              </a:rPr>
              <a:t>técnico</a:t>
            </a:r>
            <a:r>
              <a:rPr sz="1400" b="0" i="0" u="none" dirty="0">
                <a:solidFill>
                  <a:srgbClr val="FFFFFF"/>
                </a:solidFill>
                <a:latin typeface="Montserrat Medium"/>
                <a:ea typeface="Montserrat Medium"/>
                <a:cs typeface="Montserrat Medium"/>
              </a:rPr>
              <a:t> </a:t>
            </a:r>
            <a:r>
              <a:rPr sz="1400" b="0" i="0" u="none" dirty="0" err="1">
                <a:solidFill>
                  <a:srgbClr val="FFFFFF"/>
                </a:solidFill>
                <a:latin typeface="Montserrat Medium"/>
                <a:ea typeface="Montserrat Medium"/>
                <a:cs typeface="Montserrat Medium"/>
              </a:rPr>
              <a:t>cualificado</a:t>
            </a:r>
            <a:endParaRPr sz="1400" b="0" i="0" u="none" dirty="0">
              <a:solidFill>
                <a:srgbClr val="FFFFFF"/>
              </a:solidFill>
              <a:latin typeface="Montserrat Medium"/>
              <a:ea typeface="Montserrat Medium"/>
              <a:cs typeface="Montserrat Medium"/>
            </a:endParaRPr>
          </a:p>
        </p:txBody>
      </p:sp>
      <p:sp>
        <p:nvSpPr>
          <p:cNvPr id="10" name="Rounded Rectangle 9"/>
          <p:cNvSpPr/>
          <p:nvPr/>
        </p:nvSpPr>
        <p:spPr>
          <a:xfrm>
            <a:off x="5065776" y="4325508"/>
            <a:ext cx="2029968"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dirty="0">
                <a:solidFill>
                  <a:srgbClr val="1B4A78"/>
                </a:solidFill>
                <a:latin typeface="Montserrat Medium"/>
                <a:ea typeface="Montserrat Medium"/>
                <a:cs typeface="Montserrat Medium"/>
              </a:rPr>
              <a:t>CE-5</a:t>
            </a:r>
          </a:p>
          <a:p>
            <a:pPr algn="ctr">
              <a:spcAft>
                <a:spcPts val="0"/>
              </a:spcAft>
            </a:pPr>
            <a:r>
              <a:rPr sz="1400" b="0" i="0" u="none" dirty="0" err="1">
                <a:solidFill>
                  <a:srgbClr val="182430"/>
                </a:solidFill>
                <a:latin typeface="Montserrat Medium"/>
                <a:ea typeface="Montserrat Medium"/>
                <a:cs typeface="Montserrat Medium"/>
              </a:rPr>
              <a:t>Orientación</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técnica</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instrumentos</a:t>
            </a:r>
            <a:r>
              <a:rPr sz="1400" b="0" i="0" u="none" dirty="0">
                <a:solidFill>
                  <a:srgbClr val="182430"/>
                </a:solidFill>
                <a:latin typeface="Montserrat Medium"/>
                <a:ea typeface="Montserrat Medium"/>
                <a:cs typeface="Montserrat Medium"/>
              </a:rPr>
              <a:t> e </a:t>
            </a:r>
            <a:r>
              <a:rPr sz="1400" b="0" i="0" u="none" dirty="0" err="1">
                <a:solidFill>
                  <a:srgbClr val="182430"/>
                </a:solidFill>
                <a:latin typeface="Montserrat Medium"/>
                <a:ea typeface="Montserrat Medium"/>
                <a:cs typeface="Montserrat Medium"/>
              </a:rPr>
              <a:t>información</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crítica</a:t>
            </a:r>
            <a:endParaRPr sz="1400" b="0" i="0" u="none" dirty="0">
              <a:solidFill>
                <a:srgbClr val="182430"/>
              </a:solidFill>
              <a:latin typeface="Montserrat Medium"/>
              <a:ea typeface="Montserrat Medium"/>
              <a:cs typeface="Montserrat Medium"/>
            </a:endParaRPr>
          </a:p>
        </p:txBody>
      </p:sp>
      <p:sp>
        <p:nvSpPr>
          <p:cNvPr id="11" name="Rounded Rectangle 10"/>
          <p:cNvSpPr/>
          <p:nvPr/>
        </p:nvSpPr>
        <p:spPr>
          <a:xfrm>
            <a:off x="7360920" y="2997323"/>
            <a:ext cx="3794760" cy="788610"/>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CE-6</a:t>
            </a:r>
          </a:p>
          <a:p>
            <a:pPr algn="ctr">
              <a:spcAft>
                <a:spcPts val="0"/>
              </a:spcAft>
            </a:pPr>
            <a:r>
              <a:rPr sz="1400" b="0" i="0" u="none">
                <a:solidFill>
                  <a:srgbClr val="182430"/>
                </a:solidFill>
                <a:latin typeface="Montserrat Medium"/>
                <a:ea typeface="Montserrat Medium"/>
                <a:cs typeface="Montserrat Medium"/>
              </a:rPr>
              <a:t>Otorgamiento de licencias, certificación, autorización y aprobación</a:t>
            </a:r>
          </a:p>
        </p:txBody>
      </p:sp>
      <p:sp>
        <p:nvSpPr>
          <p:cNvPr id="12" name="Rounded Rectangle 11"/>
          <p:cNvSpPr/>
          <p:nvPr/>
        </p:nvSpPr>
        <p:spPr>
          <a:xfrm>
            <a:off x="7360920" y="3885547"/>
            <a:ext cx="3794760" cy="788610"/>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CE-7</a:t>
            </a:r>
          </a:p>
          <a:p>
            <a:pPr algn="ctr">
              <a:spcAft>
                <a:spcPts val="0"/>
              </a:spcAft>
            </a:pPr>
            <a:r>
              <a:rPr sz="1400" b="0" i="0" u="none">
                <a:solidFill>
                  <a:srgbClr val="182430"/>
                </a:solidFill>
                <a:latin typeface="Montserrat Medium"/>
                <a:ea typeface="Montserrat Medium"/>
                <a:cs typeface="Montserrat Medium"/>
              </a:rPr>
              <a:t>Obligaciones de vigilancia</a:t>
            </a:r>
          </a:p>
        </p:txBody>
      </p:sp>
      <p:sp>
        <p:nvSpPr>
          <p:cNvPr id="13" name="Rounded Rectangle 12"/>
          <p:cNvSpPr/>
          <p:nvPr/>
        </p:nvSpPr>
        <p:spPr>
          <a:xfrm>
            <a:off x="7360920" y="4773772"/>
            <a:ext cx="3794760" cy="788610"/>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ctr">
              <a:spcAft>
                <a:spcPts val="0"/>
              </a:spcAft>
            </a:pPr>
            <a:r>
              <a:rPr sz="1400" b="1" i="0" u="none">
                <a:solidFill>
                  <a:srgbClr val="1B4A78"/>
                </a:solidFill>
                <a:latin typeface="Montserrat Medium"/>
                <a:ea typeface="Montserrat Medium"/>
                <a:cs typeface="Montserrat Medium"/>
              </a:rPr>
              <a:t>CE-8</a:t>
            </a:r>
          </a:p>
          <a:p>
            <a:pPr algn="ctr">
              <a:spcAft>
                <a:spcPts val="0"/>
              </a:spcAft>
            </a:pPr>
            <a:r>
              <a:rPr sz="1400" b="0" i="0" u="none">
                <a:solidFill>
                  <a:srgbClr val="182430"/>
                </a:solidFill>
                <a:latin typeface="Montserrat Medium"/>
                <a:ea typeface="Montserrat Medium"/>
                <a:cs typeface="Montserrat Medium"/>
              </a:rPr>
              <a:t>Solución de problemas de seguridad operacional</a:t>
            </a:r>
          </a:p>
        </p:txBody>
      </p:sp>
      <p:sp>
        <p:nvSpPr>
          <p:cNvPr id="14" name="Rounded Rectangle 13"/>
          <p:cNvSpPr/>
          <p:nvPr/>
        </p:nvSpPr>
        <p:spPr>
          <a:xfrm>
            <a:off x="3208725" y="4429273"/>
            <a:ext cx="1234986" cy="996139"/>
          </a:xfrm>
          <a:prstGeom prst="roundRect">
            <a:avLst>
              <a:gd name="adj" fmla="val 10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54864" tIns="54864" rIns="54864" bIns="54864" rtlCol="0" anchor="ctr"/>
          <a:lstStyle/>
          <a:p>
            <a:pPr algn="ctr">
              <a:spcAft>
                <a:spcPts val="0"/>
              </a:spcAft>
            </a:pPr>
            <a:r>
              <a:rPr sz="1100" b="0" i="0" u="none" dirty="0" err="1">
                <a:solidFill>
                  <a:srgbClr val="182430"/>
                </a:solidFill>
                <a:latin typeface="Montserrat Medium"/>
                <a:ea typeface="Montserrat Medium"/>
                <a:cs typeface="Montserrat Medium"/>
              </a:rPr>
              <a:t>Aquí</a:t>
            </a:r>
            <a:r>
              <a:rPr sz="1100" b="0" i="0" u="none" dirty="0">
                <a:solidFill>
                  <a:srgbClr val="182430"/>
                </a:solidFill>
                <a:latin typeface="Montserrat Medium"/>
                <a:ea typeface="Montserrat Medium"/>
                <a:cs typeface="Montserrat Medium"/>
              </a:rPr>
              <a:t> se </a:t>
            </a:r>
            <a:r>
              <a:rPr sz="1100" b="0" i="0" u="none" dirty="0" err="1">
                <a:solidFill>
                  <a:srgbClr val="182430"/>
                </a:solidFill>
                <a:latin typeface="Montserrat Medium"/>
                <a:ea typeface="Montserrat Medium"/>
                <a:cs typeface="Montserrat Medium"/>
              </a:rPr>
              <a:t>ubica</a:t>
            </a:r>
            <a:endParaRPr sz="1100" b="0" i="0" u="none" dirty="0">
              <a:solidFill>
                <a:srgbClr val="182430"/>
              </a:solidFill>
              <a:latin typeface="Montserrat Medium"/>
              <a:ea typeface="Montserrat Medium"/>
              <a:cs typeface="Montserrat Medium"/>
            </a:endParaRPr>
          </a:p>
          <a:p>
            <a:pPr algn="ctr">
              <a:spcAft>
                <a:spcPts val="0"/>
              </a:spcAft>
            </a:pPr>
            <a:r>
              <a:rPr sz="1100" b="1" i="0" u="none" dirty="0">
                <a:solidFill>
                  <a:srgbClr val="0E2A47"/>
                </a:solidFill>
                <a:highlight>
                  <a:srgbClr val="E6CC8F"/>
                </a:highlight>
                <a:latin typeface="Montserrat Medium"/>
                <a:ea typeface="Montserrat Medium"/>
                <a:cs typeface="Montserrat Medium"/>
              </a:rPr>
              <a:t>el </a:t>
            </a:r>
            <a:r>
              <a:rPr sz="1100" b="1" i="0" u="none" dirty="0" err="1">
                <a:solidFill>
                  <a:srgbClr val="0E2A47"/>
                </a:solidFill>
                <a:highlight>
                  <a:srgbClr val="E6CC8F"/>
                </a:highlight>
                <a:latin typeface="Montserrat Medium"/>
                <a:ea typeface="Montserrat Medium"/>
                <a:cs typeface="Montserrat Medium"/>
              </a:rPr>
              <a:t>Programa</a:t>
            </a:r>
            <a:r>
              <a:rPr sz="1100" b="1" i="0" u="none" dirty="0">
                <a:solidFill>
                  <a:srgbClr val="0E2A47"/>
                </a:solidFill>
                <a:highlight>
                  <a:srgbClr val="E6CC8F"/>
                </a:highlight>
                <a:latin typeface="Montserrat Medium"/>
                <a:ea typeface="Montserrat Medium"/>
                <a:cs typeface="Montserrat Medium"/>
              </a:rPr>
              <a:t> OJT</a:t>
            </a:r>
          </a:p>
        </p:txBody>
      </p:sp>
      <p:sp>
        <p:nvSpPr>
          <p:cNvPr id="15" name="TextBox 14"/>
          <p:cNvSpPr txBox="1"/>
          <p:nvPr/>
        </p:nvSpPr>
        <p:spPr>
          <a:xfrm>
            <a:off x="731520" y="5902730"/>
            <a:ext cx="10058400" cy="332046"/>
          </a:xfrm>
          <a:prstGeom prst="rect">
            <a:avLst/>
          </a:prstGeom>
          <a:noFill/>
        </p:spPr>
        <p:txBody>
          <a:bodyPr wrap="square" lIns="45720" rIns="45720" anchor="t">
            <a:spAutoFit/>
          </a:bodyPr>
          <a:lstStyle/>
          <a:p>
            <a:pPr algn="l">
              <a:lnSpc>
                <a:spcPct val="100000"/>
              </a:lnSpc>
              <a:spcAft>
                <a:spcPts val="600"/>
              </a:spcAft>
            </a:pPr>
            <a:r>
              <a:rPr sz="1200" b="0" i="0" u="none">
                <a:solidFill>
                  <a:srgbClr val="5C6B7A"/>
                </a:solidFill>
                <a:latin typeface="Montserrat"/>
                <a:ea typeface="Montserrat"/>
                <a:cs typeface="Montserrat"/>
              </a:rPr>
              <a:t>Fuente: OACI, Doc 9734, Manual de vigilancia de la seguridad operacional, Parte A (3.ª ed., 2017); Anexo 19, Apéndice 1; MEPT, Documentos de referencia.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CE-4: personal técnico cualificado y el OJT</a:t>
            </a:r>
          </a:p>
        </p:txBody>
      </p:sp>
      <p:sp>
        <p:nvSpPr>
          <p:cNvPr id="3" name="TextBox 2"/>
          <p:cNvSpPr txBox="1"/>
          <p:nvPr/>
        </p:nvSpPr>
        <p:spPr>
          <a:xfrm>
            <a:off x="731520" y="1669137"/>
            <a:ext cx="10424160" cy="664092"/>
          </a:xfrm>
          <a:prstGeom prst="rect">
            <a:avLst/>
          </a:prstGeom>
          <a:noFill/>
        </p:spPr>
        <p:txBody>
          <a:bodyPr wrap="square" lIns="45720" rIns="45720" anchor="t">
            <a:spAutoFit/>
          </a:bodyPr>
          <a:lstStyle/>
          <a:p>
            <a:pPr algn="l">
              <a:lnSpc>
                <a:spcPct val="100000"/>
              </a:lnSpc>
              <a:spcAft>
                <a:spcPts val="600"/>
              </a:spcAft>
            </a:pPr>
            <a:r>
              <a:rPr sz="1800" b="0" i="0" u="none">
                <a:solidFill>
                  <a:srgbClr val="182430"/>
                </a:solidFill>
                <a:latin typeface="Montserrat Medium"/>
                <a:ea typeface="Montserrat Medium"/>
                <a:cs typeface="Montserrat Medium"/>
              </a:rPr>
              <a:t>Para cumplir el </a:t>
            </a:r>
            <a:r>
              <a:rPr sz="1800" b="1" i="0" u="none">
                <a:solidFill>
                  <a:srgbClr val="182430"/>
                </a:solidFill>
                <a:latin typeface="Montserrat Medium"/>
                <a:ea typeface="Montserrat Medium"/>
                <a:cs typeface="Montserrat Medium"/>
              </a:rPr>
              <a:t>CE-4</a:t>
            </a:r>
            <a:r>
              <a:rPr sz="1800" b="0" i="0" u="none">
                <a:solidFill>
                  <a:srgbClr val="182430"/>
                </a:solidFill>
                <a:latin typeface="Montserrat Medium"/>
                <a:ea typeface="Montserrat Medium"/>
                <a:cs typeface="Montserrat Medium"/>
              </a:rPr>
              <a:t>, el Estado debe asegurar que sus inspectores estén cualificados. Esto implica:</a:t>
            </a:r>
          </a:p>
        </p:txBody>
      </p:sp>
      <p:sp>
        <p:nvSpPr>
          <p:cNvPr id="4" name="Oval 3"/>
          <p:cNvSpPr/>
          <p:nvPr/>
        </p:nvSpPr>
        <p:spPr>
          <a:xfrm>
            <a:off x="2103120" y="2416242"/>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1</a:t>
            </a:r>
          </a:p>
        </p:txBody>
      </p:sp>
      <p:sp>
        <p:nvSpPr>
          <p:cNvPr id="5" name="Rounded Rectangle 4"/>
          <p:cNvSpPr/>
          <p:nvPr/>
        </p:nvSpPr>
        <p:spPr>
          <a:xfrm>
            <a:off x="731520" y="3038829"/>
            <a:ext cx="329184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Requisitos mínimos</a:t>
            </a:r>
          </a:p>
        </p:txBody>
      </p:sp>
      <p:sp>
        <p:nvSpPr>
          <p:cNvPr id="6" name="Rounded Rectangle 5"/>
          <p:cNvSpPr/>
          <p:nvPr/>
        </p:nvSpPr>
        <p:spPr>
          <a:xfrm>
            <a:off x="731520" y="3536899"/>
            <a:ext cx="3291840" cy="1203668"/>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500" b="0" i="0" u="none">
                <a:solidFill>
                  <a:srgbClr val="182430"/>
                </a:solidFill>
                <a:latin typeface="Montserrat Medium"/>
                <a:ea typeface="Montserrat Medium"/>
                <a:cs typeface="Montserrat Medium"/>
              </a:rPr>
              <a:t>de cualificación para el personal técnico que realiza funciones de vigilancia.</a:t>
            </a:r>
          </a:p>
        </p:txBody>
      </p:sp>
      <p:sp>
        <p:nvSpPr>
          <p:cNvPr id="7" name="Oval 6"/>
          <p:cNvSpPr/>
          <p:nvPr/>
        </p:nvSpPr>
        <p:spPr>
          <a:xfrm>
            <a:off x="5623560" y="2416242"/>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2</a:t>
            </a:r>
          </a:p>
        </p:txBody>
      </p:sp>
      <p:sp>
        <p:nvSpPr>
          <p:cNvPr id="8" name="Rounded Rectangle 7"/>
          <p:cNvSpPr/>
          <p:nvPr/>
        </p:nvSpPr>
        <p:spPr>
          <a:xfrm>
            <a:off x="4251960" y="3038829"/>
            <a:ext cx="329184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Instrucción continua</a:t>
            </a:r>
          </a:p>
        </p:txBody>
      </p:sp>
      <p:sp>
        <p:nvSpPr>
          <p:cNvPr id="9" name="Rounded Rectangle 8"/>
          <p:cNvSpPr/>
          <p:nvPr/>
        </p:nvSpPr>
        <p:spPr>
          <a:xfrm>
            <a:off x="4251960" y="3536899"/>
            <a:ext cx="3291840" cy="1203668"/>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500" b="0" i="0" u="none" dirty="0" err="1">
                <a:solidFill>
                  <a:srgbClr val="182430"/>
                </a:solidFill>
                <a:latin typeface="Montserrat Medium"/>
                <a:ea typeface="Montserrat Medium"/>
                <a:cs typeface="Montserrat Medium"/>
              </a:rPr>
              <a:t>inicial</a:t>
            </a:r>
            <a:r>
              <a:rPr sz="1500" b="0" i="0" u="none" dirty="0">
                <a:solidFill>
                  <a:srgbClr val="182430"/>
                </a:solidFill>
                <a:latin typeface="Montserrat Medium"/>
                <a:ea typeface="Montserrat Medium"/>
                <a:cs typeface="Montserrat Medium"/>
              </a:rPr>
              <a:t>, </a:t>
            </a:r>
            <a:r>
              <a:rPr sz="1500" b="0" i="0" u="none" dirty="0" err="1">
                <a:solidFill>
                  <a:srgbClr val="182430"/>
                </a:solidFill>
                <a:latin typeface="Montserrat Medium"/>
                <a:ea typeface="Montserrat Medium"/>
                <a:cs typeface="Montserrat Medium"/>
              </a:rPr>
              <a:t>periódica</a:t>
            </a:r>
            <a:r>
              <a:rPr sz="1500" b="0" i="0" u="none" dirty="0">
                <a:solidFill>
                  <a:srgbClr val="182430"/>
                </a:solidFill>
                <a:latin typeface="Montserrat Medium"/>
                <a:ea typeface="Montserrat Medium"/>
                <a:cs typeface="Montserrat Medium"/>
              </a:rPr>
              <a:t>, </a:t>
            </a:r>
            <a:r>
              <a:rPr sz="1500" b="0" i="0" u="none" dirty="0" err="1">
                <a:solidFill>
                  <a:srgbClr val="182430"/>
                </a:solidFill>
                <a:latin typeface="Montserrat Medium"/>
                <a:ea typeface="Montserrat Medium"/>
                <a:cs typeface="Montserrat Medium"/>
              </a:rPr>
              <a:t>especializada</a:t>
            </a:r>
            <a:r>
              <a:rPr sz="1500" b="0" i="0" u="none" dirty="0">
                <a:solidFill>
                  <a:srgbClr val="182430"/>
                </a:solidFill>
                <a:latin typeface="Montserrat Medium"/>
                <a:ea typeface="Montserrat Medium"/>
                <a:cs typeface="Montserrat Medium"/>
              </a:rPr>
              <a:t> y </a:t>
            </a:r>
            <a:r>
              <a:rPr sz="1500" b="1" i="0" u="none" dirty="0" err="1">
                <a:solidFill>
                  <a:srgbClr val="0E2A47"/>
                </a:solidFill>
                <a:highlight>
                  <a:srgbClr val="EFDDB0"/>
                </a:highlight>
                <a:latin typeface="Montserrat Medium"/>
                <a:ea typeface="Montserrat Medium"/>
                <a:cs typeface="Montserrat Medium"/>
              </a:rPr>
              <a:t>en</a:t>
            </a:r>
            <a:r>
              <a:rPr sz="1500" b="1" i="0" u="none" dirty="0">
                <a:solidFill>
                  <a:srgbClr val="0E2A47"/>
                </a:solidFill>
                <a:highlight>
                  <a:srgbClr val="EFDDB0"/>
                </a:highlight>
                <a:latin typeface="Montserrat Medium"/>
                <a:ea typeface="Montserrat Medium"/>
                <a:cs typeface="Montserrat Medium"/>
              </a:rPr>
              <a:t> el </a:t>
            </a:r>
            <a:r>
              <a:rPr sz="1500" b="1" i="0" u="none" dirty="0" err="1">
                <a:solidFill>
                  <a:srgbClr val="0E2A47"/>
                </a:solidFill>
                <a:highlight>
                  <a:srgbClr val="EFDDB0"/>
                </a:highlight>
                <a:latin typeface="Montserrat Medium"/>
                <a:ea typeface="Montserrat Medium"/>
                <a:cs typeface="Montserrat Medium"/>
              </a:rPr>
              <a:t>puesto</a:t>
            </a:r>
            <a:r>
              <a:rPr sz="1500" b="1" i="0" u="none" dirty="0">
                <a:solidFill>
                  <a:srgbClr val="0E2A47"/>
                </a:solidFill>
                <a:highlight>
                  <a:srgbClr val="EFDDB0"/>
                </a:highlight>
                <a:latin typeface="Montserrat Medium"/>
                <a:ea typeface="Montserrat Medium"/>
                <a:cs typeface="Montserrat Medium"/>
              </a:rPr>
              <a:t> de </a:t>
            </a:r>
            <a:r>
              <a:rPr sz="1500" b="1" i="0" u="none" dirty="0" err="1">
                <a:solidFill>
                  <a:srgbClr val="0E2A47"/>
                </a:solidFill>
                <a:highlight>
                  <a:srgbClr val="EFDDB0"/>
                </a:highlight>
                <a:latin typeface="Montserrat Medium"/>
                <a:ea typeface="Montserrat Medium"/>
                <a:cs typeface="Montserrat Medium"/>
              </a:rPr>
              <a:t>trabajo</a:t>
            </a:r>
            <a:r>
              <a:rPr sz="1500" b="1" i="0" u="none" dirty="0">
                <a:solidFill>
                  <a:srgbClr val="0E2A47"/>
                </a:solidFill>
                <a:highlight>
                  <a:srgbClr val="EFDDB0"/>
                </a:highlight>
                <a:latin typeface="Montserrat Medium"/>
                <a:ea typeface="Montserrat Medium"/>
                <a:cs typeface="Montserrat Medium"/>
              </a:rPr>
              <a:t> (OJT)</a:t>
            </a:r>
            <a:r>
              <a:rPr sz="1500" b="0" i="0" u="none" dirty="0">
                <a:solidFill>
                  <a:srgbClr val="182430"/>
                </a:solidFill>
                <a:latin typeface="Montserrat Medium"/>
                <a:ea typeface="Montserrat Medium"/>
                <a:cs typeface="Montserrat Medium"/>
              </a:rPr>
              <a:t>.</a:t>
            </a:r>
          </a:p>
        </p:txBody>
      </p:sp>
      <p:sp>
        <p:nvSpPr>
          <p:cNvPr id="10" name="Oval 9"/>
          <p:cNvSpPr/>
          <p:nvPr/>
        </p:nvSpPr>
        <p:spPr>
          <a:xfrm>
            <a:off x="9144000" y="2416242"/>
            <a:ext cx="548640" cy="498069"/>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3</a:t>
            </a:r>
          </a:p>
        </p:txBody>
      </p:sp>
      <p:sp>
        <p:nvSpPr>
          <p:cNvPr id="11" name="Rounded Rectangle 10"/>
          <p:cNvSpPr/>
          <p:nvPr/>
        </p:nvSpPr>
        <p:spPr>
          <a:xfrm>
            <a:off x="7772400" y="3038829"/>
            <a:ext cx="3291840" cy="498069"/>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Registros</a:t>
            </a:r>
          </a:p>
        </p:txBody>
      </p:sp>
      <p:sp>
        <p:nvSpPr>
          <p:cNvPr id="12" name="Rounded Rectangle 11"/>
          <p:cNvSpPr/>
          <p:nvPr/>
        </p:nvSpPr>
        <p:spPr>
          <a:xfrm>
            <a:off x="7772400" y="3536899"/>
            <a:ext cx="3291840" cy="1203668"/>
          </a:xfrm>
          <a:prstGeom prst="roundRect">
            <a:avLst>
              <a:gd name="adj" fmla="val 3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500" b="0" i="0" u="none">
                <a:solidFill>
                  <a:srgbClr val="182430"/>
                </a:solidFill>
                <a:latin typeface="Montserrat Medium"/>
                <a:ea typeface="Montserrat Medium"/>
                <a:cs typeface="Montserrat Medium"/>
              </a:rPr>
              <a:t>de la instrucción de cada inspector, para demostrar su competencia.</a:t>
            </a:r>
          </a:p>
        </p:txBody>
      </p:sp>
      <p:sp>
        <p:nvSpPr>
          <p:cNvPr id="13" name="Rounded Rectangle 12"/>
          <p:cNvSpPr/>
          <p:nvPr/>
        </p:nvSpPr>
        <p:spPr>
          <a:xfrm>
            <a:off x="731520" y="4948096"/>
            <a:ext cx="10424160" cy="830116"/>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ctr">
              <a:spcAft>
                <a:spcPts val="0"/>
              </a:spcAft>
            </a:pPr>
            <a:r>
              <a:rPr sz="1500" b="1" i="0" u="none" dirty="0">
                <a:solidFill>
                  <a:srgbClr val="0E2A47"/>
                </a:solidFill>
                <a:highlight>
                  <a:srgbClr val="E6CC8F"/>
                </a:highlight>
                <a:latin typeface="Montserrat Medium"/>
                <a:ea typeface="Montserrat Medium"/>
                <a:cs typeface="Montserrat Medium"/>
              </a:rPr>
              <a:t>¿Por </a:t>
            </a:r>
            <a:r>
              <a:rPr sz="1500" b="1" i="0" u="none" dirty="0" err="1">
                <a:solidFill>
                  <a:srgbClr val="0E2A47"/>
                </a:solidFill>
                <a:highlight>
                  <a:srgbClr val="E6CC8F"/>
                </a:highlight>
                <a:latin typeface="Montserrat Medium"/>
                <a:ea typeface="Montserrat Medium"/>
                <a:cs typeface="Montserrat Medium"/>
              </a:rPr>
              <a:t>qué</a:t>
            </a:r>
            <a:r>
              <a:rPr sz="1500" b="1" i="0" u="none" dirty="0">
                <a:solidFill>
                  <a:srgbClr val="0E2A47"/>
                </a:solidFill>
                <a:highlight>
                  <a:srgbClr val="E6CC8F"/>
                </a:highlight>
                <a:latin typeface="Montserrat Medium"/>
                <a:ea typeface="Montserrat Medium"/>
                <a:cs typeface="Montserrat Medium"/>
              </a:rPr>
              <a:t> </a:t>
            </a:r>
            <a:r>
              <a:rPr sz="1500" b="1" i="0" u="none" dirty="0" err="1">
                <a:solidFill>
                  <a:srgbClr val="0E2A47"/>
                </a:solidFill>
                <a:highlight>
                  <a:srgbClr val="E6CC8F"/>
                </a:highlight>
                <a:latin typeface="Montserrat Medium"/>
                <a:ea typeface="Montserrat Medium"/>
                <a:cs typeface="Montserrat Medium"/>
              </a:rPr>
              <a:t>te</a:t>
            </a:r>
            <a:r>
              <a:rPr sz="1500" b="1" i="0" u="none" dirty="0">
                <a:solidFill>
                  <a:srgbClr val="0E2A47"/>
                </a:solidFill>
                <a:highlight>
                  <a:srgbClr val="E6CC8F"/>
                </a:highlight>
                <a:latin typeface="Montserrat Medium"/>
                <a:ea typeface="Montserrat Medium"/>
                <a:cs typeface="Montserrat Medium"/>
              </a:rPr>
              <a:t> </a:t>
            </a:r>
            <a:r>
              <a:rPr sz="1500" b="1" i="0" u="none" dirty="0" err="1">
                <a:solidFill>
                  <a:srgbClr val="0E2A47"/>
                </a:solidFill>
                <a:highlight>
                  <a:srgbClr val="E6CC8F"/>
                </a:highlight>
                <a:latin typeface="Montserrat Medium"/>
                <a:ea typeface="Montserrat Medium"/>
                <a:cs typeface="Montserrat Medium"/>
              </a:rPr>
              <a:t>importa</a:t>
            </a:r>
            <a:r>
              <a:rPr sz="1500" b="1" i="0" u="none" dirty="0">
                <a:solidFill>
                  <a:srgbClr val="0E2A47"/>
                </a:solidFill>
                <a:highlight>
                  <a:srgbClr val="E6CC8F"/>
                </a:highlight>
                <a:latin typeface="Montserrat Medium"/>
                <a:ea typeface="Montserrat Medium"/>
                <a:cs typeface="Montserrat Medium"/>
              </a:rPr>
              <a:t>?</a:t>
            </a:r>
            <a:r>
              <a:rPr sz="1500" b="0" i="0" u="none" dirty="0">
                <a:solidFill>
                  <a:srgbClr val="182430"/>
                </a:solidFill>
                <a:latin typeface="Montserrat Medium"/>
                <a:ea typeface="Montserrat Medium"/>
                <a:cs typeface="Montserrat Medium"/>
              </a:rPr>
              <a:t> </a:t>
            </a:r>
            <a:r>
              <a:rPr sz="1400" b="0" i="0" u="none" dirty="0">
                <a:solidFill>
                  <a:srgbClr val="182430"/>
                </a:solidFill>
                <a:latin typeface="Montserrat Medium"/>
                <a:ea typeface="Montserrat Medium"/>
                <a:cs typeface="Montserrat Medium"/>
              </a:rPr>
              <a:t>Tu </a:t>
            </a:r>
            <a:r>
              <a:rPr sz="1400" b="0" i="0" u="none" dirty="0" err="1">
                <a:solidFill>
                  <a:srgbClr val="182430"/>
                </a:solidFill>
                <a:latin typeface="Montserrat Medium"/>
                <a:ea typeface="Montserrat Medium"/>
                <a:cs typeface="Montserrat Medium"/>
              </a:rPr>
              <a:t>formato</a:t>
            </a:r>
            <a:r>
              <a:rPr sz="1400" b="0" i="0" u="none" dirty="0">
                <a:solidFill>
                  <a:srgbClr val="182430"/>
                </a:solidFill>
                <a:latin typeface="Montserrat Medium"/>
                <a:ea typeface="Montserrat Medium"/>
                <a:cs typeface="Montserrat Medium"/>
              </a:rPr>
              <a:t> OJT y sus </a:t>
            </a:r>
            <a:r>
              <a:rPr sz="1400" b="0" i="0" u="none" dirty="0" err="1">
                <a:solidFill>
                  <a:srgbClr val="182430"/>
                </a:solidFill>
                <a:latin typeface="Montserrat Medium"/>
                <a:ea typeface="Montserrat Medium"/>
                <a:cs typeface="Montserrat Medium"/>
              </a:rPr>
              <a:t>evidencias</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demuestran</a:t>
            </a:r>
            <a:r>
              <a:rPr sz="1400" b="0" i="0" u="none" dirty="0">
                <a:solidFill>
                  <a:srgbClr val="182430"/>
                </a:solidFill>
                <a:latin typeface="Montserrat Medium"/>
                <a:ea typeface="Montserrat Medium"/>
                <a:cs typeface="Montserrat Medium"/>
              </a:rPr>
              <a:t> ante la OACI </a:t>
            </a:r>
            <a:r>
              <a:rPr sz="1400" b="0" i="0" u="none" dirty="0" err="1">
                <a:solidFill>
                  <a:srgbClr val="182430"/>
                </a:solidFill>
                <a:latin typeface="Montserrat Medium"/>
                <a:ea typeface="Montserrat Medium"/>
                <a:cs typeface="Montserrat Medium"/>
              </a:rPr>
              <a:t>que</a:t>
            </a:r>
            <a:r>
              <a:rPr sz="1400" b="0" i="0" u="none" dirty="0">
                <a:solidFill>
                  <a:srgbClr val="182430"/>
                </a:solidFill>
                <a:latin typeface="Montserrat Medium"/>
                <a:ea typeface="Montserrat Medium"/>
                <a:cs typeface="Montserrat Medium"/>
              </a:rPr>
              <a:t> la AFAC </a:t>
            </a:r>
            <a:r>
              <a:rPr sz="1400" b="0" i="0" u="none" dirty="0" err="1">
                <a:solidFill>
                  <a:srgbClr val="182430"/>
                </a:solidFill>
                <a:latin typeface="Montserrat Medium"/>
                <a:ea typeface="Montserrat Medium"/>
                <a:cs typeface="Montserrat Medium"/>
              </a:rPr>
              <a:t>cumple</a:t>
            </a:r>
            <a:r>
              <a:rPr sz="1400" b="0" i="0" u="none" dirty="0">
                <a:solidFill>
                  <a:srgbClr val="182430"/>
                </a:solidFill>
                <a:latin typeface="Montserrat Medium"/>
                <a:ea typeface="Montserrat Medium"/>
                <a:cs typeface="Montserrat Medium"/>
              </a:rPr>
              <a:t> el CE-4.</a:t>
            </a:r>
            <a:endParaRPr lang="es-MX" sz="1400" b="0" i="0" u="none" dirty="0">
              <a:solidFill>
                <a:srgbClr val="182430"/>
              </a:solidFill>
              <a:latin typeface="Montserrat Medium"/>
              <a:ea typeface="Montserrat Medium"/>
              <a:cs typeface="Montserrat Medium"/>
            </a:endParaRPr>
          </a:p>
          <a:p>
            <a:pPr algn="ctr">
              <a:spcAft>
                <a:spcPts val="0"/>
              </a:spcAft>
            </a:pPr>
            <a:endParaRPr sz="1400" b="0" i="0" u="none" dirty="0">
              <a:solidFill>
                <a:srgbClr val="182430"/>
              </a:solidFill>
              <a:latin typeface="Montserrat Medium"/>
              <a:ea typeface="Montserrat Medium"/>
              <a:cs typeface="Montserrat Medium"/>
            </a:endParaRPr>
          </a:p>
          <a:p>
            <a:pPr algn="ctr">
              <a:spcAft>
                <a:spcPts val="0"/>
              </a:spcAft>
            </a:pPr>
            <a:r>
              <a:rPr sz="1400" b="0" i="0" u="none" dirty="0">
                <a:solidFill>
                  <a:srgbClr val="182430"/>
                </a:solidFill>
                <a:latin typeface="Montserrat Medium"/>
                <a:ea typeface="Montserrat Medium"/>
                <a:cs typeface="Montserrat Medium"/>
              </a:rPr>
              <a:t>Por </a:t>
            </a:r>
            <a:r>
              <a:rPr sz="1400" b="0" i="0" u="none" dirty="0" err="1">
                <a:solidFill>
                  <a:srgbClr val="182430"/>
                </a:solidFill>
                <a:latin typeface="Montserrat Medium"/>
                <a:ea typeface="Montserrat Medium"/>
                <a:cs typeface="Montserrat Medium"/>
              </a:rPr>
              <a:t>eso</a:t>
            </a:r>
            <a:r>
              <a:rPr sz="1400" b="0" i="0" u="none" dirty="0">
                <a:solidFill>
                  <a:srgbClr val="182430"/>
                </a:solidFill>
                <a:latin typeface="Montserrat Medium"/>
                <a:ea typeface="Montserrat Medium"/>
                <a:cs typeface="Montserrat Medium"/>
              </a:rPr>
              <a:t> el MEPT </a:t>
            </a:r>
            <a:r>
              <a:rPr sz="1400" b="0" i="0" u="none" dirty="0" err="1">
                <a:solidFill>
                  <a:srgbClr val="182430"/>
                </a:solidFill>
                <a:latin typeface="Montserrat Medium"/>
                <a:ea typeface="Montserrat Medium"/>
                <a:cs typeface="Montserrat Medium"/>
              </a:rPr>
              <a:t>exige</a:t>
            </a:r>
            <a:r>
              <a:rPr sz="1400" b="0" i="0" u="none" dirty="0">
                <a:solidFill>
                  <a:srgbClr val="182430"/>
                </a:solidFill>
                <a:latin typeface="Montserrat Medium"/>
                <a:ea typeface="Montserrat Medium"/>
                <a:cs typeface="Montserrat Medium"/>
              </a:rPr>
              <a:t> un </a:t>
            </a:r>
            <a:r>
              <a:rPr sz="1400" b="0" i="0" u="none" dirty="0" err="1">
                <a:solidFill>
                  <a:srgbClr val="182430"/>
                </a:solidFill>
                <a:latin typeface="Montserrat Medium"/>
                <a:ea typeface="Montserrat Medium"/>
                <a:cs typeface="Montserrat Medium"/>
              </a:rPr>
              <a:t>evento</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una</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fecha</a:t>
            </a:r>
            <a:r>
              <a:rPr sz="1400" b="0" i="0" u="none" dirty="0">
                <a:solidFill>
                  <a:srgbClr val="182430"/>
                </a:solidFill>
                <a:latin typeface="Montserrat Medium"/>
                <a:ea typeface="Montserrat Medium"/>
                <a:cs typeface="Montserrat Medium"/>
              </a:rPr>
              <a:t> y </a:t>
            </a:r>
            <a:r>
              <a:rPr sz="1400" b="0" i="0" u="none" dirty="0" err="1">
                <a:solidFill>
                  <a:srgbClr val="182430"/>
                </a:solidFill>
                <a:latin typeface="Montserrat Medium"/>
                <a:ea typeface="Montserrat Medium"/>
                <a:cs typeface="Montserrat Medium"/>
              </a:rPr>
              <a:t>una</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evidencia</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propios</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por</a:t>
            </a:r>
            <a:r>
              <a:rPr sz="1400" b="0" i="0" u="none" dirty="0">
                <a:solidFill>
                  <a:srgbClr val="182430"/>
                </a:solidFill>
                <a:latin typeface="Montserrat Medium"/>
                <a:ea typeface="Montserrat Medium"/>
                <a:cs typeface="Montserrat Medium"/>
              </a:rPr>
              <a:t> </a:t>
            </a:r>
            <a:r>
              <a:rPr sz="1400" b="0" i="0" u="none" dirty="0" err="1">
                <a:solidFill>
                  <a:srgbClr val="182430"/>
                </a:solidFill>
                <a:latin typeface="Montserrat Medium"/>
                <a:ea typeface="Montserrat Medium"/>
                <a:cs typeface="Montserrat Medium"/>
              </a:rPr>
              <a:t>tarea</a:t>
            </a:r>
            <a:r>
              <a:rPr sz="1400" b="0" i="0" u="none" dirty="0">
                <a:solidFill>
                  <a:srgbClr val="182430"/>
                </a:solidFill>
                <a:latin typeface="Montserrat Medium"/>
                <a:ea typeface="Montserrat Medium"/>
                <a:cs typeface="Montserrat Medium"/>
              </a:rPr>
              <a:t> y </a:t>
            </a:r>
            <a:r>
              <a:rPr sz="1400" b="0" i="0" u="none" dirty="0" err="1">
                <a:solidFill>
                  <a:srgbClr val="182430"/>
                </a:solidFill>
                <a:latin typeface="Montserrat Medium"/>
                <a:ea typeface="Montserrat Medium"/>
                <a:cs typeface="Montserrat Medium"/>
              </a:rPr>
              <a:t>nivel</a:t>
            </a:r>
            <a:r>
              <a:rPr sz="1400" b="0" i="0" u="none" dirty="0">
                <a:solidFill>
                  <a:srgbClr val="182430"/>
                </a:solidFill>
                <a:latin typeface="Montserrat Medium"/>
                <a:ea typeface="Montserrat Medium"/>
                <a:cs typeface="Montserrat Medium"/>
              </a:rPr>
              <a:t> (numeral 4.2.4).</a:t>
            </a:r>
          </a:p>
        </p:txBody>
      </p:sp>
      <p:sp>
        <p:nvSpPr>
          <p:cNvPr id="14" name="TextBox 13"/>
          <p:cNvSpPr txBox="1"/>
          <p:nvPr/>
        </p:nvSpPr>
        <p:spPr>
          <a:xfrm>
            <a:off x="731520" y="5902730"/>
            <a:ext cx="10058400" cy="332046"/>
          </a:xfrm>
          <a:prstGeom prst="rect">
            <a:avLst/>
          </a:prstGeom>
          <a:noFill/>
        </p:spPr>
        <p:txBody>
          <a:bodyPr wrap="square" lIns="45720" rIns="45720" anchor="t">
            <a:spAutoFit/>
          </a:bodyPr>
          <a:lstStyle/>
          <a:p>
            <a:pPr algn="l">
              <a:lnSpc>
                <a:spcPct val="100000"/>
              </a:lnSpc>
              <a:spcAft>
                <a:spcPts val="600"/>
              </a:spcAft>
            </a:pPr>
            <a:r>
              <a:rPr sz="1200" b="0" i="0" u="none">
                <a:solidFill>
                  <a:srgbClr val="5C6B7A"/>
                </a:solidFill>
                <a:latin typeface="Montserrat"/>
                <a:ea typeface="Montserrat"/>
                <a:cs typeface="Montserrat"/>
              </a:rPr>
              <a:t>Fuente: OACI, Doc 9734, Parte A, capítulo 3, apartado 3.4 (numerales 3.4.2.5, 3.4.2.7 y 3.4.2.10), citado en el MEPT, numeral 4.2.4.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Marco documental del Programa OJT</a:t>
            </a:r>
          </a:p>
        </p:txBody>
      </p:sp>
      <p:sp>
        <p:nvSpPr>
          <p:cNvPr id="4" name="TextBox 3"/>
          <p:cNvSpPr txBox="1"/>
          <p:nvPr/>
        </p:nvSpPr>
        <p:spPr>
          <a:xfrm>
            <a:off x="4846320" y="2481822"/>
            <a:ext cx="6664445" cy="2862322"/>
          </a:xfrm>
          <a:prstGeom prst="rect">
            <a:avLst/>
          </a:prstGeom>
          <a:noFill/>
        </p:spPr>
        <p:txBody>
          <a:bodyPr wrap="square" lIns="45720" rIns="45720" anchor="t">
            <a:spAutoFit/>
          </a:bodyPr>
          <a:lstStyle/>
          <a:p>
            <a:pPr algn="l">
              <a:lnSpc>
                <a:spcPct val="100000"/>
              </a:lnSpc>
              <a:spcAft>
                <a:spcPts val="1200"/>
              </a:spcAft>
            </a:pPr>
            <a:r>
              <a:rPr sz="2500" b="1" i="0" u="none" dirty="0">
                <a:solidFill>
                  <a:srgbClr val="0E2A47"/>
                </a:solidFill>
                <a:highlight>
                  <a:srgbClr val="EFDDB0"/>
                </a:highlight>
                <a:latin typeface="Montserrat Medium"/>
                <a:ea typeface="Montserrat Medium"/>
                <a:cs typeface="Montserrat Medium"/>
              </a:rPr>
              <a:t>Carta de Política CP CIAAC-01/23 R0</a:t>
            </a:r>
            <a:r>
              <a:rPr lang="es-MX" sz="2500" b="1" i="0" u="none" dirty="0">
                <a:solidFill>
                  <a:srgbClr val="0E2A47"/>
                </a:solidFill>
                <a:highlight>
                  <a:srgbClr val="EFDDB0"/>
                </a:highlight>
                <a:latin typeface="Montserrat Medium"/>
                <a:ea typeface="Montserrat Medium"/>
                <a:cs typeface="Montserrat Medium"/>
              </a:rPr>
              <a:t>3</a:t>
            </a:r>
            <a:r>
              <a:rPr sz="2500" b="1" i="0" u="none" dirty="0">
                <a:solidFill>
                  <a:srgbClr val="0E2A47"/>
                </a:solidFill>
                <a:highlight>
                  <a:srgbClr val="EFDDB0"/>
                </a:highlight>
                <a:latin typeface="Montserrat Medium"/>
                <a:ea typeface="Montserrat Medium"/>
                <a:cs typeface="Montserrat Medium"/>
              </a:rPr>
              <a:t>:</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capacitación</a:t>
            </a:r>
            <a:r>
              <a:rPr sz="2500" b="0" i="0" u="none" dirty="0">
                <a:solidFill>
                  <a:srgbClr val="182430"/>
                </a:solidFill>
                <a:latin typeface="Montserrat Medium"/>
                <a:ea typeface="Montserrat Medium"/>
                <a:cs typeface="Montserrat Medium"/>
              </a:rPr>
              <a:t> y </a:t>
            </a:r>
            <a:r>
              <a:rPr sz="2500" b="0" i="0" u="none" dirty="0" err="1">
                <a:solidFill>
                  <a:srgbClr val="182430"/>
                </a:solidFill>
                <a:latin typeface="Montserrat Medium"/>
                <a:ea typeface="Montserrat Medium"/>
                <a:cs typeface="Montserrat Medium"/>
              </a:rPr>
              <a:t>adiestramiento</a:t>
            </a:r>
            <a:r>
              <a:rPr sz="2500" b="0" i="0" u="none" dirty="0">
                <a:solidFill>
                  <a:srgbClr val="182430"/>
                </a:solidFill>
                <a:latin typeface="Montserrat Medium"/>
                <a:ea typeface="Montserrat Medium"/>
                <a:cs typeface="Montserrat Medium"/>
              </a:rPr>
              <a:t> del IVA e </a:t>
            </a:r>
            <a:r>
              <a:rPr sz="2500" b="0" i="0" u="none" dirty="0" err="1">
                <a:solidFill>
                  <a:srgbClr val="182430"/>
                </a:solidFill>
                <a:latin typeface="Montserrat Medium"/>
                <a:ea typeface="Montserrat Medium"/>
                <a:cs typeface="Montserrat Medium"/>
              </a:rPr>
              <a:t>instructores</a:t>
            </a:r>
            <a:r>
              <a:rPr sz="2500" b="0" i="0" u="none" dirty="0">
                <a:solidFill>
                  <a:srgbClr val="182430"/>
                </a:solidFill>
                <a:latin typeface="Montserrat Medium"/>
                <a:ea typeface="Montserrat Medium"/>
                <a:cs typeface="Montserrat Medium"/>
              </a:rPr>
              <a:t>.</a:t>
            </a:r>
            <a:endParaRPr lang="es-MX" sz="2500" b="0" i="0" u="none" dirty="0">
              <a:solidFill>
                <a:srgbClr val="182430"/>
              </a:solidFill>
              <a:latin typeface="Montserrat Medium"/>
              <a:ea typeface="Montserrat Medium"/>
              <a:cs typeface="Montserrat Medium"/>
            </a:endParaRPr>
          </a:p>
          <a:p>
            <a:pPr algn="l">
              <a:lnSpc>
                <a:spcPct val="100000"/>
              </a:lnSpc>
              <a:spcAft>
                <a:spcPts val="1200"/>
              </a:spcAft>
            </a:pPr>
            <a:endParaRPr sz="2500" b="0" i="0" u="none" dirty="0">
              <a:solidFill>
                <a:srgbClr val="182430"/>
              </a:solidFill>
              <a:latin typeface="Montserrat Medium"/>
              <a:ea typeface="Montserrat Medium"/>
              <a:cs typeface="Montserrat Medium"/>
            </a:endParaRPr>
          </a:p>
          <a:p>
            <a:pPr algn="l">
              <a:lnSpc>
                <a:spcPct val="100000"/>
              </a:lnSpc>
              <a:spcAft>
                <a:spcPts val="1200"/>
              </a:spcAft>
            </a:pPr>
            <a:r>
              <a:rPr sz="2500" b="1" i="0" u="none" dirty="0">
                <a:solidFill>
                  <a:srgbClr val="0E2A47"/>
                </a:solidFill>
                <a:highlight>
                  <a:srgbClr val="EFDDB0"/>
                </a:highlight>
                <a:latin typeface="Montserrat Medium"/>
                <a:ea typeface="Montserrat Medium"/>
                <a:cs typeface="Montserrat Medium"/>
              </a:rPr>
              <a:t>MEPT</a:t>
            </a:r>
            <a:r>
              <a:rPr sz="2500" b="0" i="0" u="none" dirty="0">
                <a:solidFill>
                  <a:srgbClr val="182430"/>
                </a:solidFill>
                <a:latin typeface="Montserrat Medium"/>
                <a:ea typeface="Montserrat Medium"/>
                <a:cs typeface="Montserrat Medium"/>
              </a:rPr>
              <a:t> y sus </a:t>
            </a:r>
            <a:r>
              <a:rPr sz="2500" b="0" i="0" u="none" dirty="0" err="1">
                <a:solidFill>
                  <a:srgbClr val="182430"/>
                </a:solidFill>
                <a:latin typeface="Montserrat Medium"/>
                <a:ea typeface="Montserrat Medium"/>
                <a:cs typeface="Montserrat Medium"/>
              </a:rPr>
              <a:t>manuales</a:t>
            </a:r>
            <a:r>
              <a:rPr lang="es-MX" sz="2500"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complementarios</a:t>
            </a:r>
            <a:r>
              <a:rPr sz="2500" b="0" i="0" u="none" dirty="0">
                <a:solidFill>
                  <a:srgbClr val="182430"/>
                </a:solidFill>
                <a:latin typeface="Montserrat Medium"/>
                <a:ea typeface="Montserrat Medium"/>
                <a:cs typeface="Montserrat Medium"/>
              </a:rPr>
              <a:t>:</a:t>
            </a:r>
          </a:p>
          <a:p>
            <a:pPr marL="347472" indent="-347472" algn="l">
              <a:lnSpc>
                <a:spcPct val="100000"/>
              </a:lnSpc>
              <a:spcAft>
                <a:spcPts val="1200"/>
              </a:spcAft>
              <a:buClr>
                <a:srgbClr val="B98A2E"/>
              </a:buClr>
              <a:buFont typeface="Arial"/>
              <a:buChar char="•"/>
            </a:pPr>
            <a:r>
              <a:rPr sz="2500" b="0" i="0" u="none" dirty="0">
                <a:solidFill>
                  <a:srgbClr val="182430"/>
                </a:solidFill>
                <a:latin typeface="Montserrat Medium"/>
                <a:ea typeface="Montserrat Medium"/>
                <a:cs typeface="Montserrat Medium"/>
              </a:rPr>
              <a:t>MSIG · MPPC · MAC · MGCC</a:t>
            </a:r>
          </a:p>
        </p:txBody>
      </p:sp>
      <p:pic>
        <p:nvPicPr>
          <p:cNvPr id="6" name="Imagen 5">
            <a:extLst>
              <a:ext uri="{FF2B5EF4-FFF2-40B4-BE49-F238E27FC236}">
                <a16:creationId xmlns:a16="http://schemas.microsoft.com/office/drawing/2014/main" id="{739894BC-31E1-A146-FA8E-977AC571FB7F}"/>
              </a:ext>
            </a:extLst>
          </p:cNvPr>
          <p:cNvPicPr>
            <a:picLocks noChangeAspect="1"/>
          </p:cNvPicPr>
          <p:nvPr/>
        </p:nvPicPr>
        <p:blipFill>
          <a:blip r:embed="rId3"/>
          <a:stretch>
            <a:fillRect/>
          </a:stretch>
        </p:blipFill>
        <p:spPr>
          <a:xfrm>
            <a:off x="681235" y="1752149"/>
            <a:ext cx="3715273" cy="4703572"/>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¿Dónde consultar la Carta de Política?</a:t>
            </a:r>
          </a:p>
        </p:txBody>
      </p:sp>
      <p:sp>
        <p:nvSpPr>
          <p:cNvPr id="3" name="Oval 2"/>
          <p:cNvSpPr/>
          <p:nvPr/>
        </p:nvSpPr>
        <p:spPr>
          <a:xfrm>
            <a:off x="1325880" y="1918172"/>
            <a:ext cx="685800" cy="622587"/>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0" i="0" u="none">
                <a:solidFill>
                  <a:srgbClr val="FFFFFF"/>
                </a:solidFill>
                <a:latin typeface="Montserrat SemiBold"/>
                <a:ea typeface="Montserrat SemiBold"/>
                <a:cs typeface="Montserrat SemiBold"/>
              </a:rPr>
              <a:t>1</a:t>
            </a:r>
          </a:p>
        </p:txBody>
      </p:sp>
      <p:sp>
        <p:nvSpPr>
          <p:cNvPr id="4" name="Rounded Rectangle 3"/>
          <p:cNvSpPr/>
          <p:nvPr/>
        </p:nvSpPr>
        <p:spPr>
          <a:xfrm>
            <a:off x="594360" y="2665277"/>
            <a:ext cx="2103120" cy="1577220"/>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182430"/>
                </a:solidFill>
                <a:latin typeface="Montserrat Medium"/>
                <a:ea typeface="Montserrat Medium"/>
                <a:cs typeface="Montserrat Medium"/>
              </a:rPr>
              <a:t>Ingresa a gob.mx/afac</a:t>
            </a:r>
          </a:p>
        </p:txBody>
      </p:sp>
      <p:sp>
        <p:nvSpPr>
          <p:cNvPr id="5" name="Oval 4"/>
          <p:cNvSpPr/>
          <p:nvPr/>
        </p:nvSpPr>
        <p:spPr>
          <a:xfrm>
            <a:off x="3566160" y="1918172"/>
            <a:ext cx="685800" cy="622587"/>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0" i="0" u="none">
                <a:solidFill>
                  <a:srgbClr val="FFFFFF"/>
                </a:solidFill>
                <a:latin typeface="Montserrat SemiBold"/>
                <a:ea typeface="Montserrat SemiBold"/>
                <a:cs typeface="Montserrat SemiBold"/>
              </a:rPr>
              <a:t>2</a:t>
            </a:r>
          </a:p>
        </p:txBody>
      </p:sp>
      <p:sp>
        <p:nvSpPr>
          <p:cNvPr id="6" name="Rounded Rectangle 5"/>
          <p:cNvSpPr/>
          <p:nvPr/>
        </p:nvSpPr>
        <p:spPr>
          <a:xfrm>
            <a:off x="2834640" y="2665277"/>
            <a:ext cx="2103120" cy="1577220"/>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182430"/>
                </a:solidFill>
                <a:latin typeface="Montserrat Medium"/>
                <a:ea typeface="Montserrat Medium"/>
                <a:cs typeface="Montserrat Medium"/>
              </a:rPr>
              <a:t>Abre el apartado «Legislación»</a:t>
            </a:r>
          </a:p>
        </p:txBody>
      </p:sp>
      <p:sp>
        <p:nvSpPr>
          <p:cNvPr id="7" name="Oval 6"/>
          <p:cNvSpPr/>
          <p:nvPr/>
        </p:nvSpPr>
        <p:spPr>
          <a:xfrm>
            <a:off x="5806440" y="1918172"/>
            <a:ext cx="685800" cy="622587"/>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0" i="0" u="none">
                <a:solidFill>
                  <a:srgbClr val="FFFFFF"/>
                </a:solidFill>
                <a:latin typeface="Montserrat SemiBold"/>
                <a:ea typeface="Montserrat SemiBold"/>
                <a:cs typeface="Montserrat SemiBold"/>
              </a:rPr>
              <a:t>3</a:t>
            </a:r>
          </a:p>
        </p:txBody>
      </p:sp>
      <p:sp>
        <p:nvSpPr>
          <p:cNvPr id="8" name="Rounded Rectangle 7"/>
          <p:cNvSpPr/>
          <p:nvPr/>
        </p:nvSpPr>
        <p:spPr>
          <a:xfrm>
            <a:off x="5074920" y="2665277"/>
            <a:ext cx="2103120" cy="1577220"/>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182430"/>
                </a:solidFill>
                <a:latin typeface="Montserrat Medium"/>
                <a:ea typeface="Montserrat Medium"/>
                <a:cs typeface="Montserrat Medium"/>
              </a:rPr>
              <a:t>Elige «Cartas de Política»</a:t>
            </a:r>
          </a:p>
        </p:txBody>
      </p:sp>
      <p:sp>
        <p:nvSpPr>
          <p:cNvPr id="9" name="Oval 8"/>
          <p:cNvSpPr/>
          <p:nvPr/>
        </p:nvSpPr>
        <p:spPr>
          <a:xfrm>
            <a:off x="8046720" y="1918172"/>
            <a:ext cx="685800" cy="622587"/>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0" i="0" u="none">
                <a:solidFill>
                  <a:srgbClr val="FFFFFF"/>
                </a:solidFill>
                <a:latin typeface="Montserrat SemiBold"/>
                <a:ea typeface="Montserrat SemiBold"/>
                <a:cs typeface="Montserrat SemiBold"/>
              </a:rPr>
              <a:t>4</a:t>
            </a:r>
          </a:p>
        </p:txBody>
      </p:sp>
      <p:sp>
        <p:nvSpPr>
          <p:cNvPr id="10" name="Rounded Rectangle 9"/>
          <p:cNvSpPr/>
          <p:nvPr/>
        </p:nvSpPr>
        <p:spPr>
          <a:xfrm>
            <a:off x="7315200" y="2665277"/>
            <a:ext cx="2103120" cy="1577220"/>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182430"/>
                </a:solidFill>
                <a:latin typeface="Montserrat Medium"/>
                <a:ea typeface="Montserrat Medium"/>
                <a:cs typeface="Montserrat Medium"/>
              </a:rPr>
              <a:t>Da clic en «Capacitación»</a:t>
            </a:r>
          </a:p>
        </p:txBody>
      </p:sp>
      <p:sp>
        <p:nvSpPr>
          <p:cNvPr id="11" name="Oval 10"/>
          <p:cNvSpPr/>
          <p:nvPr/>
        </p:nvSpPr>
        <p:spPr>
          <a:xfrm>
            <a:off x="10287000" y="1918172"/>
            <a:ext cx="685800" cy="622587"/>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0" i="0" u="none">
                <a:solidFill>
                  <a:srgbClr val="FFFFFF"/>
                </a:solidFill>
                <a:latin typeface="Montserrat SemiBold"/>
                <a:ea typeface="Montserrat SemiBold"/>
                <a:cs typeface="Montserrat SemiBold"/>
              </a:rPr>
              <a:t>5</a:t>
            </a:r>
          </a:p>
        </p:txBody>
      </p:sp>
      <p:sp>
        <p:nvSpPr>
          <p:cNvPr id="12" name="Rounded Rectangle 11"/>
          <p:cNvSpPr/>
          <p:nvPr/>
        </p:nvSpPr>
        <p:spPr>
          <a:xfrm>
            <a:off x="9555480" y="2665277"/>
            <a:ext cx="2103120" cy="1577220"/>
          </a:xfrm>
          <a:prstGeom prst="roundRect">
            <a:avLst>
              <a:gd name="adj" fmla="val 10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182430"/>
                </a:solidFill>
                <a:latin typeface="Montserrat Medium"/>
                <a:ea typeface="Montserrat Medium"/>
                <a:cs typeface="Montserrat Medium"/>
              </a:rPr>
              <a:t>Revisa o descarga el documento</a:t>
            </a:r>
          </a:p>
        </p:txBody>
      </p:sp>
      <p:sp>
        <p:nvSpPr>
          <p:cNvPr id="13" name="Rounded Rectangle 12">
            <a:hlinkClick r:id="rId3"/>
          </p:cNvPr>
          <p:cNvSpPr/>
          <p:nvPr/>
        </p:nvSpPr>
        <p:spPr>
          <a:xfrm>
            <a:off x="4023360" y="4657556"/>
            <a:ext cx="4023360" cy="498069"/>
          </a:xfrm>
          <a:prstGeom prst="roundRect">
            <a:avLst>
              <a:gd name="adj" fmla="val 5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dirty="0" err="1">
                <a:solidFill>
                  <a:srgbClr val="FFFFFF"/>
                </a:solidFill>
                <a:latin typeface="Montserrat SemiBold"/>
                <a:ea typeface="Montserrat SemiBold"/>
                <a:cs typeface="Montserrat SemiBold"/>
              </a:rPr>
              <a:t>Ir</a:t>
            </a:r>
            <a:r>
              <a:rPr sz="1600" b="0" i="0" u="none" dirty="0">
                <a:solidFill>
                  <a:srgbClr val="FFFFFF"/>
                </a:solidFill>
                <a:latin typeface="Montserrat SemiBold"/>
                <a:ea typeface="Montserrat SemiBold"/>
                <a:cs typeface="Montserrat SemiBold"/>
              </a:rPr>
              <a:t> al portal de la AFAC</a:t>
            </a:r>
          </a:p>
        </p:txBody>
      </p:sp>
      <p:sp>
        <p:nvSpPr>
          <p:cNvPr id="14" name="TextBox 13"/>
          <p:cNvSpPr txBox="1"/>
          <p:nvPr/>
        </p:nvSpPr>
        <p:spPr>
          <a:xfrm>
            <a:off x="731520" y="5363154"/>
            <a:ext cx="10424160" cy="664092"/>
          </a:xfrm>
          <a:prstGeom prst="rect">
            <a:avLst/>
          </a:prstGeom>
          <a:noFill/>
        </p:spPr>
        <p:txBody>
          <a:bodyPr wrap="square" lIns="45720" rIns="45720" anchor="t">
            <a:spAutoFit/>
          </a:bodyPr>
          <a:lstStyle/>
          <a:p>
            <a:pPr algn="ctr">
              <a:lnSpc>
                <a:spcPct val="100000"/>
              </a:lnSpc>
              <a:spcAft>
                <a:spcPts val="600"/>
              </a:spcAft>
            </a:pPr>
            <a:r>
              <a:rPr sz="2000" b="0" i="0" u="none">
                <a:solidFill>
                  <a:srgbClr val="0E2A47"/>
                </a:solidFill>
                <a:latin typeface="Montserrat Medium"/>
                <a:ea typeface="Montserrat Medium"/>
                <a:cs typeface="Montserrat Medium"/>
              </a:rPr>
              <a:t>Practica: localiza la Carta de Política y revisa qué revisión está vigente.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Objetivo general del Programa OJT</a:t>
            </a:r>
          </a:p>
        </p:txBody>
      </p:sp>
      <p:sp>
        <p:nvSpPr>
          <p:cNvPr id="3" name="Rounded Rectangle 2"/>
          <p:cNvSpPr/>
          <p:nvPr/>
        </p:nvSpPr>
        <p:spPr>
          <a:xfrm>
            <a:off x="731520" y="1835161"/>
            <a:ext cx="10424160" cy="2988418"/>
          </a:xfrm>
          <a:prstGeom prst="roundRect">
            <a:avLst>
              <a:gd name="adj" fmla="val 5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320040" tIns="320040" rIns="320040" bIns="320040" rtlCol="0" anchor="ctr"/>
          <a:lstStyle/>
          <a:p>
            <a:pPr algn="ctr">
              <a:spcAft>
                <a:spcPts val="0"/>
              </a:spcAft>
            </a:pPr>
            <a:r>
              <a:rPr sz="2500" b="0" i="0" u="none">
                <a:solidFill>
                  <a:srgbClr val="182430"/>
                </a:solidFill>
                <a:latin typeface="Montserrat Medium"/>
                <a:ea typeface="Montserrat Medium"/>
                <a:cs typeface="Montserrat Medium"/>
              </a:rPr>
              <a:t>Capacitar </a:t>
            </a:r>
            <a:r>
              <a:rPr sz="2500" b="1" i="0" u="none">
                <a:solidFill>
                  <a:srgbClr val="0E2A47"/>
                </a:solidFill>
                <a:highlight>
                  <a:srgbClr val="E6CC8F"/>
                </a:highlight>
                <a:latin typeface="Montserrat Medium"/>
                <a:ea typeface="Montserrat Medium"/>
                <a:cs typeface="Montserrat Medium"/>
              </a:rPr>
              <a:t>de forma práctica en el puesto de trabajo</a:t>
            </a:r>
            <a:r>
              <a:rPr sz="2500" b="0" i="0" u="none">
                <a:solidFill>
                  <a:srgbClr val="182430"/>
                </a:solidFill>
                <a:latin typeface="Montserrat Medium"/>
                <a:ea typeface="Montserrat Medium"/>
                <a:cs typeface="Montserrat Medium"/>
              </a:rPr>
              <a:t> a todo el personal </a:t>
            </a:r>
            <a:r>
              <a:rPr sz="2500" b="1" i="0" u="none">
                <a:solidFill>
                  <a:srgbClr val="0E2A47"/>
                </a:solidFill>
                <a:highlight>
                  <a:srgbClr val="E6CC8F"/>
                </a:highlight>
                <a:latin typeface="Montserrat Medium"/>
                <a:ea typeface="Montserrat Medium"/>
                <a:cs typeface="Montserrat Medium"/>
              </a:rPr>
              <a:t>IVA</a:t>
            </a:r>
            <a:r>
              <a:rPr sz="2500" b="0" i="0" u="none">
                <a:solidFill>
                  <a:srgbClr val="182430"/>
                </a:solidFill>
                <a:latin typeface="Montserrat Medium"/>
                <a:ea typeface="Montserrat Medium"/>
                <a:cs typeface="Montserrat Medium"/>
              </a:rPr>
              <a:t> de la AFAC, conforme a estándares nacionales e internacionales, mejorando su desempeño mediante </a:t>
            </a:r>
            <a:r>
              <a:rPr sz="2500" b="1" i="0" u="none">
                <a:solidFill>
                  <a:srgbClr val="0E2A47"/>
                </a:solidFill>
                <a:highlight>
                  <a:srgbClr val="E6CC8F"/>
                </a:highlight>
                <a:latin typeface="Montserrat Medium"/>
                <a:ea typeface="Montserrat Medium"/>
                <a:cs typeface="Montserrat Medium"/>
              </a:rPr>
              <a:t>tareas específicas de vigilancia e inspección</a:t>
            </a:r>
            <a:r>
              <a:rPr sz="2500" b="0" i="0" u="none">
                <a:solidFill>
                  <a:srgbClr val="182430"/>
                </a:solidFill>
                <a:latin typeface="Montserrat Medium"/>
                <a:ea typeface="Montserrat Medium"/>
                <a:cs typeface="Montserrat Medium"/>
              </a:rPr>
              <a:t> realizadas de forma acompañada.</a:t>
            </a:r>
          </a:p>
        </p:txBody>
      </p:sp>
      <p:sp>
        <p:nvSpPr>
          <p:cNvPr id="4" name="TextBox 3"/>
          <p:cNvSpPr txBox="1"/>
          <p:nvPr/>
        </p:nvSpPr>
        <p:spPr>
          <a:xfrm>
            <a:off x="731520" y="5031108"/>
            <a:ext cx="10424160" cy="747104"/>
          </a:xfrm>
          <a:prstGeom prst="rect">
            <a:avLst/>
          </a:prstGeom>
          <a:noFill/>
        </p:spPr>
        <p:txBody>
          <a:bodyPr wrap="square" lIns="45720" rIns="45720" anchor="t">
            <a:spAutoFit/>
          </a:bodyPr>
          <a:lstStyle/>
          <a:p>
            <a:pPr algn="ctr">
              <a:lnSpc>
                <a:spcPct val="100000"/>
              </a:lnSpc>
              <a:spcAft>
                <a:spcPts val="600"/>
              </a:spcAft>
            </a:pPr>
            <a:r>
              <a:rPr sz="1800" b="0" i="0" u="none">
                <a:solidFill>
                  <a:srgbClr val="5C6B7A"/>
                </a:solidFill>
                <a:latin typeface="Montserrat"/>
                <a:ea typeface="Montserrat"/>
                <a:cs typeface="Montserrat"/>
              </a:rPr>
              <a:t>Aplica en Direcciones Ejecutivas y de Área, Comandancias del AICM y AIFA y Comandancias Regionales.</a:t>
            </a:r>
          </a:p>
        </p:txBody>
      </p:sp>
      <p:sp>
        <p:nvSpPr>
          <p:cNvPr id="5" name="TextBox 4"/>
          <p:cNvSpPr txBox="1"/>
          <p:nvPr/>
        </p:nvSpPr>
        <p:spPr>
          <a:xfrm>
            <a:off x="731520" y="5861224"/>
            <a:ext cx="10424160" cy="332046"/>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Fuente: MEPT, numeral 2.3.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Objetivos específicos del Programa OJT</a:t>
            </a:r>
          </a:p>
        </p:txBody>
      </p:sp>
      <p:sp>
        <p:nvSpPr>
          <p:cNvPr id="3" name="Rounded Rectangle 2"/>
          <p:cNvSpPr/>
          <p:nvPr/>
        </p:nvSpPr>
        <p:spPr>
          <a:xfrm>
            <a:off x="731520" y="1876666"/>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Estandarizar</a:t>
            </a:r>
            <a:r>
              <a:rPr sz="1800" b="0" i="0" u="none">
                <a:solidFill>
                  <a:srgbClr val="182430"/>
                </a:solidFill>
                <a:latin typeface="Montserrat Medium"/>
                <a:ea typeface="Montserrat Medium"/>
                <a:cs typeface="Montserrat Medium"/>
              </a:rPr>
              <a:t> formatos por especialidad</a:t>
            </a:r>
          </a:p>
        </p:txBody>
      </p:sp>
      <p:sp>
        <p:nvSpPr>
          <p:cNvPr id="4" name="Oval 3"/>
          <p:cNvSpPr/>
          <p:nvPr/>
        </p:nvSpPr>
        <p:spPr>
          <a:xfrm>
            <a:off x="841248" y="1976280"/>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1</a:t>
            </a:r>
          </a:p>
        </p:txBody>
      </p:sp>
      <p:sp>
        <p:nvSpPr>
          <p:cNvPr id="5" name="Rounded Rectangle 4"/>
          <p:cNvSpPr/>
          <p:nvPr/>
        </p:nvSpPr>
        <p:spPr>
          <a:xfrm>
            <a:off x="4251960" y="1876666"/>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Asegurar</a:t>
            </a:r>
            <a:r>
              <a:rPr sz="1800" b="0" i="0" u="none">
                <a:solidFill>
                  <a:srgbClr val="182430"/>
                </a:solidFill>
                <a:latin typeface="Montserrat Medium"/>
                <a:ea typeface="Montserrat Medium"/>
                <a:cs typeface="Montserrat Medium"/>
              </a:rPr>
              <a:t> que el IVA aprendiz demuestre sus tareas</a:t>
            </a:r>
          </a:p>
        </p:txBody>
      </p:sp>
      <p:sp>
        <p:nvSpPr>
          <p:cNvPr id="6" name="Oval 5"/>
          <p:cNvSpPr/>
          <p:nvPr/>
        </p:nvSpPr>
        <p:spPr>
          <a:xfrm>
            <a:off x="4361688" y="1976280"/>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2</a:t>
            </a:r>
          </a:p>
        </p:txBody>
      </p:sp>
      <p:sp>
        <p:nvSpPr>
          <p:cNvPr id="7" name="Rounded Rectangle 6"/>
          <p:cNvSpPr/>
          <p:nvPr/>
        </p:nvSpPr>
        <p:spPr>
          <a:xfrm>
            <a:off x="7772400" y="1876666"/>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Llenar correctamente</a:t>
            </a:r>
            <a:r>
              <a:rPr sz="1800" b="0" i="0" u="none">
                <a:solidFill>
                  <a:srgbClr val="182430"/>
                </a:solidFill>
                <a:latin typeface="Montserrat Medium"/>
                <a:ea typeface="Montserrat Medium"/>
                <a:cs typeface="Montserrat Medium"/>
              </a:rPr>
              <a:t> formato OJT y bitácoras</a:t>
            </a:r>
          </a:p>
        </p:txBody>
      </p:sp>
      <p:sp>
        <p:nvSpPr>
          <p:cNvPr id="8" name="Oval 7"/>
          <p:cNvSpPr/>
          <p:nvPr/>
        </p:nvSpPr>
        <p:spPr>
          <a:xfrm>
            <a:off x="7882127" y="1976280"/>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3</a:t>
            </a:r>
          </a:p>
        </p:txBody>
      </p:sp>
      <p:sp>
        <p:nvSpPr>
          <p:cNvPr id="9" name="Rounded Rectangle 8"/>
          <p:cNvSpPr/>
          <p:nvPr/>
        </p:nvSpPr>
        <p:spPr>
          <a:xfrm>
            <a:off x="731520" y="3827439"/>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Controlar</a:t>
            </a:r>
            <a:r>
              <a:rPr sz="1800" b="0" i="0" u="none">
                <a:solidFill>
                  <a:srgbClr val="182430"/>
                </a:solidFill>
                <a:latin typeface="Montserrat Medium"/>
                <a:ea typeface="Montserrat Medium"/>
                <a:cs typeface="Montserrat Medium"/>
              </a:rPr>
              <a:t> el desempeño y los resultados</a:t>
            </a:r>
          </a:p>
        </p:txBody>
      </p:sp>
      <p:sp>
        <p:nvSpPr>
          <p:cNvPr id="10" name="Oval 9"/>
          <p:cNvSpPr/>
          <p:nvPr/>
        </p:nvSpPr>
        <p:spPr>
          <a:xfrm>
            <a:off x="841248" y="3927053"/>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4</a:t>
            </a:r>
          </a:p>
        </p:txBody>
      </p:sp>
      <p:sp>
        <p:nvSpPr>
          <p:cNvPr id="11" name="Rounded Rectangle 10"/>
          <p:cNvSpPr/>
          <p:nvPr/>
        </p:nvSpPr>
        <p:spPr>
          <a:xfrm>
            <a:off x="4251960" y="3827439"/>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Formar</a:t>
            </a:r>
            <a:r>
              <a:rPr sz="1800" b="0" i="0" u="none">
                <a:solidFill>
                  <a:srgbClr val="182430"/>
                </a:solidFill>
                <a:latin typeface="Montserrat Medium"/>
                <a:ea typeface="Montserrat Medium"/>
                <a:cs typeface="Montserrat Medium"/>
              </a:rPr>
              <a:t> instructores principales e instructores OJT</a:t>
            </a:r>
          </a:p>
        </p:txBody>
      </p:sp>
      <p:sp>
        <p:nvSpPr>
          <p:cNvPr id="12" name="Oval 11"/>
          <p:cNvSpPr/>
          <p:nvPr/>
        </p:nvSpPr>
        <p:spPr>
          <a:xfrm>
            <a:off x="4361688" y="3927053"/>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5</a:t>
            </a:r>
          </a:p>
        </p:txBody>
      </p:sp>
      <p:sp>
        <p:nvSpPr>
          <p:cNvPr id="13" name="Rounded Rectangle 12"/>
          <p:cNvSpPr/>
          <p:nvPr/>
        </p:nvSpPr>
        <p:spPr>
          <a:xfrm>
            <a:off x="7772400" y="3827439"/>
            <a:ext cx="3291840" cy="1743243"/>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1" i="0" u="none">
                <a:solidFill>
                  <a:srgbClr val="9A7323"/>
                </a:solidFill>
                <a:latin typeface="Montserrat Medium"/>
                <a:ea typeface="Montserrat Medium"/>
                <a:cs typeface="Montserrat Medium"/>
              </a:rPr>
              <a:t>Mejorar</a:t>
            </a:r>
            <a:r>
              <a:rPr sz="1800" b="0" i="0" u="none">
                <a:solidFill>
                  <a:srgbClr val="182430"/>
                </a:solidFill>
                <a:latin typeface="Montserrat Medium"/>
                <a:ea typeface="Montserrat Medium"/>
                <a:cs typeface="Montserrat Medium"/>
              </a:rPr>
              <a:t> continuamente el programa</a:t>
            </a:r>
          </a:p>
        </p:txBody>
      </p:sp>
      <p:sp>
        <p:nvSpPr>
          <p:cNvPr id="14" name="Oval 13"/>
          <p:cNvSpPr/>
          <p:nvPr/>
        </p:nvSpPr>
        <p:spPr>
          <a:xfrm>
            <a:off x="7882127" y="3927053"/>
            <a:ext cx="457200" cy="415058"/>
          </a:xfrm>
          <a:prstGeom prst="ellipse">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600" b="0" i="0" u="none">
                <a:solidFill>
                  <a:srgbClr val="FFFFFF"/>
                </a:solidFill>
                <a:latin typeface="Montserrat SemiBold"/>
                <a:ea typeface="Montserrat SemiBold"/>
                <a:cs typeface="Montserrat SemiBold"/>
              </a:rPr>
              <a:t>6</a:t>
            </a:r>
          </a:p>
        </p:txBody>
      </p:sp>
      <p:sp>
        <p:nvSpPr>
          <p:cNvPr id="15" name="TextBox 14"/>
          <p:cNvSpPr txBox="1"/>
          <p:nvPr/>
        </p:nvSpPr>
        <p:spPr>
          <a:xfrm>
            <a:off x="731520" y="5861224"/>
            <a:ext cx="10424160" cy="332046"/>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Fuente: MEPT, numeral 2.4.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1.1 ANTECEDENTES Y OBJETIVOS DEL PROGRAMA OJT</a:t>
            </a:r>
          </a:p>
          <a:p>
            <a:pPr algn="l"/>
            <a:r>
              <a:rPr sz="2800" b="0" i="0" u="none">
                <a:solidFill>
                  <a:srgbClr val="FFFFFF"/>
                </a:solidFill>
                <a:latin typeface="Montserrat SemiBold"/>
                <a:ea typeface="Montserrat SemiBold"/>
                <a:cs typeface="Montserrat SemiBold"/>
              </a:rPr>
              <a:t>¿A quién aplica el Programa OJT?</a:t>
            </a:r>
          </a:p>
        </p:txBody>
      </p:sp>
      <p:pic>
        <p:nvPicPr>
          <p:cNvPr id="3" name="Picture 2" descr="s19_cbdeb9.png"/>
          <p:cNvPicPr>
            <a:picLocks noChangeAspect="1"/>
          </p:cNvPicPr>
          <p:nvPr/>
        </p:nvPicPr>
        <p:blipFill>
          <a:blip r:embed="rId3"/>
          <a:stretch>
            <a:fillRect/>
          </a:stretch>
        </p:blipFill>
        <p:spPr>
          <a:xfrm>
            <a:off x="7863840" y="1876666"/>
            <a:ext cx="2988418" cy="2786107"/>
          </a:xfrm>
          <a:prstGeom prst="rect">
            <a:avLst/>
          </a:prstGeom>
        </p:spPr>
      </p:pic>
      <p:sp>
        <p:nvSpPr>
          <p:cNvPr id="4" name="TextBox 3"/>
          <p:cNvSpPr txBox="1"/>
          <p:nvPr/>
        </p:nvSpPr>
        <p:spPr>
          <a:xfrm>
            <a:off x="731520" y="1793655"/>
            <a:ext cx="6858000" cy="3877985"/>
          </a:xfrm>
          <a:prstGeom prst="rect">
            <a:avLst/>
          </a:prstGeom>
          <a:noFill/>
        </p:spPr>
        <p:txBody>
          <a:bodyPr wrap="square" lIns="45720" rIns="45720" anchor="t">
            <a:spAutoFit/>
          </a:bodyPr>
          <a:lstStyle/>
          <a:p>
            <a:pPr marL="347472" indent="-347472" algn="l">
              <a:lnSpc>
                <a:spcPct val="100000"/>
              </a:lnSpc>
              <a:spcAft>
                <a:spcPts val="1200"/>
              </a:spcAft>
              <a:buClr>
                <a:srgbClr val="B98A2E"/>
              </a:buClr>
              <a:buFont typeface="Arial"/>
              <a:buChar char="•"/>
            </a:pPr>
            <a:r>
              <a:rPr sz="2500" b="1" i="0" u="none" dirty="0">
                <a:solidFill>
                  <a:srgbClr val="0E2A47"/>
                </a:solidFill>
                <a:highlight>
                  <a:srgbClr val="EFDDB0"/>
                </a:highlight>
                <a:latin typeface="Montserrat Medium"/>
                <a:ea typeface="Montserrat Medium"/>
                <a:cs typeface="Montserrat Medium"/>
              </a:rPr>
              <a:t>IVA</a:t>
            </a:r>
            <a:r>
              <a:rPr sz="2500" b="0" i="0" u="none" dirty="0">
                <a:solidFill>
                  <a:srgbClr val="182430"/>
                </a:solidFill>
                <a:latin typeface="Montserrat Medium"/>
                <a:ea typeface="Montserrat Medium"/>
                <a:cs typeface="Montserrat Medium"/>
              </a:rPr>
              <a:t> de </a:t>
            </a:r>
            <a:r>
              <a:rPr sz="2500" b="0" i="0" u="none" dirty="0" err="1">
                <a:solidFill>
                  <a:srgbClr val="182430"/>
                </a:solidFill>
                <a:latin typeface="Montserrat Medium"/>
                <a:ea typeface="Montserrat Medium"/>
                <a:cs typeface="Montserrat Medium"/>
              </a:rPr>
              <a:t>todas</a:t>
            </a:r>
            <a:r>
              <a:rPr sz="2500" b="0" i="0" u="none" dirty="0">
                <a:solidFill>
                  <a:srgbClr val="182430"/>
                </a:solidFill>
                <a:latin typeface="Montserrat Medium"/>
                <a:ea typeface="Montserrat Medium"/>
                <a:cs typeface="Montserrat Medium"/>
              </a:rPr>
              <a:t> las </a:t>
            </a:r>
            <a:r>
              <a:rPr sz="2500" b="0" i="0" u="none" dirty="0" err="1">
                <a:solidFill>
                  <a:srgbClr val="182430"/>
                </a:solidFill>
                <a:latin typeface="Montserrat Medium"/>
                <a:ea typeface="Montserrat Medium"/>
                <a:cs typeface="Montserrat Medium"/>
              </a:rPr>
              <a:t>especialidades</a:t>
            </a:r>
            <a:endParaRPr sz="2500" b="0" i="0" u="none" dirty="0">
              <a:solidFill>
                <a:srgbClr val="182430"/>
              </a:solidFill>
              <a:latin typeface="Montserrat Medium"/>
              <a:ea typeface="Montserrat Medium"/>
              <a:cs typeface="Montserrat Medium"/>
            </a:endParaRPr>
          </a:p>
          <a:p>
            <a:pPr marL="347472" indent="-347472" algn="l">
              <a:lnSpc>
                <a:spcPct val="100000"/>
              </a:lnSpc>
              <a:spcAft>
                <a:spcPts val="1200"/>
              </a:spcAft>
              <a:buClr>
                <a:srgbClr val="B98A2E"/>
              </a:buClr>
              <a:buFont typeface="Arial"/>
              <a:buChar char="•"/>
            </a:pPr>
            <a:r>
              <a:rPr sz="2500" b="0" i="0" u="none" dirty="0" err="1">
                <a:solidFill>
                  <a:srgbClr val="182430"/>
                </a:solidFill>
                <a:latin typeface="Montserrat Medium"/>
                <a:ea typeface="Montserrat Medium"/>
                <a:cs typeface="Montserrat Medium"/>
              </a:rPr>
              <a:t>Instructores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coordinadores</a:t>
            </a:r>
            <a:r>
              <a:rPr sz="2500" b="0" i="0" u="none" dirty="0">
                <a:solidFill>
                  <a:srgbClr val="182430"/>
                </a:solidFill>
                <a:latin typeface="Montserrat Medium"/>
                <a:ea typeface="Montserrat Medium"/>
                <a:cs typeface="Montserrat Medium"/>
              </a:rPr>
              <a:t>, </a:t>
            </a:r>
            <a:r>
              <a:rPr sz="2500" b="0" i="0" u="none" dirty="0" err="1">
                <a:solidFill>
                  <a:srgbClr val="182430"/>
                </a:solidFill>
                <a:latin typeface="Montserrat Medium"/>
                <a:ea typeface="Montserrat Medium"/>
                <a:cs typeface="Montserrat Medium"/>
              </a:rPr>
              <a:t>principales</a:t>
            </a:r>
            <a:r>
              <a:rPr sz="2500" b="0" i="0" u="none" dirty="0">
                <a:solidFill>
                  <a:srgbClr val="182430"/>
                </a:solidFill>
                <a:latin typeface="Montserrat Medium"/>
                <a:ea typeface="Montserrat Medium"/>
                <a:cs typeface="Montserrat Medium"/>
              </a:rPr>
              <a:t> e </a:t>
            </a:r>
            <a:r>
              <a:rPr sz="2500" b="0" i="0" u="none" dirty="0" err="1">
                <a:solidFill>
                  <a:srgbClr val="182430"/>
                </a:solidFill>
                <a:latin typeface="Montserrat Medium"/>
                <a:ea typeface="Montserrat Medium"/>
                <a:cs typeface="Montserrat Medium"/>
              </a:rPr>
              <a:t>instructores</a:t>
            </a:r>
            <a:r>
              <a:rPr sz="2500" b="0" i="0" u="none" dirty="0">
                <a:solidFill>
                  <a:srgbClr val="182430"/>
                </a:solidFill>
                <a:latin typeface="Montserrat Medium"/>
                <a:ea typeface="Montserrat Medium"/>
                <a:cs typeface="Montserrat Medium"/>
              </a:rPr>
              <a:t> OJT</a:t>
            </a:r>
          </a:p>
          <a:p>
            <a:pPr marL="347472" indent="-347472" algn="l">
              <a:lnSpc>
                <a:spcPct val="100000"/>
              </a:lnSpc>
              <a:spcAft>
                <a:spcPts val="1200"/>
              </a:spcAft>
              <a:buClr>
                <a:srgbClr val="B98A2E"/>
              </a:buClr>
              <a:buFont typeface="Arial"/>
              <a:buChar char="•"/>
            </a:pPr>
            <a:r>
              <a:rPr sz="2500" b="0" i="0" u="none" dirty="0" err="1">
                <a:solidFill>
                  <a:srgbClr val="182430"/>
                </a:solidFill>
                <a:latin typeface="Montserrat Medium"/>
                <a:ea typeface="Montserrat Medium"/>
                <a:cs typeface="Montserrat Medium"/>
              </a:rPr>
              <a:t>Áreas</a:t>
            </a:r>
            <a:r>
              <a:rPr sz="2500" b="0" i="0" u="none" dirty="0">
                <a:solidFill>
                  <a:srgbClr val="182430"/>
                </a:solidFill>
                <a:latin typeface="Montserrat Medium"/>
                <a:ea typeface="Montserrat Medium"/>
                <a:cs typeface="Montserrat Medium"/>
              </a:rPr>
              <a:t> con personal IVA y la </a:t>
            </a:r>
            <a:r>
              <a:rPr sz="2500" b="0" i="0" u="none" dirty="0" err="1">
                <a:solidFill>
                  <a:srgbClr val="182430"/>
                </a:solidFill>
                <a:latin typeface="Montserrat Medium"/>
                <a:ea typeface="Montserrat Medium"/>
                <a:cs typeface="Montserrat Medium"/>
              </a:rPr>
              <a:t>Dirección</a:t>
            </a:r>
            <a:r>
              <a:rPr sz="2500" b="0" i="0" u="none" dirty="0">
                <a:solidFill>
                  <a:srgbClr val="182430"/>
                </a:solidFill>
                <a:latin typeface="Montserrat Medium"/>
                <a:ea typeface="Montserrat Medium"/>
                <a:cs typeface="Montserrat Medium"/>
              </a:rPr>
              <a:t> del CIAAC</a:t>
            </a:r>
          </a:p>
          <a:p>
            <a:pPr algn="l">
              <a:lnSpc>
                <a:spcPct val="100000"/>
              </a:lnSpc>
              <a:spcAft>
                <a:spcPts val="1200"/>
              </a:spcAft>
              <a:buClr>
                <a:srgbClr val="B98A2E"/>
              </a:buClr>
            </a:pPr>
            <a:endParaRPr lang="es-MX" sz="2500" dirty="0">
              <a:solidFill>
                <a:srgbClr val="182430"/>
              </a:solidFill>
              <a:latin typeface="Montserrat Medium"/>
              <a:ea typeface="Montserrat Medium"/>
              <a:cs typeface="Montserrat Medium"/>
            </a:endParaRPr>
          </a:p>
          <a:p>
            <a:pPr algn="ctr">
              <a:spcAft>
                <a:spcPts val="1200"/>
              </a:spcAft>
              <a:buClr>
                <a:srgbClr val="B98A2E"/>
              </a:buClr>
            </a:pPr>
            <a:r>
              <a:rPr lang="es-MX" sz="2500" dirty="0">
                <a:solidFill>
                  <a:srgbClr val="182430"/>
                </a:solidFill>
                <a:latin typeface="Montserrat Medium"/>
              </a:rPr>
              <a:t>Su aplicación comprenderá la gestión </a:t>
            </a:r>
            <a:r>
              <a:rPr sz="2500" b="1" i="0" u="none" dirty="0" err="1">
                <a:solidFill>
                  <a:srgbClr val="0E2A47"/>
                </a:solidFill>
                <a:highlight>
                  <a:srgbClr val="EFDDB0"/>
                </a:highlight>
                <a:latin typeface="Montserrat Medium"/>
                <a:ea typeface="Montserrat Medium"/>
                <a:cs typeface="Montserrat Medium"/>
              </a:rPr>
              <a:t>física</a:t>
            </a:r>
            <a:r>
              <a:rPr sz="2500" b="1" i="0" u="none" dirty="0">
                <a:solidFill>
                  <a:srgbClr val="0E2A47"/>
                </a:solidFill>
                <a:highlight>
                  <a:srgbClr val="EFDDB0"/>
                </a:highlight>
                <a:latin typeface="Montserrat Medium"/>
                <a:ea typeface="Montserrat Medium"/>
                <a:cs typeface="Montserrat Medium"/>
              </a:rPr>
              <a:t>, digital o mixta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1.2 DEFINICIONES Y ABREVIATURAS DEL MANUAL</a:t>
            </a:r>
          </a:p>
          <a:p>
            <a:pPr algn="l"/>
            <a:r>
              <a:rPr sz="2800" b="0" i="0" u="none">
                <a:solidFill>
                  <a:srgbClr val="FFFFFF"/>
                </a:solidFill>
                <a:latin typeface="Montserrat SemiBold"/>
                <a:ea typeface="Montserrat SemiBold"/>
                <a:cs typeface="Montserrat SemiBold"/>
              </a:rPr>
              <a:t>Definiciones: los documentos del OJT</a:t>
            </a:r>
          </a:p>
        </p:txBody>
      </p:sp>
      <p:sp>
        <p:nvSpPr>
          <p:cNvPr id="3" name="Rounded Rectangle 2"/>
          <p:cNvSpPr/>
          <p:nvPr/>
        </p:nvSpPr>
        <p:spPr>
          <a:xfrm>
            <a:off x="731520" y="1835161"/>
            <a:ext cx="5029200" cy="514672"/>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Tarea genérica OJT</a:t>
            </a:r>
          </a:p>
        </p:txBody>
      </p:sp>
      <p:sp>
        <p:nvSpPr>
          <p:cNvPr id="4" name="Rounded Rectangle 3"/>
          <p:cNvSpPr/>
          <p:nvPr/>
        </p:nvSpPr>
        <p:spPr>
          <a:xfrm>
            <a:off x="731520" y="2349832"/>
            <a:ext cx="5029200" cy="1286680"/>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Unidad de trabajo con las subtareas necesarias para tus funciones.</a:t>
            </a:r>
          </a:p>
        </p:txBody>
      </p:sp>
      <p:sp>
        <p:nvSpPr>
          <p:cNvPr id="5" name="Rounded Rectangle 4"/>
          <p:cNvSpPr/>
          <p:nvPr/>
        </p:nvSpPr>
        <p:spPr>
          <a:xfrm>
            <a:off x="6035040" y="1835161"/>
            <a:ext cx="5029200" cy="514672"/>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Subtarea OJT</a:t>
            </a:r>
          </a:p>
        </p:txBody>
      </p:sp>
      <p:sp>
        <p:nvSpPr>
          <p:cNvPr id="6" name="Rounded Rectangle 5"/>
          <p:cNvSpPr/>
          <p:nvPr/>
        </p:nvSpPr>
        <p:spPr>
          <a:xfrm>
            <a:off x="6035040" y="2349832"/>
            <a:ext cx="5029200" cy="1286680"/>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Parte de una tarea. Completarlas permite acreditar la tarea.</a:t>
            </a:r>
          </a:p>
        </p:txBody>
      </p:sp>
      <p:sp>
        <p:nvSpPr>
          <p:cNvPr id="7" name="Rounded Rectangle 6"/>
          <p:cNvSpPr/>
          <p:nvPr/>
        </p:nvSpPr>
        <p:spPr>
          <a:xfrm>
            <a:off x="731520" y="3868945"/>
            <a:ext cx="5029200" cy="514672"/>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Formato general OJT</a:t>
            </a:r>
          </a:p>
        </p:txBody>
      </p:sp>
      <p:sp>
        <p:nvSpPr>
          <p:cNvPr id="8" name="Rounded Rectangle 7"/>
          <p:cNvSpPr/>
          <p:nvPr/>
        </p:nvSpPr>
        <p:spPr>
          <a:xfrm>
            <a:off x="731520" y="4383617"/>
            <a:ext cx="5029200" cy="1286680"/>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Documento por especialidad donde se registra cada nivel.</a:t>
            </a:r>
          </a:p>
        </p:txBody>
      </p:sp>
      <p:sp>
        <p:nvSpPr>
          <p:cNvPr id="9" name="Rounded Rectangle 8"/>
          <p:cNvSpPr/>
          <p:nvPr/>
        </p:nvSpPr>
        <p:spPr>
          <a:xfrm>
            <a:off x="6035040" y="3868945"/>
            <a:ext cx="5029200" cy="514672"/>
          </a:xfrm>
          <a:prstGeom prst="roundRect">
            <a:avLst>
              <a:gd name="adj" fmla="val 12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Bitácora OJT</a:t>
            </a:r>
          </a:p>
        </p:txBody>
      </p:sp>
      <p:sp>
        <p:nvSpPr>
          <p:cNvPr id="10" name="Rounded Rectangle 9"/>
          <p:cNvSpPr/>
          <p:nvPr/>
        </p:nvSpPr>
        <p:spPr>
          <a:xfrm>
            <a:off x="6035040" y="4383617"/>
            <a:ext cx="5029200" cy="1286680"/>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Parte del formato: describe las subtareas de cada tarea.</a:t>
            </a:r>
          </a:p>
        </p:txBody>
      </p:sp>
      <p:sp>
        <p:nvSpPr>
          <p:cNvPr id="11" name="TextBox 10"/>
          <p:cNvSpPr txBox="1"/>
          <p:nvPr/>
        </p:nvSpPr>
        <p:spPr>
          <a:xfrm>
            <a:off x="731520" y="5944236"/>
            <a:ext cx="10424160" cy="332046"/>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Fuente: MEPT, apartado de Definiciones.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1.2 DEFINICIONES Y ABREVIATURAS DEL MANUAL</a:t>
            </a:r>
          </a:p>
          <a:p>
            <a:pPr algn="l"/>
            <a:r>
              <a:rPr sz="2800" b="0" i="0" u="none">
                <a:solidFill>
                  <a:srgbClr val="FFFFFF"/>
                </a:solidFill>
                <a:latin typeface="Montserrat SemiBold"/>
                <a:ea typeface="Montserrat SemiBold"/>
                <a:cs typeface="Montserrat SemiBold"/>
              </a:rPr>
              <a:t>Definiciones: resultado y registro</a:t>
            </a:r>
          </a:p>
        </p:txBody>
      </p:sp>
      <p:sp>
        <p:nvSpPr>
          <p:cNvPr id="3" name="Rounded Rectangle 2"/>
          <p:cNvSpPr/>
          <p:nvPr/>
        </p:nvSpPr>
        <p:spPr>
          <a:xfrm>
            <a:off x="731520" y="1835161"/>
            <a:ext cx="5029200" cy="51467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Competencia</a:t>
            </a:r>
          </a:p>
        </p:txBody>
      </p:sp>
      <p:sp>
        <p:nvSpPr>
          <p:cNvPr id="4" name="Rounded Rectangle 3"/>
          <p:cNvSpPr/>
          <p:nvPr/>
        </p:nvSpPr>
        <p:spPr>
          <a:xfrm>
            <a:off x="731520" y="2349832"/>
            <a:ext cx="5029200" cy="1286680"/>
          </a:xfrm>
          <a:prstGeom prst="roundRect">
            <a:avLst>
              <a:gd name="adj" fmla="val 4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Capacidad </a:t>
            </a:r>
            <a:r>
              <a:rPr sz="1800" b="1" i="0" u="none">
                <a:solidFill>
                  <a:srgbClr val="0E2A47"/>
                </a:solidFill>
                <a:highlight>
                  <a:srgbClr val="E6CC8F"/>
                </a:highlight>
                <a:latin typeface="Montserrat Medium"/>
                <a:ea typeface="Montserrat Medium"/>
                <a:cs typeface="Montserrat Medium"/>
              </a:rPr>
              <a:t>demostrada</a:t>
            </a:r>
            <a:r>
              <a:rPr sz="1800" b="0" i="0" u="none">
                <a:solidFill>
                  <a:srgbClr val="182430"/>
                </a:solidFill>
                <a:latin typeface="Montserrat Medium"/>
                <a:ea typeface="Montserrat Medium"/>
                <a:cs typeface="Montserrat Medium"/>
              </a:rPr>
              <a:t> de realizar una tarea conforme a procedimientos y criterios.</a:t>
            </a:r>
          </a:p>
        </p:txBody>
      </p:sp>
      <p:sp>
        <p:nvSpPr>
          <p:cNvPr id="5" name="Rounded Rectangle 4"/>
          <p:cNvSpPr/>
          <p:nvPr/>
        </p:nvSpPr>
        <p:spPr>
          <a:xfrm>
            <a:off x="6035040" y="1835161"/>
            <a:ext cx="5029200" cy="51467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Acreditación OJT</a:t>
            </a:r>
          </a:p>
        </p:txBody>
      </p:sp>
      <p:sp>
        <p:nvSpPr>
          <p:cNvPr id="6" name="Rounded Rectangle 5"/>
          <p:cNvSpPr/>
          <p:nvPr/>
        </p:nvSpPr>
        <p:spPr>
          <a:xfrm>
            <a:off x="6035040" y="2349832"/>
            <a:ext cx="5029200" cy="1286680"/>
          </a:xfrm>
          <a:prstGeom prst="roundRect">
            <a:avLst>
              <a:gd name="adj" fmla="val 4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Resultado satisfactorio documentado de </a:t>
            </a:r>
            <a:r>
              <a:rPr sz="1800" b="1" i="0" u="none">
                <a:solidFill>
                  <a:srgbClr val="0E2A47"/>
                </a:solidFill>
                <a:highlight>
                  <a:srgbClr val="E6CC8F"/>
                </a:highlight>
                <a:latin typeface="Montserrat Medium"/>
                <a:ea typeface="Montserrat Medium"/>
                <a:cs typeface="Montserrat Medium"/>
              </a:rPr>
              <a:t>una tarea y un nivel</a:t>
            </a:r>
            <a:r>
              <a:rPr sz="1800" b="0" i="0" u="none">
                <a:solidFill>
                  <a:srgbClr val="182430"/>
                </a:solidFill>
                <a:latin typeface="Montserrat Medium"/>
                <a:ea typeface="Montserrat Medium"/>
                <a:cs typeface="Montserrat Medium"/>
              </a:rPr>
              <a:t>.</a:t>
            </a:r>
          </a:p>
        </p:txBody>
      </p:sp>
      <p:sp>
        <p:nvSpPr>
          <p:cNvPr id="7" name="Rounded Rectangle 6"/>
          <p:cNvSpPr/>
          <p:nvPr/>
        </p:nvSpPr>
        <p:spPr>
          <a:xfrm>
            <a:off x="731520" y="3868945"/>
            <a:ext cx="5029200" cy="51467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Convalidación</a:t>
            </a:r>
          </a:p>
        </p:txBody>
      </p:sp>
      <p:sp>
        <p:nvSpPr>
          <p:cNvPr id="8" name="Rounded Rectangle 7"/>
          <p:cNvSpPr/>
          <p:nvPr/>
        </p:nvSpPr>
        <p:spPr>
          <a:xfrm>
            <a:off x="731520" y="4383617"/>
            <a:ext cx="5029200" cy="1286680"/>
          </a:xfrm>
          <a:prstGeom prst="roundRect">
            <a:avLst>
              <a:gd name="adj" fmla="val 4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Reconocimiento de entrenamiento previo, por tarea y nivel, con </a:t>
            </a:r>
            <a:r>
              <a:rPr sz="1800" b="1" i="0" u="none">
                <a:solidFill>
                  <a:srgbClr val="0E2A47"/>
                </a:solidFill>
                <a:highlight>
                  <a:srgbClr val="E6CC8F"/>
                </a:highlight>
                <a:latin typeface="Montserrat Medium"/>
                <a:ea typeface="Montserrat Medium"/>
                <a:cs typeface="Montserrat Medium"/>
              </a:rPr>
              <a:t>fechas reales</a:t>
            </a:r>
            <a:r>
              <a:rPr sz="1800" b="0" i="0" u="none">
                <a:solidFill>
                  <a:srgbClr val="182430"/>
                </a:solidFill>
                <a:latin typeface="Montserrat Medium"/>
                <a:ea typeface="Montserrat Medium"/>
                <a:cs typeface="Montserrat Medium"/>
              </a:rPr>
              <a:t>.</a:t>
            </a:r>
          </a:p>
        </p:txBody>
      </p:sp>
      <p:sp>
        <p:nvSpPr>
          <p:cNvPr id="9" name="Rounded Rectangle 8"/>
          <p:cNvSpPr/>
          <p:nvPr/>
        </p:nvSpPr>
        <p:spPr>
          <a:xfrm>
            <a:off x="6035040" y="3868945"/>
            <a:ext cx="5029200" cy="51467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000" b="0" i="0" u="none">
                <a:solidFill>
                  <a:srgbClr val="FFFFFF"/>
                </a:solidFill>
                <a:latin typeface="Montserrat SemiBold"/>
                <a:ea typeface="Montserrat SemiBold"/>
                <a:cs typeface="Montserrat SemiBold"/>
              </a:rPr>
              <a:t>Módulo OJT</a:t>
            </a:r>
          </a:p>
        </p:txBody>
      </p:sp>
      <p:sp>
        <p:nvSpPr>
          <p:cNvPr id="10" name="Rounded Rectangle 9"/>
          <p:cNvSpPr/>
          <p:nvPr/>
        </p:nvSpPr>
        <p:spPr>
          <a:xfrm>
            <a:off x="6035040" y="4383617"/>
            <a:ext cx="5029200" cy="1286680"/>
          </a:xfrm>
          <a:prstGeom prst="roundRect">
            <a:avLst>
              <a:gd name="adj" fmla="val 4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Apartado de la plataforma de la AFAC para formatos, bitácoras y evidencias.</a:t>
            </a:r>
          </a:p>
        </p:txBody>
      </p:sp>
      <p:sp>
        <p:nvSpPr>
          <p:cNvPr id="11" name="TextBox 10"/>
          <p:cNvSpPr txBox="1"/>
          <p:nvPr/>
        </p:nvSpPr>
        <p:spPr>
          <a:xfrm>
            <a:off x="731520" y="5944236"/>
            <a:ext cx="10424160" cy="332046"/>
          </a:xfrm>
          <a:prstGeom prst="rect">
            <a:avLst/>
          </a:prstGeom>
          <a:noFill/>
        </p:spPr>
        <p:txBody>
          <a:bodyPr wrap="square" lIns="45720" rIns="45720" anchor="t">
            <a:spAutoFit/>
          </a:bodyPr>
          <a:lstStyle/>
          <a:p>
            <a:pPr algn="ctr">
              <a:lnSpc>
                <a:spcPct val="100000"/>
              </a:lnSpc>
              <a:spcAft>
                <a:spcPts val="600"/>
              </a:spcAft>
            </a:pPr>
            <a:r>
              <a:rPr sz="1600" b="0" i="0" u="none">
                <a:solidFill>
                  <a:srgbClr val="0E2A47"/>
                </a:solidFill>
                <a:latin typeface="Montserrat SemiBold"/>
                <a:ea typeface="Montserrat SemiBold"/>
                <a:cs typeface="Montserrat SemiBold"/>
              </a:rPr>
              <a:t>La acreditación OJT no autoriza por sí sola a ejercer funciones ni designa instructor.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1.2 DEFINICIONES Y ABREVIATURAS DEL MANUAL</a:t>
            </a:r>
          </a:p>
          <a:p>
            <a:pPr algn="l"/>
            <a:r>
              <a:rPr sz="2800" b="0" i="0" u="none">
                <a:solidFill>
                  <a:srgbClr val="FFFFFF"/>
                </a:solidFill>
                <a:latin typeface="Montserrat SemiBold"/>
                <a:ea typeface="Montserrat SemiBold"/>
                <a:cs typeface="Montserrat SemiBold"/>
              </a:rPr>
              <a:t>Abreviaturas: figuras del Programa OJT</a:t>
            </a:r>
          </a:p>
        </p:txBody>
      </p:sp>
      <p:sp>
        <p:nvSpPr>
          <p:cNvPr id="3" name="Rounded Rectangle 2"/>
          <p:cNvSpPr/>
          <p:nvPr/>
        </p:nvSpPr>
        <p:spPr>
          <a:xfrm>
            <a:off x="640080" y="1752149"/>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CPEPT</a:t>
            </a:r>
          </a:p>
        </p:txBody>
      </p:sp>
      <p:sp>
        <p:nvSpPr>
          <p:cNvPr id="4" name="Rounded Rectangle 3"/>
          <p:cNvSpPr/>
          <p:nvPr/>
        </p:nvSpPr>
        <p:spPr>
          <a:xfrm>
            <a:off x="2011680" y="1752149"/>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Coordinación del Programa de Entrenamiento en el Puesto de Trabajo</a:t>
            </a:r>
          </a:p>
        </p:txBody>
      </p:sp>
      <p:sp>
        <p:nvSpPr>
          <p:cNvPr id="5" name="Rounded Rectangle 4"/>
          <p:cNvSpPr/>
          <p:nvPr/>
        </p:nvSpPr>
        <p:spPr>
          <a:xfrm>
            <a:off x="5989320" y="1752149"/>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JDOP</a:t>
            </a:r>
          </a:p>
        </p:txBody>
      </p:sp>
      <p:sp>
        <p:nvSpPr>
          <p:cNvPr id="6" name="Rounded Rectangle 5"/>
          <p:cNvSpPr/>
          <p:nvPr/>
        </p:nvSpPr>
        <p:spPr>
          <a:xfrm>
            <a:off x="7360920" y="1752149"/>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Jefe de División del Seguimiento Operacional de Programas OJT</a:t>
            </a:r>
          </a:p>
        </p:txBody>
      </p:sp>
      <p:sp>
        <p:nvSpPr>
          <p:cNvPr id="7" name="Rounded Rectangle 6"/>
          <p:cNvSpPr/>
          <p:nvPr/>
        </p:nvSpPr>
        <p:spPr>
          <a:xfrm>
            <a:off x="640080" y="2565663"/>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JDAE</a:t>
            </a:r>
          </a:p>
        </p:txBody>
      </p:sp>
      <p:sp>
        <p:nvSpPr>
          <p:cNvPr id="8" name="Rounded Rectangle 7"/>
          <p:cNvSpPr/>
          <p:nvPr/>
        </p:nvSpPr>
        <p:spPr>
          <a:xfrm>
            <a:off x="2011680" y="2565663"/>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Jefe de División de Análisis Técnico del Entrenamiento OJT</a:t>
            </a:r>
          </a:p>
        </p:txBody>
      </p:sp>
      <p:sp>
        <p:nvSpPr>
          <p:cNvPr id="9" name="Rounded Rectangle 8"/>
          <p:cNvSpPr/>
          <p:nvPr/>
        </p:nvSpPr>
        <p:spPr>
          <a:xfrm>
            <a:off x="5989320" y="2565663"/>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ICOJT</a:t>
            </a:r>
          </a:p>
        </p:txBody>
      </p:sp>
      <p:sp>
        <p:nvSpPr>
          <p:cNvPr id="10" name="Rounded Rectangle 9"/>
          <p:cNvSpPr/>
          <p:nvPr/>
        </p:nvSpPr>
        <p:spPr>
          <a:xfrm>
            <a:off x="7360920" y="2565663"/>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Instructor Coordinador OJT (ICOJT-S: suplente)</a:t>
            </a:r>
          </a:p>
        </p:txBody>
      </p:sp>
      <p:sp>
        <p:nvSpPr>
          <p:cNvPr id="11" name="Rounded Rectangle 10"/>
          <p:cNvSpPr/>
          <p:nvPr/>
        </p:nvSpPr>
        <p:spPr>
          <a:xfrm>
            <a:off x="640080" y="3379177"/>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IPOJT</a:t>
            </a:r>
          </a:p>
        </p:txBody>
      </p:sp>
      <p:sp>
        <p:nvSpPr>
          <p:cNvPr id="12" name="Rounded Rectangle 11"/>
          <p:cNvSpPr/>
          <p:nvPr/>
        </p:nvSpPr>
        <p:spPr>
          <a:xfrm>
            <a:off x="2011680" y="3379177"/>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Instructor Principal OJT</a:t>
            </a:r>
          </a:p>
        </p:txBody>
      </p:sp>
      <p:sp>
        <p:nvSpPr>
          <p:cNvPr id="13" name="Rounded Rectangle 12"/>
          <p:cNvSpPr/>
          <p:nvPr/>
        </p:nvSpPr>
        <p:spPr>
          <a:xfrm>
            <a:off x="5989320" y="3379177"/>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IOJT</a:t>
            </a:r>
          </a:p>
        </p:txBody>
      </p:sp>
      <p:sp>
        <p:nvSpPr>
          <p:cNvPr id="14" name="Rounded Rectangle 13"/>
          <p:cNvSpPr/>
          <p:nvPr/>
        </p:nvSpPr>
        <p:spPr>
          <a:xfrm>
            <a:off x="7360920" y="3379177"/>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Instructor OJT</a:t>
            </a:r>
          </a:p>
        </p:txBody>
      </p:sp>
      <p:sp>
        <p:nvSpPr>
          <p:cNvPr id="15" name="Rounded Rectangle 14"/>
          <p:cNvSpPr/>
          <p:nvPr/>
        </p:nvSpPr>
        <p:spPr>
          <a:xfrm>
            <a:off x="640080" y="4192690"/>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IIOJT</a:t>
            </a:r>
          </a:p>
        </p:txBody>
      </p:sp>
      <p:sp>
        <p:nvSpPr>
          <p:cNvPr id="16" name="Rounded Rectangle 15"/>
          <p:cNvSpPr/>
          <p:nvPr/>
        </p:nvSpPr>
        <p:spPr>
          <a:xfrm>
            <a:off x="2011680" y="4192690"/>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Inspector Instructor OJT (adscrito al CIAAC)</a:t>
            </a:r>
          </a:p>
        </p:txBody>
      </p:sp>
      <p:sp>
        <p:nvSpPr>
          <p:cNvPr id="17" name="Rounded Rectangle 16"/>
          <p:cNvSpPr/>
          <p:nvPr/>
        </p:nvSpPr>
        <p:spPr>
          <a:xfrm>
            <a:off x="5989320" y="4192690"/>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IIFTA</a:t>
            </a:r>
          </a:p>
        </p:txBody>
      </p:sp>
      <p:sp>
        <p:nvSpPr>
          <p:cNvPr id="18" name="Rounded Rectangle 17"/>
          <p:cNvSpPr/>
          <p:nvPr/>
        </p:nvSpPr>
        <p:spPr>
          <a:xfrm>
            <a:off x="7360920" y="4192690"/>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Inspector Instructor de Formación Técnica Aeronáutica</a:t>
            </a:r>
          </a:p>
        </p:txBody>
      </p:sp>
      <p:sp>
        <p:nvSpPr>
          <p:cNvPr id="19" name="Rounded Rectangle 18"/>
          <p:cNvSpPr/>
          <p:nvPr/>
        </p:nvSpPr>
        <p:spPr>
          <a:xfrm>
            <a:off x="640080" y="5006204"/>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IVA AP</a:t>
            </a:r>
          </a:p>
        </p:txBody>
      </p:sp>
      <p:sp>
        <p:nvSpPr>
          <p:cNvPr id="20" name="Rounded Rectangle 19"/>
          <p:cNvSpPr/>
          <p:nvPr/>
        </p:nvSpPr>
        <p:spPr>
          <a:xfrm>
            <a:off x="2011680" y="5006204"/>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Inspector Verificador Aeronáutico Aprendiz</a:t>
            </a:r>
          </a:p>
        </p:txBody>
      </p:sp>
      <p:sp>
        <p:nvSpPr>
          <p:cNvPr id="21" name="Rounded Rectangle 20"/>
          <p:cNvSpPr/>
          <p:nvPr/>
        </p:nvSpPr>
        <p:spPr>
          <a:xfrm>
            <a:off x="5989320" y="5006204"/>
            <a:ext cx="1325880" cy="664092"/>
          </a:xfrm>
          <a:prstGeom prst="roundRect">
            <a:avLst>
              <a:gd name="adj" fmla="val 12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spcAft>
                <a:spcPts val="0"/>
              </a:spcAft>
            </a:pPr>
            <a:r>
              <a:rPr sz="1600" b="0" i="0" u="none">
                <a:solidFill>
                  <a:srgbClr val="FFFFFF"/>
                </a:solidFill>
                <a:latin typeface="Montserrat SemiBold"/>
                <a:ea typeface="Montserrat SemiBold"/>
                <a:cs typeface="Montserrat SemiBold"/>
              </a:rPr>
              <a:t>IAP</a:t>
            </a:r>
          </a:p>
        </p:txBody>
      </p:sp>
      <p:sp>
        <p:nvSpPr>
          <p:cNvPr id="22" name="Rounded Rectangle 21"/>
          <p:cNvSpPr/>
          <p:nvPr/>
        </p:nvSpPr>
        <p:spPr>
          <a:xfrm>
            <a:off x="7360920" y="5006204"/>
            <a:ext cx="3794760" cy="664092"/>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0"/>
              </a:spcAft>
            </a:pPr>
            <a:r>
              <a:rPr sz="1600" b="0" i="0" u="none">
                <a:solidFill>
                  <a:srgbClr val="182430"/>
                </a:solidFill>
                <a:latin typeface="Montserrat Medium"/>
                <a:ea typeface="Montserrat Medium"/>
                <a:cs typeface="Montserrat Medium"/>
              </a:rPr>
              <a:t>Instructor Aprendiz</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1.3 ESTRUCTURA DEL MEPT: CAPÍTULOS Y ANEXOS</a:t>
            </a:r>
          </a:p>
          <a:p>
            <a:pPr algn="l"/>
            <a:r>
              <a:rPr sz="2800" b="0" i="0" u="none">
                <a:solidFill>
                  <a:srgbClr val="FFFFFF"/>
                </a:solidFill>
                <a:latin typeface="Montserrat SemiBold"/>
                <a:ea typeface="Montserrat SemiBold"/>
                <a:cs typeface="Montserrat SemiBold"/>
              </a:rPr>
              <a:t>Estructura del MEPT</a:t>
            </a:r>
          </a:p>
        </p:txBody>
      </p:sp>
      <p:sp>
        <p:nvSpPr>
          <p:cNvPr id="3" name="Rounded Rectangle 2"/>
          <p:cNvSpPr/>
          <p:nvPr/>
        </p:nvSpPr>
        <p:spPr>
          <a:xfrm>
            <a:off x="731520" y="1752149"/>
            <a:ext cx="3291840"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Descripción</a:t>
            </a:r>
          </a:p>
          <a:p>
            <a:pPr algn="ctr">
              <a:spcAft>
                <a:spcPts val="0"/>
              </a:spcAft>
            </a:pPr>
            <a:r>
              <a:rPr sz="1600" b="0" i="0" u="none">
                <a:solidFill>
                  <a:srgbClr val="182430"/>
                </a:solidFill>
                <a:latin typeface="Montserrat Medium"/>
                <a:ea typeface="Montserrat Medium"/>
                <a:cs typeface="Montserrat Medium"/>
              </a:rPr>
              <a:t>Uso, control de revisiones y responsables</a:t>
            </a:r>
          </a:p>
        </p:txBody>
      </p:sp>
      <p:sp>
        <p:nvSpPr>
          <p:cNvPr id="4" name="Rounded Rectangle 3"/>
          <p:cNvSpPr/>
          <p:nvPr/>
        </p:nvSpPr>
        <p:spPr>
          <a:xfrm>
            <a:off x="4251960" y="1752149"/>
            <a:ext cx="3291840"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Cap. 1</a:t>
            </a:r>
          </a:p>
          <a:p>
            <a:pPr algn="ctr">
              <a:spcAft>
                <a:spcPts val="0"/>
              </a:spcAft>
            </a:pPr>
            <a:r>
              <a:rPr sz="1600" b="0" i="0" u="none">
                <a:solidFill>
                  <a:srgbClr val="182430"/>
                </a:solidFill>
                <a:latin typeface="Montserrat Medium"/>
                <a:ea typeface="Montserrat Medium"/>
                <a:cs typeface="Montserrat Medium"/>
              </a:rPr>
              <a:t>Introducción general</a:t>
            </a:r>
          </a:p>
        </p:txBody>
      </p:sp>
      <p:sp>
        <p:nvSpPr>
          <p:cNvPr id="5" name="Rounded Rectangle 4"/>
          <p:cNvSpPr/>
          <p:nvPr/>
        </p:nvSpPr>
        <p:spPr>
          <a:xfrm>
            <a:off x="7772400" y="1752149"/>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600" b="1">
                <a:solidFill>
                  <a:srgbClr val="9A7323"/>
                </a:solidFill>
                <a:latin typeface="Montserrat Medium"/>
              </a:rPr>
              <a:t>Cap. 2</a:t>
            </a:r>
          </a:p>
          <a:p>
            <a:pPr algn="ctr"/>
            <a:r>
              <a:rPr sz="1600" b="1">
                <a:solidFill>
                  <a:srgbClr val="9A7323"/>
                </a:solidFill>
                <a:latin typeface="Montserrat Medium"/>
              </a:rPr>
              <a:t>Objetivos</a:t>
            </a:r>
          </a:p>
        </p:txBody>
      </p:sp>
      <p:sp>
        <p:nvSpPr>
          <p:cNvPr id="6" name="Rounded Rectangle 5"/>
          <p:cNvSpPr/>
          <p:nvPr/>
        </p:nvSpPr>
        <p:spPr>
          <a:xfrm>
            <a:off x="731520" y="3121841"/>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Cap. 3</a:t>
            </a:r>
          </a:p>
          <a:p>
            <a:pPr algn="ctr">
              <a:spcAft>
                <a:spcPts val="0"/>
              </a:spcAft>
            </a:pPr>
            <a:r>
              <a:rPr sz="1600" b="0" i="0" u="none">
                <a:solidFill>
                  <a:srgbClr val="182430"/>
                </a:solidFill>
                <a:latin typeface="Montserrat Medium"/>
                <a:ea typeface="Montserrat Medium"/>
                <a:cs typeface="Montserrat Medium"/>
              </a:rPr>
              <a:t>Estructura del sistema OJT</a:t>
            </a:r>
          </a:p>
        </p:txBody>
      </p:sp>
      <p:sp>
        <p:nvSpPr>
          <p:cNvPr id="7" name="Rounded Rectangle 6"/>
          <p:cNvSpPr/>
          <p:nvPr/>
        </p:nvSpPr>
        <p:spPr>
          <a:xfrm>
            <a:off x="3246120" y="3022227"/>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dirty="0">
                <a:solidFill>
                  <a:srgbClr val="FFFFFF"/>
                </a:solidFill>
                <a:latin typeface="Montserrat SemiBold"/>
                <a:ea typeface="Montserrat SemiBold"/>
                <a:cs typeface="Montserrat SemiBold"/>
              </a:rPr>
              <a:t>M1</a:t>
            </a:r>
          </a:p>
        </p:txBody>
      </p:sp>
      <p:sp>
        <p:nvSpPr>
          <p:cNvPr id="8" name="Rounded Rectangle 7"/>
          <p:cNvSpPr/>
          <p:nvPr/>
        </p:nvSpPr>
        <p:spPr>
          <a:xfrm>
            <a:off x="4251960" y="3121841"/>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Cap. 4</a:t>
            </a:r>
          </a:p>
          <a:p>
            <a:pPr algn="ctr">
              <a:spcAft>
                <a:spcPts val="0"/>
              </a:spcAft>
            </a:pPr>
            <a:r>
              <a:rPr sz="1600" b="0" i="0" u="none">
                <a:solidFill>
                  <a:srgbClr val="182430"/>
                </a:solidFill>
                <a:latin typeface="Montserrat Medium"/>
                <a:ea typeface="Montserrat Medium"/>
                <a:cs typeface="Montserrat Medium"/>
              </a:rPr>
              <a:t>Requisitos para el OJT</a:t>
            </a:r>
          </a:p>
        </p:txBody>
      </p:sp>
      <p:sp>
        <p:nvSpPr>
          <p:cNvPr id="9" name="Rounded Rectangle 8"/>
          <p:cNvSpPr/>
          <p:nvPr/>
        </p:nvSpPr>
        <p:spPr>
          <a:xfrm>
            <a:off x="6766560" y="3022227"/>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a:solidFill>
                  <a:srgbClr val="FFFFFF"/>
                </a:solidFill>
                <a:latin typeface="Montserrat SemiBold"/>
                <a:ea typeface="Montserrat SemiBold"/>
                <a:cs typeface="Montserrat SemiBold"/>
              </a:rPr>
              <a:t>M2</a:t>
            </a:r>
          </a:p>
        </p:txBody>
      </p:sp>
      <p:sp>
        <p:nvSpPr>
          <p:cNvPr id="10" name="Rounded Rectangle 9"/>
          <p:cNvSpPr/>
          <p:nvPr/>
        </p:nvSpPr>
        <p:spPr>
          <a:xfrm>
            <a:off x="7772400" y="3121841"/>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Cap. 5</a:t>
            </a:r>
          </a:p>
          <a:p>
            <a:pPr algn="ctr">
              <a:spcAft>
                <a:spcPts val="0"/>
              </a:spcAft>
            </a:pPr>
            <a:r>
              <a:rPr sz="1600" b="0" i="0" u="none">
                <a:solidFill>
                  <a:srgbClr val="182430"/>
                </a:solidFill>
                <a:latin typeface="Montserrat Medium"/>
                <a:ea typeface="Montserrat Medium"/>
                <a:cs typeface="Montserrat Medium"/>
              </a:rPr>
              <a:t>Proceso de ejecución</a:t>
            </a:r>
          </a:p>
        </p:txBody>
      </p:sp>
      <p:sp>
        <p:nvSpPr>
          <p:cNvPr id="11" name="Rounded Rectangle 10"/>
          <p:cNvSpPr/>
          <p:nvPr/>
        </p:nvSpPr>
        <p:spPr>
          <a:xfrm>
            <a:off x="10287000" y="3022227"/>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a:solidFill>
                  <a:srgbClr val="FFFFFF"/>
                </a:solidFill>
                <a:latin typeface="Montserrat SemiBold"/>
                <a:ea typeface="Montserrat SemiBold"/>
                <a:cs typeface="Montserrat SemiBold"/>
              </a:rPr>
              <a:t>M3</a:t>
            </a:r>
          </a:p>
        </p:txBody>
      </p:sp>
      <p:sp>
        <p:nvSpPr>
          <p:cNvPr id="12" name="Rounded Rectangle 11"/>
          <p:cNvSpPr/>
          <p:nvPr/>
        </p:nvSpPr>
        <p:spPr>
          <a:xfrm>
            <a:off x="731520" y="4491532"/>
            <a:ext cx="3291840" cy="120366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Cap. 6</a:t>
            </a:r>
          </a:p>
          <a:p>
            <a:pPr algn="ctr">
              <a:spcAft>
                <a:spcPts val="0"/>
              </a:spcAft>
            </a:pPr>
            <a:r>
              <a:rPr sz="1600" b="0" i="0" u="none">
                <a:solidFill>
                  <a:srgbClr val="182430"/>
                </a:solidFill>
                <a:latin typeface="Montserrat Medium"/>
                <a:ea typeface="Montserrat Medium"/>
                <a:cs typeface="Montserrat Medium"/>
              </a:rPr>
              <a:t>Evaluación y mejora</a:t>
            </a:r>
          </a:p>
        </p:txBody>
      </p:sp>
      <p:sp>
        <p:nvSpPr>
          <p:cNvPr id="13" name="Rounded Rectangle 12"/>
          <p:cNvSpPr/>
          <p:nvPr/>
        </p:nvSpPr>
        <p:spPr>
          <a:xfrm>
            <a:off x="4251960" y="4491532"/>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a:solidFill>
                  <a:srgbClr val="9A7323"/>
                </a:solidFill>
                <a:latin typeface="Montserrat Medium"/>
                <a:ea typeface="Montserrat Medium"/>
                <a:cs typeface="Montserrat Medium"/>
              </a:rPr>
              <a:t>Anexo 1</a:t>
            </a:r>
          </a:p>
          <a:p>
            <a:pPr algn="ctr">
              <a:spcAft>
                <a:spcPts val="0"/>
              </a:spcAft>
            </a:pPr>
            <a:r>
              <a:rPr sz="1600" b="0" i="0" u="none">
                <a:solidFill>
                  <a:srgbClr val="182430"/>
                </a:solidFill>
                <a:latin typeface="Montserrat Medium"/>
                <a:ea typeface="Montserrat Medium"/>
                <a:cs typeface="Montserrat Medium"/>
              </a:rPr>
              <a:t>Formatos OJT y bitácoras</a:t>
            </a:r>
          </a:p>
        </p:txBody>
      </p:sp>
      <p:sp>
        <p:nvSpPr>
          <p:cNvPr id="14" name="Rounded Rectangle 13"/>
          <p:cNvSpPr/>
          <p:nvPr/>
        </p:nvSpPr>
        <p:spPr>
          <a:xfrm>
            <a:off x="6766560" y="4391918"/>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a:solidFill>
                  <a:srgbClr val="FFFFFF"/>
                </a:solidFill>
                <a:latin typeface="Montserrat SemiBold"/>
                <a:ea typeface="Montserrat SemiBold"/>
                <a:cs typeface="Montserrat SemiBold"/>
              </a:rPr>
              <a:t>M3</a:t>
            </a:r>
          </a:p>
        </p:txBody>
      </p:sp>
      <p:sp>
        <p:nvSpPr>
          <p:cNvPr id="15" name="Rounded Rectangle 14"/>
          <p:cNvSpPr/>
          <p:nvPr/>
        </p:nvSpPr>
        <p:spPr>
          <a:xfrm>
            <a:off x="7772400" y="4491532"/>
            <a:ext cx="3291840" cy="1203668"/>
          </a:xfrm>
          <a:prstGeom prst="roundRect">
            <a:avLst>
              <a:gd name="adj" fmla="val 8000"/>
            </a:avLst>
          </a:prstGeom>
          <a:solidFill>
            <a:srgbClr val="F6EEDC"/>
          </a:solid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spcAft>
                <a:spcPts val="0"/>
              </a:spcAft>
            </a:pPr>
            <a:r>
              <a:rPr sz="1600" b="1" i="0" u="none" dirty="0">
                <a:solidFill>
                  <a:srgbClr val="9A7323"/>
                </a:solidFill>
                <a:latin typeface="Montserrat Medium"/>
                <a:ea typeface="Montserrat Medium"/>
                <a:cs typeface="Montserrat Medium"/>
              </a:rPr>
              <a:t>Anexo 2</a:t>
            </a:r>
          </a:p>
          <a:p>
            <a:pPr algn="ctr">
              <a:spcAft>
                <a:spcPts val="0"/>
              </a:spcAft>
            </a:pPr>
            <a:r>
              <a:rPr sz="1600" b="0" i="0" u="none" dirty="0">
                <a:solidFill>
                  <a:srgbClr val="182430"/>
                </a:solidFill>
                <a:latin typeface="Montserrat Medium"/>
                <a:ea typeface="Montserrat Medium"/>
                <a:cs typeface="Montserrat Medium"/>
              </a:rPr>
              <a:t>Manual de </a:t>
            </a:r>
            <a:r>
              <a:rPr sz="1600" b="0" i="0" u="none" dirty="0" err="1">
                <a:solidFill>
                  <a:srgbClr val="182430"/>
                </a:solidFill>
                <a:latin typeface="Montserrat Medium"/>
                <a:ea typeface="Montserrat Medium"/>
                <a:cs typeface="Montserrat Medium"/>
              </a:rPr>
              <a:t>usuario</a:t>
            </a:r>
            <a:r>
              <a:rPr sz="1600" b="0" i="0" u="none" dirty="0">
                <a:solidFill>
                  <a:srgbClr val="182430"/>
                </a:solidFill>
                <a:latin typeface="Montserrat Medium"/>
                <a:ea typeface="Montserrat Medium"/>
                <a:cs typeface="Montserrat Medium"/>
              </a:rPr>
              <a:t> del </a:t>
            </a:r>
            <a:r>
              <a:rPr sz="1600" b="0" i="0" u="none" dirty="0" err="1">
                <a:solidFill>
                  <a:srgbClr val="182430"/>
                </a:solidFill>
                <a:latin typeface="Montserrat Medium"/>
                <a:ea typeface="Montserrat Medium"/>
                <a:cs typeface="Montserrat Medium"/>
              </a:rPr>
              <a:t>Módulo</a:t>
            </a:r>
            <a:r>
              <a:rPr sz="1600" b="0" i="0" u="none" dirty="0">
                <a:solidFill>
                  <a:srgbClr val="182430"/>
                </a:solidFill>
                <a:latin typeface="Montserrat Medium"/>
                <a:ea typeface="Montserrat Medium"/>
                <a:cs typeface="Montserrat Medium"/>
              </a:rPr>
              <a:t> OJT</a:t>
            </a:r>
          </a:p>
        </p:txBody>
      </p:sp>
      <p:sp>
        <p:nvSpPr>
          <p:cNvPr id="16" name="Rounded Rectangle 15"/>
          <p:cNvSpPr/>
          <p:nvPr/>
        </p:nvSpPr>
        <p:spPr>
          <a:xfrm>
            <a:off x="10287000" y="4391918"/>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dirty="0">
                <a:solidFill>
                  <a:srgbClr val="FFFFFF"/>
                </a:solidFill>
                <a:latin typeface="Montserrat SemiBold"/>
                <a:ea typeface="Montserrat SemiBold"/>
                <a:cs typeface="Montserrat SemiBold"/>
              </a:rPr>
              <a:t>M3</a:t>
            </a:r>
          </a:p>
        </p:txBody>
      </p:sp>
      <p:sp>
        <p:nvSpPr>
          <p:cNvPr id="17" name="TextBox 16"/>
          <p:cNvSpPr txBox="1"/>
          <p:nvPr/>
        </p:nvSpPr>
        <p:spPr>
          <a:xfrm>
            <a:off x="731520" y="5861224"/>
            <a:ext cx="10424160" cy="332046"/>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Recuadros dorados: capítulos que estudias en este curso.</a:t>
            </a:r>
          </a:p>
        </p:txBody>
      </p:sp>
      <p:sp>
        <p:nvSpPr>
          <p:cNvPr id="19" name="Rounded Rectangle 6">
            <a:extLst>
              <a:ext uri="{FF2B5EF4-FFF2-40B4-BE49-F238E27FC236}">
                <a16:creationId xmlns:a16="http://schemas.microsoft.com/office/drawing/2014/main" id="{4EB2E0AC-E1A8-3EF6-98E8-2FEB6E2AE6AC}"/>
              </a:ext>
            </a:extLst>
          </p:cNvPr>
          <p:cNvSpPr/>
          <p:nvPr/>
        </p:nvSpPr>
        <p:spPr>
          <a:xfrm>
            <a:off x="10283305" y="1594427"/>
            <a:ext cx="731520" cy="315444"/>
          </a:xfrm>
          <a:prstGeom prst="roundRect">
            <a:avLst>
              <a:gd name="adj" fmla="val 5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200" b="0" i="0" u="none" dirty="0">
                <a:solidFill>
                  <a:srgbClr val="FFFFFF"/>
                </a:solidFill>
                <a:latin typeface="Montserrat SemiBold"/>
                <a:ea typeface="Montserrat SemiBold"/>
                <a:cs typeface="Montserrat SemiBold"/>
              </a:rPr>
              <a:t>M1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1.3 ESTRUCTURA DEL MEPT: CAPÍTULOS Y ANEXOS</a:t>
            </a:r>
          </a:p>
          <a:p>
            <a:pPr algn="l"/>
            <a:r>
              <a:rPr sz="2800" b="0" i="0" u="none">
                <a:solidFill>
                  <a:srgbClr val="FFFFFF"/>
                </a:solidFill>
                <a:latin typeface="Montserrat SemiBold"/>
                <a:ea typeface="Montserrat SemiBold"/>
                <a:cs typeface="Montserrat SemiBold"/>
              </a:rPr>
              <a:t>Anexo 1: formatos y bitácoras</a:t>
            </a:r>
          </a:p>
        </p:txBody>
      </p:sp>
      <p:pic>
        <p:nvPicPr>
          <p:cNvPr id="3" name="Picture 2" descr="s08_fd983f.png"/>
          <p:cNvPicPr>
            <a:picLocks noChangeAspect="1"/>
          </p:cNvPicPr>
          <p:nvPr/>
        </p:nvPicPr>
        <p:blipFill>
          <a:blip r:embed="rId3"/>
          <a:stretch>
            <a:fillRect/>
          </a:stretch>
        </p:blipFill>
        <p:spPr>
          <a:xfrm>
            <a:off x="7955279" y="1959678"/>
            <a:ext cx="2905406" cy="2905406"/>
          </a:xfrm>
          <a:prstGeom prst="rect">
            <a:avLst/>
          </a:prstGeom>
        </p:spPr>
      </p:pic>
      <p:sp>
        <p:nvSpPr>
          <p:cNvPr id="4" name="TextBox 3"/>
          <p:cNvSpPr txBox="1"/>
          <p:nvPr/>
        </p:nvSpPr>
        <p:spPr>
          <a:xfrm>
            <a:off x="731520" y="1793655"/>
            <a:ext cx="6949440" cy="4150580"/>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Formato general OJT</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Bitácora de entrenamiento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Formato de cumplimiento y evaluación</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Formatos y bitácoras por especialidad</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Modelos de oficio de designación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1.4 ORGANIGRAMA AFAC/CIAAC Y ESTRUCTURA OJT</a:t>
            </a:r>
          </a:p>
          <a:p>
            <a:pPr algn="l"/>
            <a:r>
              <a:rPr sz="2800" b="0" i="0" u="none">
                <a:solidFill>
                  <a:srgbClr val="FFFFFF"/>
                </a:solidFill>
                <a:latin typeface="Montserrat SemiBold"/>
                <a:ea typeface="Montserrat SemiBold"/>
                <a:cs typeface="Montserrat SemiBold"/>
              </a:rPr>
              <a:t>Organigrama AFAC – CIAAC</a:t>
            </a:r>
          </a:p>
        </p:txBody>
      </p:sp>
      <p:sp>
        <p:nvSpPr>
          <p:cNvPr id="3" name="Rounded Rectangle 2"/>
          <p:cNvSpPr/>
          <p:nvPr/>
        </p:nvSpPr>
        <p:spPr>
          <a:xfrm>
            <a:off x="3940236" y="1710643"/>
            <a:ext cx="4023360" cy="622587"/>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dirty="0" err="1">
                <a:solidFill>
                  <a:srgbClr val="FFFFFF"/>
                </a:solidFill>
                <a:latin typeface="Montserrat SemiBold"/>
                <a:ea typeface="Montserrat SemiBold"/>
                <a:cs typeface="Montserrat SemiBold"/>
              </a:rPr>
              <a:t>Dirección</a:t>
            </a:r>
            <a:r>
              <a:rPr sz="1600" b="0" i="0" u="none" dirty="0">
                <a:solidFill>
                  <a:srgbClr val="FFFFFF"/>
                </a:solidFill>
                <a:latin typeface="Montserrat SemiBold"/>
                <a:ea typeface="Montserrat SemiBold"/>
                <a:cs typeface="Montserrat SemiBold"/>
              </a:rPr>
              <a:t> General de la AFAC</a:t>
            </a:r>
          </a:p>
        </p:txBody>
      </p:sp>
      <p:cxnSp>
        <p:nvCxnSpPr>
          <p:cNvPr id="4" name="Connector 3"/>
          <p:cNvCxnSpPr/>
          <p:nvPr/>
        </p:nvCxnSpPr>
        <p:spPr>
          <a:xfrm>
            <a:off x="5951916" y="2333229"/>
            <a:ext cx="0" cy="290541"/>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3940236" y="2623771"/>
            <a:ext cx="4023360" cy="622587"/>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Dirección del CIAAC</a:t>
            </a:r>
          </a:p>
        </p:txBody>
      </p:sp>
      <p:cxnSp>
        <p:nvCxnSpPr>
          <p:cNvPr id="6" name="Connector 5"/>
          <p:cNvCxnSpPr/>
          <p:nvPr/>
        </p:nvCxnSpPr>
        <p:spPr>
          <a:xfrm>
            <a:off x="5951916" y="3246358"/>
            <a:ext cx="0" cy="290540"/>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553560" y="3536899"/>
            <a:ext cx="8778240" cy="0"/>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536899"/>
            <a:ext cx="0" cy="249034"/>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3785934"/>
            <a:ext cx="2057400" cy="1577220"/>
          </a:xfrm>
          <a:prstGeom prst="roundRect">
            <a:avLst>
              <a:gd name="adj" fmla="val 6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182430"/>
                </a:solidFill>
                <a:latin typeface="Montserrat Medium"/>
                <a:ea typeface="Montserrat Medium"/>
                <a:cs typeface="Montserrat Medium"/>
              </a:rPr>
              <a:t>Coordinación de</a:t>
            </a:r>
          </a:p>
          <a:p>
            <a:pPr algn="ctr">
              <a:spcAft>
                <a:spcPts val="0"/>
              </a:spcAft>
            </a:pPr>
            <a:r>
              <a:rPr sz="1500" b="0" i="0" u="none">
                <a:solidFill>
                  <a:srgbClr val="182430"/>
                </a:solidFill>
                <a:latin typeface="Montserrat Medium"/>
                <a:ea typeface="Montserrat Medium"/>
                <a:cs typeface="Montserrat Medium"/>
              </a:rPr>
              <a:t>Programas para la Capacitación de Autoridades Aeronáuticas</a:t>
            </a:r>
          </a:p>
        </p:txBody>
      </p:sp>
      <p:cxnSp>
        <p:nvCxnSpPr>
          <p:cNvPr id="10" name="Connector 9"/>
          <p:cNvCxnSpPr/>
          <p:nvPr/>
        </p:nvCxnSpPr>
        <p:spPr>
          <a:xfrm>
            <a:off x="3749039" y="3536899"/>
            <a:ext cx="0" cy="249034"/>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743200" y="3785934"/>
            <a:ext cx="2057400" cy="1577220"/>
          </a:xfrm>
          <a:prstGeom prst="roundRect">
            <a:avLst>
              <a:gd name="adj" fmla="val 6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182430"/>
                </a:solidFill>
                <a:latin typeface="Montserrat Medium"/>
                <a:ea typeface="Montserrat Medium"/>
                <a:cs typeface="Montserrat Medium"/>
              </a:rPr>
              <a:t>Coordinación de</a:t>
            </a:r>
          </a:p>
          <a:p>
            <a:pPr algn="ctr">
              <a:spcAft>
                <a:spcPts val="0"/>
              </a:spcAft>
            </a:pPr>
            <a:r>
              <a:rPr sz="1500" b="0" i="0" u="none">
                <a:solidFill>
                  <a:srgbClr val="182430"/>
                </a:solidFill>
                <a:latin typeface="Montserrat Medium"/>
                <a:ea typeface="Montserrat Medium"/>
                <a:cs typeface="Montserrat Medium"/>
              </a:rPr>
              <a:t>Formación Técnica Aeronáutica Especializada</a:t>
            </a:r>
          </a:p>
        </p:txBody>
      </p:sp>
      <p:cxnSp>
        <p:nvCxnSpPr>
          <p:cNvPr id="12" name="Connector 11"/>
          <p:cNvCxnSpPr/>
          <p:nvPr/>
        </p:nvCxnSpPr>
        <p:spPr>
          <a:xfrm>
            <a:off x="5943600" y="3536899"/>
            <a:ext cx="0" cy="249034"/>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37759" y="3785934"/>
            <a:ext cx="2057400" cy="1577220"/>
          </a:xfrm>
          <a:prstGeom prst="roundRect">
            <a:avLst>
              <a:gd name="adj" fmla="val 6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182430"/>
                </a:solidFill>
                <a:latin typeface="Montserrat Medium"/>
                <a:ea typeface="Montserrat Medium"/>
                <a:cs typeface="Montserrat Medium"/>
              </a:rPr>
              <a:t>Coordinación de</a:t>
            </a:r>
          </a:p>
          <a:p>
            <a:pPr algn="ctr">
              <a:spcAft>
                <a:spcPts val="0"/>
              </a:spcAft>
            </a:pPr>
            <a:r>
              <a:rPr sz="1500" b="0" i="0" u="none">
                <a:solidFill>
                  <a:srgbClr val="182430"/>
                </a:solidFill>
                <a:latin typeface="Montserrat Medium"/>
                <a:ea typeface="Montserrat Medium"/>
                <a:cs typeface="Montserrat Medium"/>
              </a:rPr>
              <a:t>Diseño Pedagógico de Programas Aeronáuticos</a:t>
            </a:r>
          </a:p>
        </p:txBody>
      </p:sp>
      <p:cxnSp>
        <p:nvCxnSpPr>
          <p:cNvPr id="14" name="Connector 13"/>
          <p:cNvCxnSpPr/>
          <p:nvPr/>
        </p:nvCxnSpPr>
        <p:spPr>
          <a:xfrm>
            <a:off x="8138159" y="3536899"/>
            <a:ext cx="0" cy="249034"/>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132319" y="3785934"/>
            <a:ext cx="2057400" cy="1577220"/>
          </a:xfrm>
          <a:prstGeom prst="roundRect">
            <a:avLst>
              <a:gd name="adj" fmla="val 6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182430"/>
                </a:solidFill>
                <a:latin typeface="Montserrat Medium"/>
                <a:ea typeface="Montserrat Medium"/>
                <a:cs typeface="Montserrat Medium"/>
              </a:rPr>
              <a:t>Coordinación de</a:t>
            </a:r>
          </a:p>
          <a:p>
            <a:pPr algn="ctr">
              <a:spcAft>
                <a:spcPts val="0"/>
              </a:spcAft>
            </a:pPr>
            <a:r>
              <a:rPr sz="1500" b="0" i="0" u="none">
                <a:solidFill>
                  <a:srgbClr val="182430"/>
                </a:solidFill>
                <a:latin typeface="Montserrat Medium"/>
                <a:ea typeface="Montserrat Medium"/>
                <a:cs typeface="Montserrat Medium"/>
              </a:rPr>
              <a:t>Calidad del CIAAC</a:t>
            </a:r>
          </a:p>
        </p:txBody>
      </p:sp>
      <p:cxnSp>
        <p:nvCxnSpPr>
          <p:cNvPr id="16" name="Connector 15"/>
          <p:cNvCxnSpPr/>
          <p:nvPr/>
        </p:nvCxnSpPr>
        <p:spPr>
          <a:xfrm>
            <a:off x="10332719" y="3536899"/>
            <a:ext cx="0" cy="249034"/>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26880" y="3785934"/>
            <a:ext cx="2057400" cy="1577220"/>
          </a:xfrm>
          <a:prstGeom prst="roundRect">
            <a:avLst>
              <a:gd name="adj" fmla="val 6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FFFFFF"/>
                </a:solidFill>
                <a:latin typeface="Montserrat SemiBold"/>
                <a:ea typeface="Montserrat SemiBold"/>
                <a:cs typeface="Montserrat SemiBold"/>
              </a:rPr>
              <a:t>Coordinación de</a:t>
            </a:r>
          </a:p>
          <a:p>
            <a:pPr algn="ctr">
              <a:spcAft>
                <a:spcPts val="0"/>
              </a:spcAft>
            </a:pPr>
            <a:r>
              <a:rPr sz="1500" b="0" i="0" u="none">
                <a:solidFill>
                  <a:srgbClr val="FFFFFF"/>
                </a:solidFill>
                <a:latin typeface="Montserrat SemiBold"/>
                <a:ea typeface="Montserrat SemiBold"/>
                <a:cs typeface="Montserrat SemiBold"/>
              </a:rPr>
              <a:t>Programa de Entrenamiento en el Puesto de Trabajo (CPEPT)</a:t>
            </a:r>
          </a:p>
        </p:txBody>
      </p:sp>
      <p:sp>
        <p:nvSpPr>
          <p:cNvPr id="18" name="TextBox 17"/>
          <p:cNvSpPr txBox="1"/>
          <p:nvPr/>
        </p:nvSpPr>
        <p:spPr>
          <a:xfrm>
            <a:off x="731520" y="5612189"/>
            <a:ext cx="10424160" cy="415058"/>
          </a:xfrm>
          <a:prstGeom prst="rect">
            <a:avLst/>
          </a:prstGeom>
          <a:noFill/>
        </p:spPr>
        <p:txBody>
          <a:bodyPr wrap="square" lIns="45720" rIns="45720" anchor="t">
            <a:spAutoFit/>
          </a:bodyPr>
          <a:lstStyle/>
          <a:p>
            <a:pPr algn="ctr">
              <a:lnSpc>
                <a:spcPct val="100000"/>
              </a:lnSpc>
              <a:spcAft>
                <a:spcPts val="600"/>
              </a:spcAft>
            </a:pPr>
            <a:r>
              <a:rPr sz="1800" b="0" i="0" u="none">
                <a:solidFill>
                  <a:srgbClr val="0E2A47"/>
                </a:solidFill>
                <a:latin typeface="Montserrat Medium"/>
                <a:ea typeface="Montserrat Medium"/>
                <a:cs typeface="Montserrat Medium"/>
              </a:rPr>
              <a:t>La CPEPT conduce el Programa OJT a nombre de la Dirección del CIAAC.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1.4 ORGANIGRAMA AFAC/CIAAC Y ESTRUCTURA OJT</a:t>
            </a:r>
          </a:p>
          <a:p>
            <a:pPr algn="l"/>
            <a:r>
              <a:rPr sz="2800" b="0" i="0" u="none">
                <a:solidFill>
                  <a:srgbClr val="FFFFFF"/>
                </a:solidFill>
                <a:latin typeface="Montserrat SemiBold"/>
                <a:ea typeface="Montserrat SemiBold"/>
                <a:cs typeface="Montserrat SemiBold"/>
              </a:rPr>
              <a:t>Estructura del Programa OJT</a:t>
            </a:r>
          </a:p>
        </p:txBody>
      </p:sp>
      <p:sp>
        <p:nvSpPr>
          <p:cNvPr id="3" name="Rounded Rectangle 2"/>
          <p:cNvSpPr/>
          <p:nvPr/>
        </p:nvSpPr>
        <p:spPr>
          <a:xfrm>
            <a:off x="4206240" y="1669137"/>
            <a:ext cx="3657600" cy="498069"/>
          </a:xfrm>
          <a:prstGeom prst="roundRect">
            <a:avLst>
              <a:gd name="adj" fmla="val 8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Dirección del CIAAC</a:t>
            </a:r>
          </a:p>
        </p:txBody>
      </p:sp>
      <p:cxnSp>
        <p:nvCxnSpPr>
          <p:cNvPr id="4" name="Connector 3"/>
          <p:cNvCxnSpPr/>
          <p:nvPr/>
        </p:nvCxnSpPr>
        <p:spPr>
          <a:xfrm>
            <a:off x="6035040" y="2167207"/>
            <a:ext cx="0" cy="207529"/>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3931920" y="2374736"/>
            <a:ext cx="4206240" cy="498069"/>
          </a:xfrm>
          <a:prstGeom prst="roundRect">
            <a:avLst>
              <a:gd name="adj" fmla="val 8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FFFFFF"/>
                </a:solidFill>
                <a:latin typeface="Montserrat SemiBold"/>
                <a:ea typeface="Montserrat SemiBold"/>
                <a:cs typeface="Montserrat SemiBold"/>
              </a:rPr>
              <a:t>Coordinador del Programa OJT (CPEPT)</a:t>
            </a:r>
          </a:p>
        </p:txBody>
      </p:sp>
      <p:cxnSp>
        <p:nvCxnSpPr>
          <p:cNvPr id="6" name="Connector 5"/>
          <p:cNvCxnSpPr/>
          <p:nvPr/>
        </p:nvCxnSpPr>
        <p:spPr>
          <a:xfrm>
            <a:off x="6035040" y="2872806"/>
            <a:ext cx="0" cy="207529"/>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194560" y="3080335"/>
            <a:ext cx="7680960" cy="0"/>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94560" y="3080335"/>
            <a:ext cx="0" cy="166023"/>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1520" y="3246358"/>
            <a:ext cx="2926080" cy="705598"/>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FFFFFF"/>
                </a:solidFill>
                <a:latin typeface="Montserrat SemiBold"/>
                <a:ea typeface="Montserrat SemiBold"/>
                <a:cs typeface="Montserrat SemiBold"/>
              </a:rPr>
              <a:t>JDOP</a:t>
            </a:r>
          </a:p>
          <a:p>
            <a:pPr algn="ctr">
              <a:spcAft>
                <a:spcPts val="0"/>
              </a:spcAft>
            </a:pPr>
            <a:r>
              <a:rPr sz="1500" b="0" i="0" u="none">
                <a:solidFill>
                  <a:srgbClr val="FFFFFF"/>
                </a:solidFill>
                <a:latin typeface="Montserrat SemiBold"/>
                <a:ea typeface="Montserrat SemiBold"/>
                <a:cs typeface="Montserrat SemiBold"/>
              </a:rPr>
              <a:t>Seguimiento operacional</a:t>
            </a:r>
          </a:p>
        </p:txBody>
      </p:sp>
      <p:cxnSp>
        <p:nvCxnSpPr>
          <p:cNvPr id="10" name="Connector 9"/>
          <p:cNvCxnSpPr/>
          <p:nvPr/>
        </p:nvCxnSpPr>
        <p:spPr>
          <a:xfrm>
            <a:off x="9875519" y="3080335"/>
            <a:ext cx="0" cy="166023"/>
          </a:xfrm>
          <a:prstGeom prst="line">
            <a:avLst/>
          </a:prstGeom>
          <a:ln w="19050">
            <a:solidFill>
              <a:srgbClr val="5C6B7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412480" y="3246358"/>
            <a:ext cx="2926080" cy="705598"/>
          </a:xfrm>
          <a:prstGeom prst="roundRect">
            <a:avLst>
              <a:gd name="adj" fmla="val 8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FFFFFF"/>
                </a:solidFill>
                <a:latin typeface="Montserrat SemiBold"/>
                <a:ea typeface="Montserrat SemiBold"/>
                <a:cs typeface="Montserrat SemiBold"/>
              </a:rPr>
              <a:t>JDAE</a:t>
            </a:r>
          </a:p>
          <a:p>
            <a:pPr algn="ctr">
              <a:spcAft>
                <a:spcPts val="0"/>
              </a:spcAft>
            </a:pPr>
            <a:r>
              <a:rPr sz="1500" b="0" i="0" u="none">
                <a:solidFill>
                  <a:srgbClr val="FFFFFF"/>
                </a:solidFill>
                <a:latin typeface="Montserrat SemiBold"/>
                <a:ea typeface="Montserrat SemiBold"/>
                <a:cs typeface="Montserrat SemiBold"/>
              </a:rPr>
              <a:t>Análisis técnico</a:t>
            </a:r>
          </a:p>
        </p:txBody>
      </p:sp>
      <p:sp>
        <p:nvSpPr>
          <p:cNvPr id="12" name="Rounded Rectangle 11"/>
          <p:cNvSpPr/>
          <p:nvPr/>
        </p:nvSpPr>
        <p:spPr>
          <a:xfrm>
            <a:off x="4206240" y="3246358"/>
            <a:ext cx="3657600" cy="705598"/>
          </a:xfrm>
          <a:prstGeom prst="roundRect">
            <a:avLst>
              <a:gd name="adj" fmla="val 8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182430"/>
                </a:solidFill>
                <a:latin typeface="Montserrat Medium"/>
                <a:ea typeface="Montserrat Medium"/>
                <a:cs typeface="Montserrat Medium"/>
              </a:rPr>
              <a:t>Inspector Instructor OJT</a:t>
            </a:r>
          </a:p>
          <a:p>
            <a:pPr algn="ctr">
              <a:spcAft>
                <a:spcPts val="0"/>
              </a:spcAft>
            </a:pPr>
            <a:r>
              <a:rPr sz="1500" b="0" i="0" u="none">
                <a:solidFill>
                  <a:srgbClr val="182430"/>
                </a:solidFill>
                <a:latin typeface="Montserrat Medium"/>
                <a:ea typeface="Montserrat Medium"/>
                <a:cs typeface="Montserrat Medium"/>
              </a:rPr>
              <a:t>(adscrito al CIAAC)</a:t>
            </a:r>
          </a:p>
        </p:txBody>
      </p:sp>
      <p:sp>
        <p:nvSpPr>
          <p:cNvPr id="13" name="Rounded Rectangle 12"/>
          <p:cNvSpPr/>
          <p:nvPr/>
        </p:nvSpPr>
        <p:spPr>
          <a:xfrm>
            <a:off x="640080" y="4200992"/>
            <a:ext cx="10515600" cy="1286680"/>
          </a:xfrm>
          <a:prstGeom prst="roundRect">
            <a:avLst>
              <a:gd name="adj" fmla="val 5000"/>
            </a:avLst>
          </a:prstGeom>
          <a:noFill/>
          <a:ln w="15875">
            <a:solidFill>
              <a:srgbClr val="B98A2E"/>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4" name="TextBox 13"/>
          <p:cNvSpPr txBox="1"/>
          <p:nvPr/>
        </p:nvSpPr>
        <p:spPr>
          <a:xfrm>
            <a:off x="777240" y="4225895"/>
            <a:ext cx="8229600" cy="290540"/>
          </a:xfrm>
          <a:prstGeom prst="rect">
            <a:avLst/>
          </a:prstGeom>
          <a:noFill/>
        </p:spPr>
        <p:txBody>
          <a:bodyPr wrap="square" lIns="45720" rIns="45720" anchor="t">
            <a:spAutoFit/>
          </a:bodyPr>
          <a:lstStyle/>
          <a:p>
            <a:pPr algn="l">
              <a:lnSpc>
                <a:spcPct val="100000"/>
              </a:lnSpc>
              <a:spcAft>
                <a:spcPts val="600"/>
              </a:spcAft>
            </a:pPr>
            <a:r>
              <a:rPr sz="1300" b="0" i="0" u="none">
                <a:solidFill>
                  <a:srgbClr val="B98A2E"/>
                </a:solidFill>
                <a:latin typeface="Montserrat SemiBold"/>
                <a:ea typeface="Montserrat SemiBold"/>
                <a:cs typeface="Montserrat SemiBold"/>
              </a:rPr>
              <a:t>En cada Dirección o Comandancia (designados por el área):</a:t>
            </a:r>
          </a:p>
        </p:txBody>
      </p:sp>
      <p:sp>
        <p:nvSpPr>
          <p:cNvPr id="15" name="Rounded Rectangle 14"/>
          <p:cNvSpPr/>
          <p:nvPr/>
        </p:nvSpPr>
        <p:spPr>
          <a:xfrm>
            <a:off x="914400" y="4616050"/>
            <a:ext cx="2103120" cy="705598"/>
          </a:xfrm>
          <a:prstGeom prst="roundRect">
            <a:avLst>
              <a:gd name="adj" fmla="val 8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0E2A47"/>
                </a:solidFill>
                <a:latin typeface="Montserrat SemiBold"/>
                <a:ea typeface="Montserrat SemiBold"/>
                <a:cs typeface="Montserrat SemiBold"/>
              </a:rPr>
              <a:t>ICOJT</a:t>
            </a:r>
          </a:p>
        </p:txBody>
      </p:sp>
      <p:sp>
        <p:nvSpPr>
          <p:cNvPr id="16" name="Right Arrow 15"/>
          <p:cNvSpPr/>
          <p:nvPr/>
        </p:nvSpPr>
        <p:spPr>
          <a:xfrm>
            <a:off x="3072384" y="4806976"/>
            <a:ext cx="384048" cy="315444"/>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520440" y="4616050"/>
            <a:ext cx="2103120" cy="705598"/>
          </a:xfrm>
          <a:prstGeom prst="roundRect">
            <a:avLst>
              <a:gd name="adj" fmla="val 8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0E2A47"/>
                </a:solidFill>
                <a:latin typeface="Montserrat SemiBold"/>
                <a:ea typeface="Montserrat SemiBold"/>
                <a:cs typeface="Montserrat SemiBold"/>
              </a:rPr>
              <a:t>IPOJT</a:t>
            </a:r>
          </a:p>
        </p:txBody>
      </p:sp>
      <p:sp>
        <p:nvSpPr>
          <p:cNvPr id="18" name="Right Arrow 17"/>
          <p:cNvSpPr/>
          <p:nvPr/>
        </p:nvSpPr>
        <p:spPr>
          <a:xfrm>
            <a:off x="5678424" y="4806976"/>
            <a:ext cx="384048" cy="315444"/>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126480" y="4616050"/>
            <a:ext cx="2103120" cy="705598"/>
          </a:xfrm>
          <a:prstGeom prst="roundRect">
            <a:avLst>
              <a:gd name="adj" fmla="val 8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0E2A47"/>
                </a:solidFill>
                <a:latin typeface="Montserrat SemiBold"/>
                <a:ea typeface="Montserrat SemiBold"/>
                <a:cs typeface="Montserrat SemiBold"/>
              </a:rPr>
              <a:t>IOJT</a:t>
            </a:r>
          </a:p>
        </p:txBody>
      </p:sp>
      <p:sp>
        <p:nvSpPr>
          <p:cNvPr id="20" name="Right Arrow 19"/>
          <p:cNvSpPr/>
          <p:nvPr/>
        </p:nvSpPr>
        <p:spPr>
          <a:xfrm>
            <a:off x="8284464" y="4806976"/>
            <a:ext cx="384048" cy="315444"/>
          </a:xfrm>
          <a:prstGeom prst="rightArrow">
            <a:avLst/>
          </a:prstGeom>
          <a:solidFill>
            <a:srgbClr val="B9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732520" y="4616050"/>
            <a:ext cx="2103120" cy="705598"/>
          </a:xfrm>
          <a:prstGeom prst="roundRect">
            <a:avLst>
              <a:gd name="adj" fmla="val 8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600" b="0" i="0" u="none">
                <a:solidFill>
                  <a:srgbClr val="0E2A47"/>
                </a:solidFill>
                <a:latin typeface="Montserrat SemiBold"/>
                <a:ea typeface="Montserrat SemiBold"/>
                <a:cs typeface="Montserrat SemiBold"/>
              </a:rPr>
              <a:t>IVA Aprendiz</a:t>
            </a:r>
          </a:p>
        </p:txBody>
      </p:sp>
      <p:sp>
        <p:nvSpPr>
          <p:cNvPr id="22" name="Rounded Rectangle 21"/>
          <p:cNvSpPr/>
          <p:nvPr/>
        </p:nvSpPr>
        <p:spPr>
          <a:xfrm>
            <a:off x="640080" y="5612189"/>
            <a:ext cx="10515600" cy="415058"/>
          </a:xfrm>
          <a:prstGeom prst="roundRect">
            <a:avLst>
              <a:gd name="adj" fmla="val 10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500" b="0" i="0" u="none">
                <a:solidFill>
                  <a:srgbClr val="FFFFFF"/>
                </a:solidFill>
                <a:latin typeface="Montserrat SemiBold"/>
                <a:ea typeface="Montserrat SemiBold"/>
                <a:cs typeface="Montserrat SemiBold"/>
              </a:rPr>
              <a:t>Llenado de formatos OJT, bitácoras e integración de evidencias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1.5 FUNCIONES: DIRECTOR DEL CIAAC, CPEPT, JDOP Y JDAE</a:t>
            </a:r>
          </a:p>
          <a:p>
            <a:pPr algn="l"/>
            <a:r>
              <a:rPr sz="2800" b="0" i="0" u="none">
                <a:solidFill>
                  <a:srgbClr val="FFFFFF"/>
                </a:solidFill>
                <a:latin typeface="Montserrat SemiBold"/>
                <a:ea typeface="Montserrat SemiBold"/>
                <a:cs typeface="Montserrat SemiBold"/>
              </a:rPr>
              <a:t>Una responsabilidad compartida</a:t>
            </a:r>
          </a:p>
        </p:txBody>
      </p:sp>
      <p:sp>
        <p:nvSpPr>
          <p:cNvPr id="3" name="Rounded Rectangle 2"/>
          <p:cNvSpPr/>
          <p:nvPr/>
        </p:nvSpPr>
        <p:spPr>
          <a:xfrm>
            <a:off x="731520" y="1876666"/>
            <a:ext cx="3291840" cy="747104"/>
          </a:xfrm>
          <a:prstGeom prst="roundRect">
            <a:avLst>
              <a:gd name="adj" fmla="val 10000"/>
            </a:avLst>
          </a:prstGeom>
          <a:solidFill>
            <a:srgbClr val="1B4A78"/>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Dirección del CIAAC</a:t>
            </a:r>
          </a:p>
        </p:txBody>
      </p:sp>
      <p:sp>
        <p:nvSpPr>
          <p:cNvPr id="4" name="Rounded Rectangle 3"/>
          <p:cNvSpPr/>
          <p:nvPr/>
        </p:nvSpPr>
        <p:spPr>
          <a:xfrm>
            <a:off x="731520" y="2623771"/>
            <a:ext cx="3291840" cy="1992278"/>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Conduce: metodología, estandarización, registro, supervisión y mejora.</a:t>
            </a:r>
          </a:p>
        </p:txBody>
      </p:sp>
      <p:sp>
        <p:nvSpPr>
          <p:cNvPr id="5" name="Rounded Rectangle 4"/>
          <p:cNvSpPr/>
          <p:nvPr/>
        </p:nvSpPr>
        <p:spPr>
          <a:xfrm>
            <a:off x="4251960" y="1876666"/>
            <a:ext cx="3291840" cy="747104"/>
          </a:xfrm>
          <a:prstGeom prst="roundRect">
            <a:avLst>
              <a:gd name="adj" fmla="val 10000"/>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Direcciones y Comandancias</a:t>
            </a:r>
          </a:p>
        </p:txBody>
      </p:sp>
      <p:sp>
        <p:nvSpPr>
          <p:cNvPr id="6" name="Rounded Rectangle 5"/>
          <p:cNvSpPr/>
          <p:nvPr/>
        </p:nvSpPr>
        <p:spPr>
          <a:xfrm>
            <a:off x="4251960" y="2623771"/>
            <a:ext cx="3291840" cy="1992278"/>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Aseguran la ejecución con los IVA de su adscripción.</a:t>
            </a:r>
          </a:p>
        </p:txBody>
      </p:sp>
      <p:sp>
        <p:nvSpPr>
          <p:cNvPr id="7" name="Rounded Rectangle 6"/>
          <p:cNvSpPr/>
          <p:nvPr/>
        </p:nvSpPr>
        <p:spPr>
          <a:xfrm>
            <a:off x="7772400" y="1876666"/>
            <a:ext cx="3291840" cy="747104"/>
          </a:xfrm>
          <a:prstGeom prst="roundRect">
            <a:avLst>
              <a:gd name="adj" fmla="val 10000"/>
            </a:avLst>
          </a:prstGeom>
          <a:solidFill>
            <a:srgbClr val="9A732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1800" b="0" i="0" u="none">
                <a:solidFill>
                  <a:srgbClr val="FFFFFF"/>
                </a:solidFill>
                <a:latin typeface="Montserrat SemiBold"/>
                <a:ea typeface="Montserrat SemiBold"/>
                <a:cs typeface="Montserrat SemiBold"/>
              </a:rPr>
              <a:t>Instructor OJT designado</a:t>
            </a:r>
          </a:p>
        </p:txBody>
      </p:sp>
      <p:sp>
        <p:nvSpPr>
          <p:cNvPr id="8" name="Rounded Rectangle 7"/>
          <p:cNvSpPr/>
          <p:nvPr/>
        </p:nvSpPr>
        <p:spPr>
          <a:xfrm>
            <a:off x="7772400" y="2623771"/>
            <a:ext cx="3291840" cy="1992278"/>
          </a:xfrm>
          <a:prstGeom prst="roundRect">
            <a:avLst>
              <a:gd name="adj" fmla="val 4000"/>
            </a:avLst>
          </a:prstGeom>
          <a:solidFill>
            <a:srgbClr val="F1F2E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ctr">
              <a:spcAft>
                <a:spcPts val="0"/>
              </a:spcAft>
            </a:pPr>
            <a:r>
              <a:rPr sz="1800" b="0" i="0" u="none">
                <a:solidFill>
                  <a:srgbClr val="182430"/>
                </a:solidFill>
                <a:latin typeface="Montserrat Medium"/>
                <a:ea typeface="Montserrat Medium"/>
                <a:cs typeface="Montserrat Medium"/>
              </a:rPr>
              <a:t>Realiza la evaluación técnica de la tarea.</a:t>
            </a:r>
          </a:p>
        </p:txBody>
      </p:sp>
      <p:sp>
        <p:nvSpPr>
          <p:cNvPr id="9" name="Rounded Rectangle 8"/>
          <p:cNvSpPr/>
          <p:nvPr/>
        </p:nvSpPr>
        <p:spPr>
          <a:xfrm>
            <a:off x="731520" y="4906590"/>
            <a:ext cx="10241280" cy="788610"/>
          </a:xfrm>
          <a:prstGeom prst="roundRect">
            <a:avLst>
              <a:gd name="adj" fmla="val 10000"/>
            </a:avLst>
          </a:prstGeom>
          <a:solidFill>
            <a:srgbClr val="F6EED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0"/>
              </a:spcAft>
            </a:pPr>
            <a:r>
              <a:rPr sz="2200" b="0" i="0" u="none">
                <a:solidFill>
                  <a:srgbClr val="9A7323"/>
                </a:solidFill>
                <a:latin typeface="Montserrat SemiBold"/>
                <a:ea typeface="Montserrat SemiBold"/>
                <a:cs typeface="Montserrat SemiBold"/>
              </a:rPr>
              <a:t>Ninguna intervención sustituye a las demás ni transfiere atribuciones.</a:t>
            </a:r>
          </a:p>
        </p:txBody>
      </p:sp>
      <p:sp>
        <p:nvSpPr>
          <p:cNvPr id="10" name="TextBox 9"/>
          <p:cNvSpPr txBox="1"/>
          <p:nvPr/>
        </p:nvSpPr>
        <p:spPr>
          <a:xfrm>
            <a:off x="731520" y="5861224"/>
            <a:ext cx="10424160" cy="332046"/>
          </a:xfrm>
          <a:prstGeom prst="rect">
            <a:avLst/>
          </a:prstGeom>
          <a:noFill/>
        </p:spPr>
        <p:txBody>
          <a:bodyPr wrap="square" lIns="45720" rIns="45720" anchor="t">
            <a:spAutoFit/>
          </a:bodyPr>
          <a:lstStyle/>
          <a:p>
            <a:pPr algn="ctr">
              <a:lnSpc>
                <a:spcPct val="100000"/>
              </a:lnSpc>
              <a:spcAft>
                <a:spcPts val="600"/>
              </a:spcAft>
            </a:pPr>
            <a:r>
              <a:rPr sz="1400" b="0" i="0" u="none">
                <a:solidFill>
                  <a:srgbClr val="5C6B7A"/>
                </a:solidFill>
                <a:latin typeface="Montserrat"/>
                <a:ea typeface="Montserrat"/>
                <a:cs typeface="Montserrat"/>
              </a:rPr>
              <a:t>Fuente: MEPT, numeral 3.4.</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1.5 FUNCIONES: DIRECTOR DEL CIAAC, CPEPT, JDOP Y JDAE</a:t>
            </a:r>
          </a:p>
          <a:p>
            <a:pPr algn="l"/>
            <a:r>
              <a:rPr sz="2800" b="0" i="0" u="none">
                <a:solidFill>
                  <a:srgbClr val="FFFFFF"/>
                </a:solidFill>
                <a:latin typeface="Montserrat SemiBold"/>
                <a:ea typeface="Montserrat SemiBold"/>
                <a:cs typeface="Montserrat SemiBold"/>
              </a:rPr>
              <a:t>Director del CIAAC</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Conduce el Programa OJT de la AFAC a través de la CPEPT.</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Define programas OJT con las áreas técnicas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Autoriza su implementación</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Asegura el registro de resultados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Gestiona los recursos del programa</a:t>
            </a:r>
          </a:p>
        </p:txBody>
      </p:sp>
      <p:pic>
        <p:nvPicPr>
          <p:cNvPr id="5" name="Picture 4" descr="s27_2dd7ad.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1.5 FUNCIONES: DIRECTOR DEL CIAAC, CPEPT, JDOP Y JDAE</a:t>
            </a:r>
          </a:p>
          <a:p>
            <a:pPr algn="l"/>
            <a:r>
              <a:rPr sz="2800" b="0" i="0" u="none">
                <a:solidFill>
                  <a:srgbClr val="FFFFFF"/>
                </a:solidFill>
                <a:latin typeface="Montserrat SemiBold"/>
                <a:ea typeface="Montserrat SemiBold"/>
                <a:cs typeface="Montserrat SemiBold"/>
              </a:rPr>
              <a:t>Coordinador del Programa OJT (CPEPT)</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Dirige las acciones que garantizan el cumplimiento del Programa OJT.</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Coordina la implementación en la AFAC</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Valida designaciones de instructores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Autoriza formatos y cambios de tareas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Propone mejoras al MEPT</a:t>
            </a:r>
          </a:p>
        </p:txBody>
      </p:sp>
      <p:pic>
        <p:nvPicPr>
          <p:cNvPr id="5" name="Picture 4" descr="s28_312f4b.png"/>
          <p:cNvPicPr>
            <a:picLocks noChangeAspect="1"/>
          </p:cNvPicPr>
          <p:nvPr/>
        </p:nvPicPr>
        <p:blipFill>
          <a:blip r:embed="rId3"/>
          <a:stretch>
            <a:fillRect/>
          </a:stretch>
        </p:blipFill>
        <p:spPr>
          <a:xfrm>
            <a:off x="8229600" y="1752149"/>
            <a:ext cx="1909267" cy="3106514"/>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1.5 FUNCIONES: DIRECTOR DEL CIAAC, CPEPT, JDOP Y JDAE</a:t>
            </a:r>
          </a:p>
          <a:p>
            <a:pPr algn="l"/>
            <a:r>
              <a:rPr sz="2800" b="0" i="0" u="none">
                <a:solidFill>
                  <a:srgbClr val="FFFFFF"/>
                </a:solidFill>
                <a:latin typeface="Montserrat SemiBold"/>
                <a:ea typeface="Montserrat SemiBold"/>
                <a:cs typeface="Montserrat SemiBold"/>
              </a:rPr>
              <a:t>JDOP: Seguimiento Operacional</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Coordina las acciones que garantizan el cumplimiento del programa.</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Revisa formatos y tareas en el Módulo OJT</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Supervisa a IPOJT e IOJT en campo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Asesora en el uso de formatos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Vigila el proceso de designación</a:t>
            </a:r>
          </a:p>
        </p:txBody>
      </p:sp>
      <p:pic>
        <p:nvPicPr>
          <p:cNvPr id="5" name="Picture 4" descr="s10_b20ede.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1.5 FUNCIONES: DIRECTOR DEL CIAAC, CPEPT, JDOP Y JDAE</a:t>
            </a:r>
          </a:p>
          <a:p>
            <a:pPr algn="l"/>
            <a:r>
              <a:rPr sz="2800" b="0" i="0" u="none">
                <a:solidFill>
                  <a:srgbClr val="FFFFFF"/>
                </a:solidFill>
                <a:latin typeface="Montserrat SemiBold"/>
                <a:ea typeface="Montserrat SemiBold"/>
                <a:cs typeface="Montserrat SemiBold"/>
              </a:rPr>
              <a:t>JDAE: Análisis Técnico</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Supervisa que tareas y subtareas se apeguen al MEPT y a los manuales técnicos.</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Analiza cambios a tareas y subtareas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Revisa hallazgos para la mejora</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Evalúa a IPOJT e IOJT</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Formula el presupuesto del programa</a:t>
            </a:r>
          </a:p>
        </p:txBody>
      </p:sp>
      <p:pic>
        <p:nvPicPr>
          <p:cNvPr id="5" name="Picture 4" descr="s30_4d61a7.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1.6 FUNCIONES: ICOJT, IPOJT, IOJT E IVA APRENDIZ</a:t>
            </a:r>
          </a:p>
          <a:p>
            <a:pPr algn="l"/>
            <a:r>
              <a:rPr sz="2800" b="0" i="0" u="none">
                <a:solidFill>
                  <a:srgbClr val="FFFFFF"/>
                </a:solidFill>
                <a:latin typeface="Montserrat SemiBold"/>
                <a:ea typeface="Montserrat SemiBold"/>
                <a:cs typeface="Montserrat SemiBold"/>
              </a:rPr>
              <a:t>Instructor Coordinador OJT (ICOJT)</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Designado por el titular del área; da seguimiento al OJT de su personal.</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Define tareas y subtareas del área</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Coordina la programación por nivel</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Reprograma hasta 2 veces más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Integra expedientes y reporta</a:t>
            </a:r>
          </a:p>
        </p:txBody>
      </p:sp>
      <p:pic>
        <p:nvPicPr>
          <p:cNvPr id="5" name="Picture 4" descr="s19_cbdeb9.png"/>
          <p:cNvPicPr>
            <a:picLocks noChangeAspect="1"/>
          </p:cNvPicPr>
          <p:nvPr/>
        </p:nvPicPr>
        <p:blipFill>
          <a:blip r:embed="rId3"/>
          <a:stretch>
            <a:fillRect/>
          </a:stretch>
        </p:blipFill>
        <p:spPr>
          <a:xfrm>
            <a:off x="8229600" y="1959678"/>
            <a:ext cx="2739383" cy="2553931"/>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1.6 FUNCIONES: ICOJT, IPOJT, IOJT E IVA APRENDIZ</a:t>
            </a:r>
          </a:p>
          <a:p>
            <a:pPr algn="l"/>
            <a:r>
              <a:rPr sz="2800" b="0" i="0" u="none">
                <a:solidFill>
                  <a:srgbClr val="FFFFFF"/>
                </a:solidFill>
                <a:latin typeface="Montserrat SemiBold"/>
                <a:ea typeface="Montserrat SemiBold"/>
                <a:cs typeface="Montserrat SemiBold"/>
              </a:rPr>
              <a:t>Instructor Principal OJT (IPOJT)</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Instructor líder, experto en la implementación del programa.</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Capacita a los IOJT en enseñanza</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Monitorea y asiste su desempeño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Recomienda candidatos a IOJT</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Funge como IOJT cuando se requiere</a:t>
            </a:r>
          </a:p>
        </p:txBody>
      </p:sp>
      <p:pic>
        <p:nvPicPr>
          <p:cNvPr id="5" name="Picture 4" descr="s33_7692c9.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1.6 FUNCIONES: ICOJT, IPOJT, IOJT E IVA APRENDIZ</a:t>
            </a:r>
          </a:p>
          <a:p>
            <a:pPr algn="l"/>
            <a:r>
              <a:rPr sz="2800" b="0" i="0" u="none">
                <a:solidFill>
                  <a:srgbClr val="FFFFFF"/>
                </a:solidFill>
                <a:latin typeface="Montserrat SemiBold"/>
                <a:ea typeface="Montserrat SemiBold"/>
                <a:cs typeface="Montserrat SemiBold"/>
              </a:rPr>
              <a:t>Instructor OJT (IOJT)</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Persona con mayor experiencia y competencia en la especialidad.</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Instruye la tarea en cada nivel</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Evalúa y registra resultado y evidencias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Su firma técnica expresa lo aprobado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Propone nuevas tareas y subtareas</a:t>
            </a:r>
          </a:p>
        </p:txBody>
      </p:sp>
      <p:pic>
        <p:nvPicPr>
          <p:cNvPr id="5" name="Picture 4" descr="s20_90679a.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3.4.7.</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1.6 FUNCIONES: ICOJT, IPOJT, IOJT E IVA APRENDIZ</a:t>
            </a:r>
          </a:p>
          <a:p>
            <a:pPr algn="l"/>
            <a:r>
              <a:rPr sz="2800" b="0" i="0" u="none">
                <a:solidFill>
                  <a:srgbClr val="FFFFFF"/>
                </a:solidFill>
                <a:latin typeface="Montserrat SemiBold"/>
                <a:ea typeface="Montserrat SemiBold"/>
                <a:cs typeface="Montserrat SemiBold"/>
              </a:rPr>
              <a:t>IVA Aprendiz (IVA AP)</a:t>
            </a:r>
          </a:p>
        </p:txBody>
      </p:sp>
      <p:sp>
        <p:nvSpPr>
          <p:cNvPr id="3" name="TextBox 2"/>
          <p:cNvSpPr txBox="1"/>
          <p:nvPr/>
        </p:nvSpPr>
        <p:spPr>
          <a:xfrm>
            <a:off x="640080" y="1710643"/>
            <a:ext cx="7223760" cy="747104"/>
          </a:xfrm>
          <a:prstGeom prst="rect">
            <a:avLst/>
          </a:prstGeom>
          <a:noFill/>
        </p:spPr>
        <p:txBody>
          <a:bodyPr wrap="square" lIns="45720" rIns="45720" anchor="t">
            <a:spAutoFit/>
          </a:bodyPr>
          <a:lstStyle/>
          <a:p>
            <a:pPr algn="l">
              <a:lnSpc>
                <a:spcPct val="100000"/>
              </a:lnSpc>
              <a:spcAft>
                <a:spcPts val="600"/>
              </a:spcAft>
            </a:pPr>
            <a:r>
              <a:rPr sz="1800" b="0" i="0" u="none">
                <a:solidFill>
                  <a:srgbClr val="5C6B7A"/>
                </a:solidFill>
                <a:latin typeface="Montserrat"/>
                <a:ea typeface="Montserrat"/>
                <a:cs typeface="Montserrat"/>
              </a:rPr>
              <a:t>IVA de cualquier especialidad que recibe el entrenamiento OJT.</a:t>
            </a:r>
          </a:p>
        </p:txBody>
      </p:sp>
      <p:sp>
        <p:nvSpPr>
          <p:cNvPr id="4" name="TextBox 3"/>
          <p:cNvSpPr txBox="1"/>
          <p:nvPr/>
        </p:nvSpPr>
        <p:spPr>
          <a:xfrm>
            <a:off x="640080" y="2499253"/>
            <a:ext cx="7223760" cy="3486487"/>
          </a:xfrm>
          <a:prstGeom prst="rect">
            <a:avLst/>
          </a:prstGeom>
          <a:noFill/>
        </p:spPr>
        <p:txBody>
          <a:bodyPr wrap="square" lIns="45720" rIns="45720" anchor="t">
            <a:spAutoFit/>
          </a:bodyPr>
          <a:lstStyle/>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Completa las tareas programadas</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Lleva su formato a cada evento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Resguarda el original del formato</a:t>
            </a:r>
          </a:p>
          <a:p>
            <a:pPr marL="347472" indent="-347472" algn="l">
              <a:lnSpc>
                <a:spcPct val="100000"/>
              </a:lnSpc>
              <a:spcAft>
                <a:spcPts val="1000"/>
              </a:spcAft>
              <a:buClr>
                <a:srgbClr val="B98A2E"/>
              </a:buClr>
              <a:buFont typeface="Arial"/>
              <a:buChar char="•"/>
            </a:pPr>
            <a:r>
              <a:rPr sz="2500" b="0" i="0" u="none">
                <a:solidFill>
                  <a:srgbClr val="182430"/>
                </a:solidFill>
                <a:latin typeface="Montserrat Medium"/>
                <a:ea typeface="Montserrat Medium"/>
                <a:cs typeface="Montserrat Medium"/>
              </a:rPr>
              <a:t>Justifica sus inasistencias</a:t>
            </a:r>
          </a:p>
        </p:txBody>
      </p:sp>
      <p:pic>
        <p:nvPicPr>
          <p:cNvPr id="5" name="Picture 4" descr="s21_29212b.png"/>
          <p:cNvPicPr>
            <a:picLocks noChangeAspect="1"/>
          </p:cNvPicPr>
          <p:nvPr/>
        </p:nvPicPr>
        <p:blipFill>
          <a:blip r:embed="rId3"/>
          <a:stretch>
            <a:fillRect/>
          </a:stretch>
        </p:blipFill>
        <p:spPr>
          <a:xfrm>
            <a:off x="8229600" y="1959678"/>
            <a:ext cx="2739383" cy="2739383"/>
          </a:xfrm>
          <a:prstGeom prst="rect">
            <a:avLst/>
          </a:prstGeom>
        </p:spPr>
      </p:pic>
      <p:sp>
        <p:nvSpPr>
          <p:cNvPr id="6" name="TextBox 5"/>
          <p:cNvSpPr txBox="1"/>
          <p:nvPr/>
        </p:nvSpPr>
        <p:spPr>
          <a:xfrm>
            <a:off x="640080" y="6068753"/>
            <a:ext cx="640080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 3.4.8.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120" y="109728"/>
            <a:ext cx="8641080" cy="1188720"/>
          </a:xfrm>
        </p:spPr>
        <p:txBody>
          <a:bodyPr wrap="square" anchor="ctr"/>
          <a:lstStyle/>
          <a:p>
            <a:pPr algn="l">
              <a:spcAft>
                <a:spcPts val="200"/>
              </a:spcAft>
            </a:pPr>
            <a:r>
              <a:rPr sz="1200" b="0" i="0" u="none">
                <a:solidFill>
                  <a:srgbClr val="E8D3A3"/>
                </a:solidFill>
                <a:latin typeface="Montserrat SemiBold"/>
                <a:ea typeface="Montserrat SemiBold"/>
                <a:cs typeface="Montserrat SemiBold"/>
              </a:rPr>
              <a:t>1.6 FUNCIONES: ICOJT, IPOJT, IOJT E IVA APRENDIZ</a:t>
            </a:r>
          </a:p>
          <a:p>
            <a:pPr algn="l"/>
            <a:r>
              <a:rPr sz="2800" b="0" i="0" u="none">
                <a:solidFill>
                  <a:srgbClr val="FFFFFF"/>
                </a:solidFill>
                <a:latin typeface="Montserrat SemiBold"/>
                <a:ea typeface="Montserrat SemiBold"/>
                <a:cs typeface="Montserrat SemiBold"/>
              </a:rPr>
              <a:t>Titulares de área y Comandancias</a:t>
            </a:r>
          </a:p>
        </p:txBody>
      </p:sp>
      <p:sp>
        <p:nvSpPr>
          <p:cNvPr id="3" name="TextBox 2"/>
          <p:cNvSpPr txBox="1"/>
          <p:nvPr/>
        </p:nvSpPr>
        <p:spPr>
          <a:xfrm>
            <a:off x="731520" y="1793655"/>
            <a:ext cx="10424160" cy="4150580"/>
          </a:xfrm>
          <a:prstGeom prst="rect">
            <a:avLst/>
          </a:prstGeom>
          <a:noFill/>
        </p:spPr>
        <p:txBody>
          <a:bodyPr wrap="square" lIns="45720" rIns="45720" anchor="t">
            <a:spAutoFit/>
          </a:bodyPr>
          <a:lstStyle/>
          <a:p>
            <a:pPr marL="347472" indent="-347472" algn="l">
              <a:lnSpc>
                <a:spcPct val="100000"/>
              </a:lnSpc>
              <a:spcAft>
                <a:spcPts val="1200"/>
              </a:spcAft>
              <a:buClr>
                <a:srgbClr val="B98A2E"/>
              </a:buClr>
              <a:buFont typeface="Arial"/>
              <a:buChar char="•"/>
            </a:pPr>
            <a:r>
              <a:rPr sz="2500" b="0" i="0" u="none">
                <a:solidFill>
                  <a:srgbClr val="182430"/>
                </a:solidFill>
                <a:latin typeface="Montserrat Medium"/>
                <a:ea typeface="Montserrat Medium"/>
                <a:cs typeface="Montserrat Medium"/>
              </a:rPr>
              <a:t>Supervisan el OJT de su personal y gestionan recursos</a:t>
            </a:r>
          </a:p>
          <a:p>
            <a:pPr marL="347472" indent="-347472" algn="l">
              <a:lnSpc>
                <a:spcPct val="100000"/>
              </a:lnSpc>
              <a:spcAft>
                <a:spcPts val="1200"/>
              </a:spcAft>
              <a:buClr>
                <a:srgbClr val="B98A2E"/>
              </a:buClr>
              <a:buFont typeface="Arial"/>
              <a:buChar char="•"/>
            </a:pPr>
            <a:r>
              <a:rPr sz="2500" b="0" i="0" u="none">
                <a:solidFill>
                  <a:srgbClr val="182430"/>
                </a:solidFill>
                <a:latin typeface="Montserrat Medium"/>
                <a:ea typeface="Montserrat Medium"/>
                <a:cs typeface="Montserrat Medium"/>
              </a:rPr>
              <a:t>Mantienen el </a:t>
            </a:r>
            <a:r>
              <a:rPr sz="2500" b="1" i="0" u="none">
                <a:solidFill>
                  <a:srgbClr val="0E2A47"/>
                </a:solidFill>
                <a:highlight>
                  <a:srgbClr val="EFDDB0"/>
                </a:highlight>
                <a:latin typeface="Montserrat Medium"/>
                <a:ea typeface="Montserrat Medium"/>
                <a:cs typeface="Montserrat Medium"/>
              </a:rPr>
              <a:t>plan individual</a:t>
            </a:r>
            <a:r>
              <a:rPr sz="2500" b="0" i="0" u="none">
                <a:solidFill>
                  <a:srgbClr val="182430"/>
                </a:solidFill>
                <a:latin typeface="Montserrat Medium"/>
                <a:ea typeface="Montserrat Medium"/>
                <a:cs typeface="Montserrat Medium"/>
              </a:rPr>
              <a:t> de cada IVA</a:t>
            </a:r>
          </a:p>
          <a:p>
            <a:pPr marL="347472" indent="-347472" algn="l">
              <a:lnSpc>
                <a:spcPct val="100000"/>
              </a:lnSpc>
              <a:spcAft>
                <a:spcPts val="1200"/>
              </a:spcAft>
              <a:buClr>
                <a:srgbClr val="B98A2E"/>
              </a:buClr>
              <a:buFont typeface="Arial"/>
              <a:buChar char="•"/>
            </a:pPr>
            <a:r>
              <a:rPr sz="2500" b="0" i="0" u="none">
                <a:solidFill>
                  <a:srgbClr val="182430"/>
                </a:solidFill>
                <a:latin typeface="Montserrat Medium"/>
                <a:ea typeface="Montserrat Medium"/>
                <a:cs typeface="Montserrat Medium"/>
              </a:rPr>
              <a:t>Proponen y formalizan a los instructores OJT</a:t>
            </a:r>
          </a:p>
          <a:p>
            <a:pPr marL="347472" indent="-347472" algn="l">
              <a:lnSpc>
                <a:spcPct val="100000"/>
              </a:lnSpc>
              <a:spcAft>
                <a:spcPts val="1200"/>
              </a:spcAft>
              <a:buClr>
                <a:srgbClr val="B98A2E"/>
              </a:buClr>
              <a:buFont typeface="Arial"/>
              <a:buChar char="•"/>
            </a:pPr>
            <a:r>
              <a:rPr sz="2500" b="0" i="0" u="none">
                <a:solidFill>
                  <a:srgbClr val="182430"/>
                </a:solidFill>
                <a:latin typeface="Montserrat Medium"/>
                <a:ea typeface="Montserrat Medium"/>
                <a:cs typeface="Montserrat Medium"/>
              </a:rPr>
              <a:t>Autorizan programación, comisiones y acceso</a:t>
            </a:r>
          </a:p>
          <a:p>
            <a:pPr marL="347472" indent="-347472" algn="l">
              <a:lnSpc>
                <a:spcPct val="100000"/>
              </a:lnSpc>
              <a:spcAft>
                <a:spcPts val="1200"/>
              </a:spcAft>
              <a:buClr>
                <a:srgbClr val="B98A2E"/>
              </a:buClr>
              <a:buFont typeface="Arial"/>
              <a:buChar char="•"/>
            </a:pPr>
            <a:r>
              <a:rPr sz="2500" b="0" i="0" u="none">
                <a:solidFill>
                  <a:srgbClr val="182430"/>
                </a:solidFill>
                <a:latin typeface="Montserrat Medium"/>
                <a:ea typeface="Montserrat Medium"/>
                <a:cs typeface="Montserrat Medium"/>
              </a:rPr>
              <a:t>Plazo del OJT: </a:t>
            </a:r>
            <a:r>
              <a:rPr sz="2500" b="1" i="0" u="none">
                <a:solidFill>
                  <a:srgbClr val="0E2A47"/>
                </a:solidFill>
                <a:highlight>
                  <a:srgbClr val="EFDDB0"/>
                </a:highlight>
                <a:latin typeface="Montserrat Medium"/>
                <a:ea typeface="Montserrat Medium"/>
                <a:cs typeface="Montserrat Medium"/>
              </a:rPr>
              <a:t>no mayor a un año</a:t>
            </a:r>
            <a:r>
              <a:rPr sz="2500" b="0" i="0" u="none">
                <a:solidFill>
                  <a:srgbClr val="182430"/>
                </a:solidFill>
                <a:latin typeface="Montserrat Medium"/>
                <a:ea typeface="Montserrat Medium"/>
                <a:cs typeface="Montserrat Medium"/>
              </a:rPr>
              <a:t> (Carta de Política)</a:t>
            </a:r>
          </a:p>
        </p:txBody>
      </p:sp>
      <p:sp>
        <p:nvSpPr>
          <p:cNvPr id="4" name="TextBox 3"/>
          <p:cNvSpPr txBox="1"/>
          <p:nvPr/>
        </p:nvSpPr>
        <p:spPr>
          <a:xfrm>
            <a:off x="731520" y="5902730"/>
            <a:ext cx="10424160" cy="332046"/>
          </a:xfrm>
          <a:prstGeom prst="rect">
            <a:avLst/>
          </a:prstGeom>
          <a:noFill/>
        </p:spPr>
        <p:txBody>
          <a:bodyPr wrap="square" lIns="45720" rIns="45720" anchor="t">
            <a:spAutoFit/>
          </a:bodyPr>
          <a:lstStyle/>
          <a:p>
            <a:pPr algn="l">
              <a:lnSpc>
                <a:spcPct val="100000"/>
              </a:lnSpc>
              <a:spcAft>
                <a:spcPts val="600"/>
              </a:spcAft>
            </a:pPr>
            <a:r>
              <a:rPr sz="1400" b="0" i="0" u="none">
                <a:solidFill>
                  <a:srgbClr val="5C6B7A"/>
                </a:solidFill>
                <a:latin typeface="Montserrat"/>
                <a:ea typeface="Montserrat"/>
                <a:cs typeface="Montserrat"/>
              </a:rPr>
              <a:t>Fuente: MEPT, numerales 3.4.9 a 3.4.12.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pPr algn="ctr"/>
            <a:r>
              <a:rPr sz="3700" b="0" i="0" u="none">
                <a:solidFill>
                  <a:srgbClr val="0E2A47"/>
                </a:solidFill>
                <a:latin typeface="Montserrat SemiBold"/>
                <a:ea typeface="Montserrat SemiBold"/>
                <a:cs typeface="Montserrat SemiBold"/>
              </a:rPr>
              <a:t>¡Gracias!</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14943</TotalTime>
  <Words>4005</Words>
  <Application>Microsoft Office PowerPoint</Application>
  <PresentationFormat>Panorámica</PresentationFormat>
  <Paragraphs>357</Paragraphs>
  <Slides>31</Slides>
  <Notes>29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31</vt:i4>
      </vt:variant>
    </vt:vector>
  </HeadingPairs>
  <TitlesOfParts>
    <vt:vector size="39" baseType="lpstr">
      <vt:lpstr>Aptos</vt:lpstr>
      <vt:lpstr>Aptos Display</vt:lpstr>
      <vt:lpstr>Arial</vt:lpstr>
      <vt:lpstr>Montserrat</vt:lpstr>
      <vt:lpstr>Montserrat Medium</vt:lpstr>
      <vt:lpstr>Montserrat SemiBold</vt:lpstr>
      <vt:lpstr>Noto Sans</vt:lpstr>
      <vt:lpstr>Tema de Office</vt:lpstr>
      <vt:lpstr>Módulo 1 Marco general del Programa OJT Programa de Entrenamiento en el Puesto de Trabajo</vt:lpstr>
      <vt:lpstr>ACTIVIDAD DE INICIO Para iniciar, reflexiona</vt:lpstr>
      <vt:lpstr>1.1 ANTECEDENTES Y OBJETIVOS DEL PROGRAMA OJT ¿Por qué surge el Programa OJT?</vt:lpstr>
      <vt:lpstr>1.1 ANTECEDENTES Y OBJETIVOS DEL PROGRAMA OJT ¿Qué es el OJT?</vt:lpstr>
      <vt:lpstr>1.1 ANTECEDENTES Y OBJETIVOS DEL PROGRAMA OJT ¿Dónde se ubica el OJT en tu formación?</vt:lpstr>
      <vt:lpstr>1.1 ANTECEDENTES Y OBJETIVOS DEL PROGRAMA OJT Documento 9734 de la OACI</vt:lpstr>
      <vt:lpstr>1.1 ANTECEDENTES Y OBJETIVOS DEL PROGRAMA OJT Los 8 elementos críticos de la OACI</vt:lpstr>
      <vt:lpstr>1.1 ANTECEDENTES Y OBJETIVOS DEL PROGRAMA OJT CE-4: personal técnico cualificado y el OJT</vt:lpstr>
      <vt:lpstr>1.1 ANTECEDENTES Y OBJETIVOS DEL PROGRAMA OJT Marco documental del Programa OJT</vt:lpstr>
      <vt:lpstr>1.1 ANTECEDENTES Y OBJETIVOS DEL PROGRAMA OJT ¿Dónde consultar la Carta de Política?</vt:lpstr>
      <vt:lpstr>1.1 ANTECEDENTES Y OBJETIVOS DEL PROGRAMA OJT Objetivo general del Programa OJT</vt:lpstr>
      <vt:lpstr>1.1 ANTECEDENTES Y OBJETIVOS DEL PROGRAMA OJT Objetivos específicos del Programa OJT</vt:lpstr>
      <vt:lpstr>1.1 ANTECEDENTES Y OBJETIVOS DEL PROGRAMA OJT ¿A quién aplica el Programa OJT?</vt:lpstr>
      <vt:lpstr>1.2 DEFINICIONES Y ABREVIATURAS DEL MANUAL Definiciones: los documentos del OJT</vt:lpstr>
      <vt:lpstr>1.2 DEFINICIONES Y ABREVIATURAS DEL MANUAL Definiciones: resultado y registro</vt:lpstr>
      <vt:lpstr>1.2 DEFINICIONES Y ABREVIATURAS DEL MANUAL Abreviaturas: figuras del Programa OJT</vt:lpstr>
      <vt:lpstr>1.3 ESTRUCTURA DEL MEPT: CAPÍTULOS Y ANEXOS Estructura del MEPT</vt:lpstr>
      <vt:lpstr>1.3 ESTRUCTURA DEL MEPT: CAPÍTULOS Y ANEXOS Anexo 1: formatos y bitácoras</vt:lpstr>
      <vt:lpstr>1.4 ORGANIGRAMA AFAC/CIAAC Y ESTRUCTURA OJT Organigrama AFAC – CIAAC</vt:lpstr>
      <vt:lpstr>1.4 ORGANIGRAMA AFAC/CIAAC Y ESTRUCTURA OJT Estructura del Programa OJT</vt:lpstr>
      <vt:lpstr>1.5 FUNCIONES: DIRECTOR DEL CIAAC, CPEPT, JDOP Y JDAE Una responsabilidad compartida</vt:lpstr>
      <vt:lpstr>1.5 FUNCIONES: DIRECTOR DEL CIAAC, CPEPT, JDOP Y JDAE Director del CIAAC</vt:lpstr>
      <vt:lpstr>1.5 FUNCIONES: DIRECTOR DEL CIAAC, CPEPT, JDOP Y JDAE Coordinador del Programa OJT (CPEPT)</vt:lpstr>
      <vt:lpstr>1.5 FUNCIONES: DIRECTOR DEL CIAAC, CPEPT, JDOP Y JDAE JDOP: Seguimiento Operacional</vt:lpstr>
      <vt:lpstr>1.5 FUNCIONES: DIRECTOR DEL CIAAC, CPEPT, JDOP Y JDAE JDAE: Análisis Técnico</vt:lpstr>
      <vt:lpstr>1.6 FUNCIONES: ICOJT, IPOJT, IOJT E IVA APRENDIZ Instructor Coordinador OJT (ICOJT)</vt:lpstr>
      <vt:lpstr>1.6 FUNCIONES: ICOJT, IPOJT, IOJT E IVA APRENDIZ Instructor Principal OJT (IPOJT)</vt:lpstr>
      <vt:lpstr>1.6 FUNCIONES: ICOJT, IPOJT, IOJT E IVA APRENDIZ Instructor OJT (IOJT)</vt:lpstr>
      <vt:lpstr>1.6 FUNCIONES: ICOJT, IPOJT, IOJT E IVA APRENDIZ IVA Aprendiz (IVA AP)</vt:lpstr>
      <vt:lpstr>1.6 FUNCIONES: ICOJT, IPOJT, IOJT E IVA APRENDIZ Titulares de área y Comandancias</vt:lpstr>
      <vt:lpstr>¡Gracias!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AVANZADO PARA EL INSPECTOR VERIFICADOR AERONÁUTICO DE INVESTIGACIÓN ADMINISTRATIVA Y SEGURIDAD AÉREA (IVA-IASA)</dc:title>
  <dc:creator>Ricardo Elias Delgado Villalobos</dc:creator>
  <cp:lastModifiedBy>Jose Manuel Figueroa Hernandez</cp:lastModifiedBy>
  <cp:revision>218</cp:revision>
  <dcterms:created xsi:type="dcterms:W3CDTF">2025-01-15T19:01:35Z</dcterms:created>
  <dcterms:modified xsi:type="dcterms:W3CDTF">2026-09-23T21:06:33Z</dcterms:modified>
</cp:coreProperties>
</file>