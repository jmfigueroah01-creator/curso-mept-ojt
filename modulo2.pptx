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63" r:id="rId2"/>
    <p:sldId id="266" r:id="rId3"/>
    <p:sldId id="267" r:id="rId4"/>
    <p:sldId id="268" r:id="rId5"/>
    <p:sldId id="269" r:id="rId6"/>
    <p:sldId id="270" r:id="rId7"/>
    <p:sldId id="271" r:id="rId8"/>
    <p:sldId id="272" r:id="rId9"/>
    <p:sldId id="292" r:id="rId10"/>
    <p:sldId id="293" r:id="rId11"/>
    <p:sldId id="294" r:id="rId12"/>
    <p:sldId id="295" r:id="rId13"/>
    <p:sldId id="291" r:id="rId14"/>
    <p:sldId id="296" r:id="rId15"/>
    <p:sldId id="277" r:id="rId16"/>
    <p:sldId id="297" r:id="rId17"/>
    <p:sldId id="298" r:id="rId18"/>
    <p:sldId id="278" r:id="rId19"/>
    <p:sldId id="279" r:id="rId20"/>
    <p:sldId id="280" r:id="rId21"/>
    <p:sldId id="281" r:id="rId22"/>
    <p:sldId id="282" r:id="rId23"/>
    <p:sldId id="283" r:id="rId24"/>
    <p:sldId id="299" r:id="rId25"/>
    <p:sldId id="290" r:id="rId26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C9C16"/>
    <a:srgbClr val="156082"/>
    <a:srgbClr val="0B3041"/>
    <a:srgbClr val="CCCCFF"/>
    <a:srgbClr val="E4CDAC"/>
    <a:srgbClr val="7B95AF"/>
    <a:srgbClr val="003764"/>
    <a:srgbClr val="4E95D9"/>
    <a:srgbClr val="AEAEAE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30" autoAdjust="0"/>
    <p:restoredTop sz="94038" autoAdjust="0"/>
  </p:normalViewPr>
  <p:slideViewPr>
    <p:cSldViewPr snapToGrid="0">
      <p:cViewPr varScale="1">
        <p:scale>
          <a:sx n="104" d="100"/>
          <a:sy n="104" d="100"/>
        </p:scale>
        <p:origin x="72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e Manuel Figueroa Hernandez" userId="c23fd2b0-07fd-455e-80a2-756e0be2378e" providerId="ADAL" clId="{19EAFD33-AF50-43D6-BF52-FC06C69CD06D}"/>
    <pc:docChg chg="delSld modSld">
      <pc:chgData name="Jose Manuel Figueroa Hernandez" userId="c23fd2b0-07fd-455e-80a2-756e0be2378e" providerId="ADAL" clId="{19EAFD33-AF50-43D6-BF52-FC06C69CD06D}" dt="2026-09-23T22:15:07.545" v="14" actId="47"/>
      <pc:docMkLst>
        <pc:docMk/>
      </pc:docMkLst>
      <pc:sldChg chg="del">
        <pc:chgData name="Jose Manuel Figueroa Hernandez" userId="c23fd2b0-07fd-455e-80a2-756e0be2378e" providerId="ADAL" clId="{19EAFD33-AF50-43D6-BF52-FC06C69CD06D}" dt="2026-09-23T22:13:23.744" v="0" actId="47"/>
        <pc:sldMkLst>
          <pc:docMk/>
          <pc:sldMk cId="0" sldId="256"/>
        </pc:sldMkLst>
      </pc:sldChg>
      <pc:sldChg chg="del">
        <pc:chgData name="Jose Manuel Figueroa Hernandez" userId="c23fd2b0-07fd-455e-80a2-756e0be2378e" providerId="ADAL" clId="{19EAFD33-AF50-43D6-BF52-FC06C69CD06D}" dt="2026-09-23T22:13:24.796" v="1" actId="47"/>
        <pc:sldMkLst>
          <pc:docMk/>
          <pc:sldMk cId="0" sldId="257"/>
        </pc:sldMkLst>
      </pc:sldChg>
      <pc:sldChg chg="del">
        <pc:chgData name="Jose Manuel Figueroa Hernandez" userId="c23fd2b0-07fd-455e-80a2-756e0be2378e" providerId="ADAL" clId="{19EAFD33-AF50-43D6-BF52-FC06C69CD06D}" dt="2026-09-23T22:13:25.681" v="2" actId="47"/>
        <pc:sldMkLst>
          <pc:docMk/>
          <pc:sldMk cId="0" sldId="258"/>
        </pc:sldMkLst>
      </pc:sldChg>
      <pc:sldChg chg="del">
        <pc:chgData name="Jose Manuel Figueroa Hernandez" userId="c23fd2b0-07fd-455e-80a2-756e0be2378e" providerId="ADAL" clId="{19EAFD33-AF50-43D6-BF52-FC06C69CD06D}" dt="2026-09-23T22:13:27.921" v="3" actId="47"/>
        <pc:sldMkLst>
          <pc:docMk/>
          <pc:sldMk cId="0" sldId="259"/>
        </pc:sldMkLst>
      </pc:sldChg>
      <pc:sldChg chg="del">
        <pc:chgData name="Jose Manuel Figueroa Hernandez" userId="c23fd2b0-07fd-455e-80a2-756e0be2378e" providerId="ADAL" clId="{19EAFD33-AF50-43D6-BF52-FC06C69CD06D}" dt="2026-09-23T22:13:28.839" v="4" actId="47"/>
        <pc:sldMkLst>
          <pc:docMk/>
          <pc:sldMk cId="0" sldId="260"/>
        </pc:sldMkLst>
      </pc:sldChg>
      <pc:sldChg chg="del">
        <pc:chgData name="Jose Manuel Figueroa Hernandez" userId="c23fd2b0-07fd-455e-80a2-756e0be2378e" providerId="ADAL" clId="{19EAFD33-AF50-43D6-BF52-FC06C69CD06D}" dt="2026-09-23T22:13:29.764" v="5" actId="47"/>
        <pc:sldMkLst>
          <pc:docMk/>
          <pc:sldMk cId="0" sldId="261"/>
        </pc:sldMkLst>
      </pc:sldChg>
      <pc:sldChg chg="del">
        <pc:chgData name="Jose Manuel Figueroa Hernandez" userId="c23fd2b0-07fd-455e-80a2-756e0be2378e" providerId="ADAL" clId="{19EAFD33-AF50-43D6-BF52-FC06C69CD06D}" dt="2026-09-23T22:13:30.751" v="6" actId="47"/>
        <pc:sldMkLst>
          <pc:docMk/>
          <pc:sldMk cId="0" sldId="262"/>
        </pc:sldMkLst>
      </pc:sldChg>
      <pc:sldChg chg="modSp mod">
        <pc:chgData name="Jose Manuel Figueroa Hernandez" userId="c23fd2b0-07fd-455e-80a2-756e0be2378e" providerId="ADAL" clId="{19EAFD33-AF50-43D6-BF52-FC06C69CD06D}" dt="2026-09-23T22:14:18.880" v="9" actId="20577"/>
        <pc:sldMkLst>
          <pc:docMk/>
          <pc:sldMk cId="0" sldId="263"/>
        </pc:sldMkLst>
        <pc:spChg chg="mod">
          <ac:chgData name="Jose Manuel Figueroa Hernandez" userId="c23fd2b0-07fd-455e-80a2-756e0be2378e" providerId="ADAL" clId="{19EAFD33-AF50-43D6-BF52-FC06C69CD06D}" dt="2026-09-23T22:14:18.880" v="9" actId="20577"/>
          <ac:spMkLst>
            <pc:docMk/>
            <pc:sldMk cId="0" sldId="263"/>
            <ac:spMk id="2" creationId="{00000000-0000-0000-0000-000000000000}"/>
          </ac:spMkLst>
        </pc:spChg>
      </pc:sldChg>
      <pc:sldChg chg="del">
        <pc:chgData name="Jose Manuel Figueroa Hernandez" userId="c23fd2b0-07fd-455e-80a2-756e0be2378e" providerId="ADAL" clId="{19EAFD33-AF50-43D6-BF52-FC06C69CD06D}" dt="2026-09-23T22:14:35.506" v="10" actId="47"/>
        <pc:sldMkLst>
          <pc:docMk/>
          <pc:sldMk cId="0" sldId="264"/>
        </pc:sldMkLst>
      </pc:sldChg>
      <pc:sldChg chg="del">
        <pc:chgData name="Jose Manuel Figueroa Hernandez" userId="c23fd2b0-07fd-455e-80a2-756e0be2378e" providerId="ADAL" clId="{19EAFD33-AF50-43D6-BF52-FC06C69CD06D}" dt="2026-09-23T22:14:37.349" v="11" actId="47"/>
        <pc:sldMkLst>
          <pc:docMk/>
          <pc:sldMk cId="0" sldId="265"/>
        </pc:sldMkLst>
      </pc:sldChg>
      <pc:sldChg chg="del">
        <pc:chgData name="Jose Manuel Figueroa Hernandez" userId="c23fd2b0-07fd-455e-80a2-756e0be2378e" providerId="ADAL" clId="{19EAFD33-AF50-43D6-BF52-FC06C69CD06D}" dt="2026-09-23T22:15:07.545" v="14" actId="47"/>
        <pc:sldMkLst>
          <pc:docMk/>
          <pc:sldMk cId="0" sldId="287"/>
        </pc:sldMkLst>
      </pc:sldChg>
      <pc:sldChg chg="del">
        <pc:chgData name="Jose Manuel Figueroa Hernandez" userId="c23fd2b0-07fd-455e-80a2-756e0be2378e" providerId="ADAL" clId="{19EAFD33-AF50-43D6-BF52-FC06C69CD06D}" dt="2026-09-23T22:15:04.497" v="12" actId="47"/>
        <pc:sldMkLst>
          <pc:docMk/>
          <pc:sldMk cId="0" sldId="288"/>
        </pc:sldMkLst>
      </pc:sldChg>
      <pc:sldChg chg="del">
        <pc:chgData name="Jose Manuel Figueroa Hernandez" userId="c23fd2b0-07fd-455e-80a2-756e0be2378e" providerId="ADAL" clId="{19EAFD33-AF50-43D6-BF52-FC06C69CD06D}" dt="2026-09-23T22:15:06.062" v="13" actId="47"/>
        <pc:sldMkLst>
          <pc:docMk/>
          <pc:sldMk cId="0" sldId="28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313DD9-E4B5-4997-8BD0-CCD1D82A46CA}" type="datetimeFigureOut">
              <a:rPr lang="es-MX" smtClean="0"/>
              <a:t>24/09/2026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F0ECBA-0A42-439B-8BB1-7C8EF8AA356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40494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F8A2C392-B539-B6D8-7851-5351BEE0B7B2}"/>
              </a:ext>
            </a:extLst>
          </p:cNvPr>
          <p:cNvPicPr/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3855720" y="1760220"/>
            <a:ext cx="8336280" cy="509778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783C967-2F54-09E4-AA30-298CA56551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BB59DC73-C653-C81C-D52E-0C69633752F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210987" y="4899638"/>
            <a:ext cx="7766977" cy="1072989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A8FDDAFA-5E8D-9796-4199-96DDF49E0C4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365" t="2142" b="1"/>
          <a:stretch/>
        </p:blipFill>
        <p:spPr>
          <a:xfrm>
            <a:off x="-1525" y="0"/>
            <a:ext cx="12192000" cy="203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7879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de título, fin de present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F8A2C392-B539-B6D8-7851-5351BEE0B7B2}"/>
              </a:ext>
            </a:extLst>
          </p:cNvPr>
          <p:cNvPicPr/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3855720" y="1760220"/>
            <a:ext cx="8336280" cy="5097780"/>
          </a:xfrm>
          <a:prstGeom prst="rect">
            <a:avLst/>
          </a:prstGeom>
        </p:spPr>
      </p:pic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66826DB8-4520-87EC-C957-39CC5FEDDF23}"/>
              </a:ext>
            </a:extLst>
          </p:cNvPr>
          <p:cNvCxnSpPr>
            <a:cxnSpLocks/>
          </p:cNvCxnSpPr>
          <p:nvPr userDrawn="1"/>
        </p:nvCxnSpPr>
        <p:spPr>
          <a:xfrm>
            <a:off x="2610003" y="3429000"/>
            <a:ext cx="6968946" cy="0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14770139-593C-68D8-65A7-D32A6375DD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29619" y="1992089"/>
            <a:ext cx="7329714" cy="1436911"/>
          </a:xfrm>
        </p:spPr>
        <p:txBody>
          <a:bodyPr anchor="ctr">
            <a:noAutofit/>
          </a:bodyPr>
          <a:lstStyle>
            <a:lvl1pPr algn="ctr">
              <a:defRPr sz="5000"/>
            </a:lvl1pPr>
          </a:lstStyle>
          <a:p>
            <a:endParaRPr lang="es-MX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51A90F6-F9C8-C3DC-0206-47FA2B0E52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210987" y="3772615"/>
            <a:ext cx="7766977" cy="1072989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FAADA8D9-AE01-0879-2B0F-D35E84BE75D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365" t="2142" b="1"/>
          <a:stretch/>
        </p:blipFill>
        <p:spPr>
          <a:xfrm>
            <a:off x="-1525" y="0"/>
            <a:ext cx="12192000" cy="203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854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B9625AD5-FD90-7ED4-A463-1E5CB822AA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65" b="4156"/>
          <a:stretch/>
        </p:blipFill>
        <p:spPr>
          <a:xfrm>
            <a:off x="0" y="0"/>
            <a:ext cx="12192000" cy="141604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98B7789-9006-E47A-926E-AC183E215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486" y="0"/>
            <a:ext cx="8955314" cy="1325563"/>
          </a:xfrm>
        </p:spPr>
        <p:txBody>
          <a:bodyPr>
            <a:normAutofit/>
          </a:bodyPr>
          <a:lstStyle>
            <a:lvl1pPr algn="just">
              <a:defRPr sz="40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7" name="Imagen 6" descr="Patrón de fondo&#10;&#10;Descripción generada automáticamente">
            <a:extLst>
              <a:ext uri="{FF2B5EF4-FFF2-40B4-BE49-F238E27FC236}">
                <a16:creationId xmlns:a16="http://schemas.microsoft.com/office/drawing/2014/main" id="{A6FA8314-6B07-608F-1066-971AAD27014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240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CBA6592-4655-ECA7-5E54-6A2266196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65" b="4156"/>
          <a:stretch/>
        </p:blipFill>
        <p:spPr>
          <a:xfrm>
            <a:off x="0" y="0"/>
            <a:ext cx="12192000" cy="141604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98B7789-9006-E47A-926E-AC183E215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486" y="0"/>
            <a:ext cx="8955314" cy="1325563"/>
          </a:xfrm>
        </p:spPr>
        <p:txBody>
          <a:bodyPr>
            <a:normAutofit/>
          </a:bodyPr>
          <a:lstStyle>
            <a:lvl1pPr algn="just">
              <a:defRPr sz="40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7" name="Imagen 6" descr="Patrón de fondo&#10;&#10;Descripción generada automáticamente">
            <a:extLst>
              <a:ext uri="{FF2B5EF4-FFF2-40B4-BE49-F238E27FC236}">
                <a16:creationId xmlns:a16="http://schemas.microsoft.com/office/drawing/2014/main" id="{A6FA8314-6B07-608F-1066-971AAD27014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53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Descripción generada automáticamente">
            <a:extLst>
              <a:ext uri="{FF2B5EF4-FFF2-40B4-BE49-F238E27FC236}">
                <a16:creationId xmlns:a16="http://schemas.microsoft.com/office/drawing/2014/main" id="{A5A1F8B5-C537-E163-7F62-A12931C7E1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801879A4-A5B6-7D86-61D5-66ACD9BA94ED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31143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Patrón de fondo&#10;&#10;Descripción generada automáticamente">
            <a:extLst>
              <a:ext uri="{FF2B5EF4-FFF2-40B4-BE49-F238E27FC236}">
                <a16:creationId xmlns:a16="http://schemas.microsoft.com/office/drawing/2014/main" id="{634EBF27-8651-00A8-AF4C-4E9644167F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FBE94F59-AD2E-40B1-B026-72BC4AB241A4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82609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Descripción generada automáticamente">
            <a:extLst>
              <a:ext uri="{FF2B5EF4-FFF2-40B4-BE49-F238E27FC236}">
                <a16:creationId xmlns:a16="http://schemas.microsoft.com/office/drawing/2014/main" id="{A5A1F8B5-C537-E163-7F62-A12931C7E1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8" y="66706"/>
            <a:ext cx="992252" cy="702553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79621210-2A91-1552-D4F2-DF2766531006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44666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4" name="Imagen 3" descr="Patrón de fondo&#10;&#10;Descripción generada automáticamente">
            <a:extLst>
              <a:ext uri="{FF2B5EF4-FFF2-40B4-BE49-F238E27FC236}">
                <a16:creationId xmlns:a16="http://schemas.microsoft.com/office/drawing/2014/main" id="{CEFCEBEC-42C8-C58C-CD8C-206F903423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102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5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3" name="Imagen 2" descr="Patrón de fondo&#10;&#10;Descripción generada automáticamente">
            <a:extLst>
              <a:ext uri="{FF2B5EF4-FFF2-40B4-BE49-F238E27FC236}">
                <a16:creationId xmlns:a16="http://schemas.microsoft.com/office/drawing/2014/main" id="{532B9242-CE35-04A2-18AA-987DB5B40A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567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3" name="Imagen 2" descr="Patrón de fondo&#10;&#10;Descripción generada automáticamente">
            <a:extLst>
              <a:ext uri="{FF2B5EF4-FFF2-40B4-BE49-F238E27FC236}">
                <a16:creationId xmlns:a16="http://schemas.microsoft.com/office/drawing/2014/main" id="{85BD324A-C024-0077-DF8F-20DCA813AA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8" y="66706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138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D3F39D5-2B33-B76C-39CA-AE6BED786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DBD0F07-E6DF-E238-D01E-6075CA1AE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83371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61" r:id="rId4"/>
    <p:sldLayoutId id="2147483655" r:id="rId5"/>
    <p:sldLayoutId id="2147483664" r:id="rId6"/>
    <p:sldLayoutId id="2147483663" r:id="rId7"/>
    <p:sldLayoutId id="2147483662" r:id="rId8"/>
    <p:sldLayoutId id="2147483666" r:id="rId9"/>
    <p:sldLayoutId id="2147483665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2103120"/>
            <a:ext cx="10515600" cy="2651760"/>
          </a:xfrm>
        </p:spPr>
        <p:txBody>
          <a:bodyPr wrap="square" anchor="ctr"/>
          <a:lstStyle/>
          <a:p>
            <a:pPr algn="ctr">
              <a:spcAft>
                <a:spcPts val="600"/>
              </a:spcAft>
            </a:pPr>
            <a:r>
              <a:rPr sz="5400" b="0" i="0" u="none" dirty="0" err="1">
                <a:solidFill>
                  <a:srgbClr val="B98A2E"/>
                </a:solidFill>
                <a:latin typeface="Montserrat SemiBold"/>
                <a:ea typeface="Montserrat SemiBold"/>
                <a:cs typeface="Montserrat SemiBold"/>
              </a:rPr>
              <a:t>Módulo</a:t>
            </a:r>
            <a:r>
              <a:rPr sz="5400" b="0" i="0" u="none" dirty="0">
                <a:solidFill>
                  <a:srgbClr val="B98A2E"/>
                </a:solidFill>
                <a:latin typeface="Montserrat SemiBold"/>
                <a:ea typeface="Montserrat SemiBold"/>
                <a:cs typeface="Montserrat SemiBold"/>
              </a:rPr>
              <a:t> 2</a:t>
            </a:r>
          </a:p>
          <a:p>
            <a:pPr algn="ctr">
              <a:spcAft>
                <a:spcPts val="800"/>
              </a:spcAft>
            </a:pPr>
            <a:r>
              <a:rPr sz="4000" b="1" i="0" u="none" dirty="0" err="1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Requisitos</a:t>
            </a:r>
            <a:r>
              <a:rPr sz="4000"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 de </a:t>
            </a:r>
            <a:r>
              <a:rPr sz="4000" b="1" i="0" u="none" dirty="0" err="1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implementación</a:t>
            </a:r>
            <a:r>
              <a:rPr sz="4000"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 del </a:t>
            </a:r>
            <a:r>
              <a:rPr sz="4000" b="1" i="0" u="none" dirty="0" err="1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Programa</a:t>
            </a:r>
            <a:r>
              <a:rPr sz="4000"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 OJT</a:t>
            </a:r>
          </a:p>
          <a:p>
            <a:pPr algn="ctr"/>
            <a:r>
              <a:rPr sz="1600" b="0" i="0" u="none" dirty="0" err="1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Actualización del Manual de Entrenamiento en el Puesto de Trabajo</a:t>
            </a:r>
            <a:endParaRPr sz="1600" b="0" i="0" u="none" dirty="0">
              <a:solidFill>
                <a:srgbClr val="182430"/>
              </a:solidFill>
              <a:latin typeface="Montserrat SemiBold"/>
              <a:ea typeface="Montserrat SemiBold"/>
              <a:cs typeface="Montserrat SemiBold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ACTIVIDAD DE INICIO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Para iniciar, reflexiona</a:t>
            </a:r>
          </a:p>
        </p:txBody>
      </p:sp>
      <p:pic>
        <p:nvPicPr>
          <p:cNvPr id="3" name="Picture 2" descr="co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193" y="2233617"/>
            <a:ext cx="3065083" cy="23907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835161"/>
            <a:ext cx="7040880" cy="37856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Aprobaste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curso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básico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especialidad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¿Eso basta para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acreditar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campo?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¿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Qué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tendrías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demostrar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ante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quién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?</a:t>
            </a:r>
            <a:endParaRPr lang="es-MX"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ctr">
              <a:lnSpc>
                <a:spcPct val="100000"/>
              </a:lnSpc>
              <a:spcAft>
                <a:spcPts val="1200"/>
              </a:spcAft>
            </a:pP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Anota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tu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respuesta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y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compárala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al final.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2.1 REQUISITOS GENERALES PARA LLEVAR A CABO EL ENTRENAMIENTO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Requisitos para realizar el OJT</a:t>
            </a:r>
          </a:p>
        </p:txBody>
      </p:sp>
      <p:sp>
        <p:nvSpPr>
          <p:cNvPr id="3" name="Oval 2"/>
          <p:cNvSpPr/>
          <p:nvPr/>
        </p:nvSpPr>
        <p:spPr>
          <a:xfrm>
            <a:off x="2011680" y="1752149"/>
            <a:ext cx="731520" cy="66409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40759"/>
            <a:ext cx="3291840" cy="747104"/>
          </a:xfrm>
          <a:prstGeom prst="roundRect">
            <a:avLst>
              <a:gd name="adj" fmla="val 1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Instructor OJT designado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87864"/>
            <a:ext cx="3291840" cy="2158302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 experiencia y conocimientos; designado por su área con anuencia del Director del CIAAC.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1752149"/>
            <a:ext cx="731520" cy="66409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2540759"/>
            <a:ext cx="3291840" cy="747104"/>
          </a:xfrm>
          <a:prstGeom prst="roundRect">
            <a:avLst>
              <a:gd name="adj" fmla="val 1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Condiciones completas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3287864"/>
            <a:ext cx="3291840" cy="2158302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Curso básico acreditado, programación autorizada y procedimientos vigentes.</a:t>
            </a:r>
          </a:p>
        </p:txBody>
      </p:sp>
      <p:sp>
        <p:nvSpPr>
          <p:cNvPr id="9" name="Oval 8"/>
          <p:cNvSpPr/>
          <p:nvPr/>
        </p:nvSpPr>
        <p:spPr>
          <a:xfrm>
            <a:off x="9052560" y="1752149"/>
            <a:ext cx="731520" cy="66409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540759"/>
            <a:ext cx="3291840" cy="747104"/>
          </a:xfrm>
          <a:prstGeom prst="roundRect">
            <a:avLst>
              <a:gd name="adj" fmla="val 1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Todo se documenta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287864"/>
            <a:ext cx="3291840" cy="2158302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 el expediente del IVA y en el Módulo OJT de la plataforma de la AFAC.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55080"/>
            <a:ext cx="8686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532120"/>
            <a:ext cx="10104120" cy="6400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 falta cualquiera de estos requisitos,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el evento no puede realizarse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primero se regulariza y después se programa.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5532120"/>
            <a:ext cx="640080" cy="64008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987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454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151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763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2.1 REQUISITOS GENERALES PARA LLEVAR A CABO EL ENTRENAMIENTO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Lista de verificación antes de iniciar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93655"/>
            <a:ext cx="731520" cy="747104"/>
          </a:xfrm>
          <a:prstGeom prst="roundRect">
            <a:avLst>
              <a:gd name="adj" fmla="val 15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54480" y="1793655"/>
            <a:ext cx="4206240" cy="747104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Curso básico acreditado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793655"/>
            <a:ext cx="731520" cy="747104"/>
          </a:xfrm>
          <a:prstGeom prst="roundRect">
            <a:avLst>
              <a:gd name="adj" fmla="val 15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793655"/>
            <a:ext cx="4206240" cy="747104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designado para la tarea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89793"/>
            <a:ext cx="731520" cy="747104"/>
          </a:xfrm>
          <a:prstGeom prst="roundRect">
            <a:avLst>
              <a:gd name="adj" fmla="val 15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2789793"/>
            <a:ext cx="4206240" cy="747104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Programación autorizada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789793"/>
            <a:ext cx="731520" cy="747104"/>
          </a:xfrm>
          <a:prstGeom prst="roundRect">
            <a:avLst>
              <a:gd name="adj" fmla="val 15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789793"/>
            <a:ext cx="4206240" cy="747104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Procedimientos vigentes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85934"/>
            <a:ext cx="731520" cy="747104"/>
          </a:xfrm>
          <a:prstGeom prst="roundRect">
            <a:avLst>
              <a:gd name="adj" fmla="val 15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54480" y="3785934"/>
            <a:ext cx="4206240" cy="747104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Recursos disponibles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3785934"/>
            <a:ext cx="731520" cy="747104"/>
          </a:xfrm>
          <a:prstGeom prst="roundRect">
            <a:avLst>
              <a:gd name="adj" fmla="val 15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3785934"/>
            <a:ext cx="4206240" cy="747104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Criterios de desempeño definidos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906590"/>
            <a:ext cx="10424160" cy="830116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Antes de cada evento, el instructor explica al aprendiz </a:t>
            </a:r>
            <a:r>
              <a:rPr sz="20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qué deberá demostrar</a:t>
            </a: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4.1, 4.2 y 5.2.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987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54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921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388"/>
                            </p:stCondLst>
                            <p:childTnLst>
                              <p:par>
                                <p:cTn id="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55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322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789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256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723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190"/>
                            </p:stCondLst>
                            <p:childTnLst>
                              <p:par>
                                <p:cTn id="5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657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6154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6629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Tres niveles progresivos por tarea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93655"/>
            <a:ext cx="3200400" cy="996139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1" i="0" u="none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Nivel 1</a:t>
            </a:r>
          </a:p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Conocimiento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789794"/>
            <a:ext cx="3200400" cy="2158302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1400"/>
              </a:spcAft>
            </a:pP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Instructor: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Instruir</a:t>
            </a:r>
          </a:p>
          <a:p>
            <a:pPr algn="ctr">
              <a:spcAft>
                <a:spcPts val="1400"/>
              </a:spcAft>
            </a:pP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Aprendiz: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Asimilar conocimientos (en sitio)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977639" y="2997323"/>
            <a:ext cx="320040" cy="415058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343400" y="1793655"/>
            <a:ext cx="3200400" cy="996139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1" i="0" u="none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Nivel 2</a:t>
            </a:r>
          </a:p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Demostración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2789794"/>
            <a:ext cx="3200400" cy="2158302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1400"/>
              </a:spcAft>
            </a:pP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Instructor: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Demostrar / asistir</a:t>
            </a:r>
          </a:p>
          <a:p>
            <a:pPr algn="ctr">
              <a:spcAft>
                <a:spcPts val="1400"/>
              </a:spcAft>
            </a:pP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Aprendiz: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Observar / coadyuvar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589520" y="2997323"/>
            <a:ext cx="320040" cy="415058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955280" y="1793655"/>
            <a:ext cx="3200400" cy="996139"/>
          </a:xfrm>
          <a:prstGeom prst="roundRect">
            <a:avLst>
              <a:gd name="adj" fmla="val 8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1" i="0" u="none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Nivel 3</a:t>
            </a:r>
          </a:p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Ejecución supervisada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2789794"/>
            <a:ext cx="3200400" cy="2158302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1400"/>
              </a:spcAft>
            </a:pP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Instructor: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Evaluar</a:t>
            </a:r>
          </a:p>
          <a:p>
            <a:pPr algn="ctr">
              <a:spcAft>
                <a:spcPts val="1400"/>
              </a:spcAft>
            </a:pP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Aprendiz: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Realizar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97131"/>
            <a:ext cx="10424160" cy="622587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 nivel es un </a:t>
            </a:r>
            <a:r>
              <a:rPr sz="20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evento distinto</a:t>
            </a: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en </a:t>
            </a:r>
            <a:r>
              <a:rPr sz="20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fecha distinta</a:t>
            </a: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en orden.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4.2.1 a 4.2.4.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97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89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686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78"/>
                            </p:stCondLst>
                            <p:childTnLst>
                              <p:par>
                                <p:cTn id="3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75"/>
                            </p:stCondLst>
                            <p:childTnLst>
                              <p:par>
                                <p:cTn id="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05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Nivel 1: Conocimiento aplicado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52149"/>
            <a:ext cx="502920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El instructor OJT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50219"/>
            <a:ext cx="5029200" cy="2282819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t"/>
          <a:lstStyle/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Relaciona el curso básico con la tarea</a:t>
            </a:r>
          </a:p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Explica objetivo, fundamento, secuencia, recursos y seguridad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752149"/>
            <a:ext cx="502920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El aprendiz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250219"/>
            <a:ext cx="5029200" cy="2282819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t"/>
          <a:lstStyle/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Identifica propósito y alcance</a:t>
            </a:r>
          </a:p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Localiza las referencias</a:t>
            </a:r>
          </a:p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Explica secuencia, registros y límites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40567"/>
            <a:ext cx="10424160" cy="996139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Es satisfactorio cuando: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instructor comprueba el conocimiento aplicado a la tarea. </a:t>
            </a:r>
            <a:r>
              <a:rPr sz="18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No se acredita solo por un curso previo.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4.2.1.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7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84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959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Nivel 2: Demostración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52149"/>
            <a:ext cx="5029200" cy="498069"/>
          </a:xfrm>
          <a:prstGeom prst="roundRect">
            <a:avLst>
              <a:gd name="adj" fmla="val 12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El instructor OJT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50219"/>
            <a:ext cx="5029200" cy="2282819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t"/>
          <a:lstStyle/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Ejecuta y explica la tarea</a:t>
            </a:r>
          </a:p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Muestra criterios, puntos críticos y registros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752149"/>
            <a:ext cx="5029200" cy="498069"/>
          </a:xfrm>
          <a:prstGeom prst="roundRect">
            <a:avLst>
              <a:gd name="adj" fmla="val 12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El aprendiz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250219"/>
            <a:ext cx="5029200" cy="2282819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t"/>
          <a:lstStyle/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Observa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puede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coadyuvar</a:t>
            </a:r>
            <a:endParaRPr sz="18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Explica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secuencia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observada</a:t>
            </a:r>
            <a:endParaRPr sz="18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Identifica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lang="es-MX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puntos clave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precauciones</a:t>
            </a:r>
            <a:endParaRPr sz="18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31520" y="4740567"/>
            <a:ext cx="10424160" cy="996139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Es satisfactorio cuando: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se cubrió la demostración y el aprendiz demuestra comprensión. </a:t>
            </a:r>
            <a:r>
              <a:rPr sz="18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Coadyuvar no acredita ejecución independiente.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4.2.2.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7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84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959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Nivel 3: Ejecución supervisada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52149"/>
            <a:ext cx="5029200" cy="498069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El instructor OJT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50219"/>
            <a:ext cx="5029200" cy="2282819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t"/>
          <a:lstStyle/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Observa, supervisa y evalúa</a:t>
            </a:r>
          </a:p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Documenta cualquier intervención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752149"/>
            <a:ext cx="5029200" cy="498069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El aprendiz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250219"/>
            <a:ext cx="5029200" cy="2282819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t"/>
          <a:lstStyle/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Ejecuta la tarea y sus subtareas</a:t>
            </a:r>
          </a:p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Sustenta sus decisiones</a:t>
            </a:r>
          </a:p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Usa recursos autorizados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40567"/>
            <a:ext cx="10424160" cy="996139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Es satisfactorio cuando: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cumple los criterios de aceptación y todas las subtareas aplicables. </a:t>
            </a:r>
            <a:r>
              <a:rPr sz="18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La acreditación no se extiende a otras tareas.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4.2.3.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7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84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959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Una tarea, tres eventos distintos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 la R06, cada nivel de una misma tarea se realiza en un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evento propio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en una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fecha distinta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en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orden progresivo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3017520" cy="50292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Nivel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880360"/>
            <a:ext cx="3017520" cy="10972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Evento 1 · fecha A</a:t>
            </a:r>
          </a:p>
          <a:p>
            <a:pPr algn="ctr">
              <a:spcAft>
                <a:spcPts val="0"/>
              </a:spcAft>
            </a:pP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Evidencia propia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822191" y="2971800"/>
            <a:ext cx="502920" cy="41148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89120" y="2377440"/>
            <a:ext cx="3017520" cy="502920"/>
          </a:xfrm>
          <a:prstGeom prst="roundRect">
            <a:avLst>
              <a:gd name="adj" fmla="val 12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Nivel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880360"/>
            <a:ext cx="3017520" cy="10972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Evento 2 · fecha posterior</a:t>
            </a:r>
          </a:p>
          <a:p>
            <a:pPr algn="ctr">
              <a:spcAft>
                <a:spcPts val="0"/>
              </a:spcAft>
            </a:pP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Evidencia propia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479792" y="2971800"/>
            <a:ext cx="502920" cy="41148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046720" y="2377440"/>
            <a:ext cx="3017520" cy="502920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Nivel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880360"/>
            <a:ext cx="3017520" cy="10972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Evento 3 · fecha posterior</a:t>
            </a:r>
          </a:p>
          <a:p>
            <a:pPr algn="ctr">
              <a:spcAft>
                <a:spcPts val="0"/>
              </a:spcAft>
            </a:pP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Evidencia propia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4206240"/>
            <a:ext cx="502920" cy="502920"/>
          </a:xfrm>
          <a:prstGeom prst="ellipse">
            <a:avLst/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25880" y="4206240"/>
            <a:ext cx="2423160" cy="502920"/>
          </a:xfrm>
          <a:prstGeom prst="roundRect">
            <a:avLst>
              <a:gd name="adj" fmla="val 30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A3352C"/>
                </a:solidFill>
                <a:latin typeface="Montserrat SemiBold"/>
                <a:ea typeface="Montserrat SemiBold"/>
                <a:cs typeface="Montserrat SemiBold"/>
              </a:rPr>
              <a:t>Dos niveles el mismo día</a:t>
            </a:r>
          </a:p>
        </p:txBody>
      </p:sp>
      <p:sp>
        <p:nvSpPr>
          <p:cNvPr id="14" name="Oval 13"/>
          <p:cNvSpPr/>
          <p:nvPr/>
        </p:nvSpPr>
        <p:spPr>
          <a:xfrm>
            <a:off x="4389120" y="4206240"/>
            <a:ext cx="502920" cy="502920"/>
          </a:xfrm>
          <a:prstGeom prst="ellipse">
            <a:avLst/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3480" y="4206240"/>
            <a:ext cx="2423160" cy="502920"/>
          </a:xfrm>
          <a:prstGeom prst="roundRect">
            <a:avLst>
              <a:gd name="adj" fmla="val 30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A3352C"/>
                </a:solidFill>
                <a:latin typeface="Montserrat SemiBold"/>
                <a:ea typeface="Montserrat SemiBold"/>
                <a:cs typeface="Montserrat SemiBold"/>
              </a:rPr>
              <a:t>Reutilizar la evidencia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0" y="4206240"/>
            <a:ext cx="502920" cy="502920"/>
          </a:xfrm>
          <a:prstGeom prst="ellipse">
            <a:avLst/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4206240"/>
            <a:ext cx="2423160" cy="502920"/>
          </a:xfrm>
          <a:prstGeom prst="roundRect">
            <a:avLst>
              <a:gd name="adj" fmla="val 30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A3352C"/>
                </a:solidFill>
                <a:latin typeface="Montserrat SemiBold"/>
                <a:ea typeface="Montserrat SemiBold"/>
                <a:cs typeface="Montserrat SemiBold"/>
              </a:rPr>
              <a:t>Saltar un nivel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1560" y="4983480"/>
            <a:ext cx="10104120" cy="8686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nivel siguiente solo se programa cuando el anterior tiene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aprobación técnica documentada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Si un nivel dura varias jornadas, se registran sus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fechas reales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inicio y conclusión.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029200"/>
            <a:ext cx="777240" cy="7772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4.2.4 a) a d).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25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422"/>
                            </p:stCondLst>
                            <p:childTnLst>
                              <p:par>
                                <p:cTn id="2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814"/>
                            </p:stCondLst>
                            <p:childTnLst>
                              <p:par>
                                <p:cTn id="2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211"/>
                            </p:stCondLst>
                            <p:childTnLst>
                              <p:par>
                                <p:cTn id="3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603"/>
                            </p:stCondLst>
                            <p:childTnLst>
                              <p:par>
                                <p:cTn id="3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070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3537"/>
                            </p:stCondLst>
                            <p:childTnLst>
                              <p:par>
                                <p:cTn id="5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4004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4471"/>
                            </p:stCondLst>
                            <p:childTnLst>
                              <p:par>
                                <p:cTn id="6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4938"/>
                            </p:stCondLst>
                            <p:childTnLst>
                              <p:par>
                                <p:cTn id="7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405"/>
                            </p:stCondLst>
                            <p:childTnLst>
                              <p:par>
                                <p:cTn id="7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6102"/>
                            </p:stCondLst>
                            <p:childTnLst>
                              <p:par>
                                <p:cTn id="8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6714"/>
                            </p:stCondLst>
                            <p:childTnLst>
                              <p:par>
                                <p:cTn id="8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¿Qué debe demostrar tu evidencia?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 evento necesita evidencia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pertinente, auténtica y suficiente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Al revisarla, debe responder estas preguntas: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89888" y="237744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¿Quién participó?</a:t>
            </a:r>
          </a:p>
          <a:p>
            <a:pPr algn="l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Tú y tu instructor, identificados.</a:t>
            </a:r>
          </a:p>
        </p:txBody>
      </p:sp>
      <p:sp>
        <p:nvSpPr>
          <p:cNvPr id="6" name="Oval 5"/>
          <p:cNvSpPr/>
          <p:nvPr/>
        </p:nvSpPr>
        <p:spPr>
          <a:xfrm>
            <a:off x="4251960" y="2651760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10328" y="237744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¿Qué hiciste?</a:t>
            </a:r>
          </a:p>
          <a:p>
            <a:pPr algn="l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actuación concreta en la tarea.</a:t>
            </a:r>
          </a:p>
        </p:txBody>
      </p:sp>
      <p:sp>
        <p:nvSpPr>
          <p:cNvPr id="8" name="Oval 7"/>
          <p:cNvSpPr/>
          <p:nvPr/>
        </p:nvSpPr>
        <p:spPr>
          <a:xfrm>
            <a:off x="7772400" y="2651760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30768" y="237744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¿En qué tarea y nivel?</a:t>
            </a:r>
          </a:p>
          <a:p>
            <a:pPr algn="l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 su código y denominación.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931920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89888" y="365760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¿En qué evento y fecha?</a:t>
            </a:r>
          </a:p>
          <a:p>
            <a:pPr algn="l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Fechas reales, no las de la comisión.</a:t>
            </a:r>
          </a:p>
        </p:txBody>
      </p:sp>
      <p:sp>
        <p:nvSpPr>
          <p:cNvPr id="12" name="Oval 11"/>
          <p:cNvSpPr/>
          <p:nvPr/>
        </p:nvSpPr>
        <p:spPr>
          <a:xfrm>
            <a:off x="4251960" y="3931920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10328" y="365760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¿Bajo qué supervisión?</a:t>
            </a:r>
          </a:p>
          <a:p>
            <a:pPr algn="l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instrucción o supervisión recibida.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0" y="3931920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365760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¿Con qué resultado?</a:t>
            </a:r>
          </a:p>
          <a:p>
            <a:pPr algn="l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Satisfactorio, pendiente o no satisfactorio.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507492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Copiar un documento, cambiarle el nombre o cargarlo en otro apartado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lo convierte en evidencia de otro evento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507492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4.2.4 e), g) y h).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12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979"/>
                            </p:stCondLst>
                            <p:childTnLst>
                              <p:par>
                                <p:cTn id="1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446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913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380"/>
                            </p:stCondLst>
                            <p:childTnLst>
                              <p:par>
                                <p:cTn id="3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847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314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4781"/>
                            </p:stCondLst>
                            <p:childTnLst>
                              <p:par>
                                <p:cTn id="4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248"/>
                            </p:stCondLst>
                            <p:childTnLst>
                              <p:par>
                                <p:cTn id="5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715"/>
                            </p:stCondLst>
                            <p:childTnLst>
                              <p:par>
                                <p:cTn id="5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6182"/>
                            </p:stCondLst>
                            <p:childTnLst>
                              <p:par>
                                <p:cTn id="6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6879"/>
                            </p:stCondLst>
                            <p:childTnLst>
                              <p:par>
                                <p:cTn id="6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7491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Lo que por sí solo no acredita un nivel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Estos elementos forman parte del proceso, pero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ninguno demuestra por sí solo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que realizaste la tarea: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548640" cy="731520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53312" y="23774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La programación del evento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2377440"/>
            <a:ext cx="548640" cy="731520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3752" y="23774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Tu asistencia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377440"/>
            <a:ext cx="548640" cy="731520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94192" y="23774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El tiempo transcurrido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548640" cy="731520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53312" y="333756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Un oficio de comisión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3337560"/>
            <a:ext cx="548640" cy="731520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73752" y="333756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Una constancia de curso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3337560"/>
            <a:ext cx="548640" cy="731520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94192" y="333756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Cargar documentos al Módulo OJT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434840"/>
            <a:ext cx="548640" cy="914400"/>
          </a:xfrm>
          <a:prstGeom prst="roundRect">
            <a:avLst>
              <a:gd name="adj" fmla="val 15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53312" y="4434840"/>
            <a:ext cx="9802368" cy="914400"/>
          </a:xfrm>
          <a:prstGeom prst="roundRect">
            <a:avLst>
              <a:gd name="adj" fmla="val 10000"/>
            </a:avLst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Lo que sí acredita el nivel: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evaluación satisfactoria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tu instructor, con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evidencia propia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evento y registrada en tu formato y bitácora.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4.2.4 g), 4.2.5 y 4.11.2.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12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979"/>
                            </p:stCondLst>
                            <p:childTnLst>
                              <p:par>
                                <p:cTn id="1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446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913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380"/>
                            </p:stCondLst>
                            <p:childTnLst>
                              <p:par>
                                <p:cTn id="3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847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314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4781"/>
                            </p:stCondLst>
                            <p:childTnLst>
                              <p:par>
                                <p:cTn id="4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248"/>
                            </p:stCondLst>
                            <p:childTnLst>
                              <p:par>
                                <p:cTn id="5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715"/>
                            </p:stCondLst>
                            <p:childTnLst>
                              <p:par>
                                <p:cTn id="5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6182"/>
                            </p:stCondLst>
                            <p:childTnLst>
                              <p:par>
                                <p:cTn id="6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6649"/>
                            </p:stCondLst>
                            <p:childTnLst>
                              <p:par>
                                <p:cTn id="6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7146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7621"/>
                            </p:stCondLst>
                            <p:childTnLst>
                              <p:par>
                                <p:cTn id="7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Situaciones especiales durante el evento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Durante el entrenamiento pueden presentarse estas situaciones. Así se tratan: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Prácticas con ayuda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5120640" cy="150876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633472"/>
            <a:ext cx="475488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Son parte de tu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formación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; no se confunden con la evaluación final del Nivel 3.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3410711"/>
            <a:ext cx="4754880" cy="0"/>
          </a:xfrm>
          <a:prstGeom prst="line">
            <a:avLst/>
          </a:prstGeom>
          <a:ln w="9525">
            <a:solidFill>
              <a:srgbClr val="D9D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3456432"/>
            <a:ext cx="475488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Ejemplo: en tus primeras inspecciones de rampa el instructor te guía paso a paso; la evaluación es cuando la realizas por tu cuenta.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103120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El instructor interviene en la evaluación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560320"/>
            <a:ext cx="5120640" cy="150876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0" y="2633472"/>
            <a:ext cx="475488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 resuelve una decisión sustantiva o ejecuta una parte que te correspondía, lo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documenta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esa parte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se acredita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17920" y="3410711"/>
            <a:ext cx="4754880" cy="0"/>
          </a:xfrm>
          <a:prstGeom prst="line">
            <a:avLst/>
          </a:prstGeom>
          <a:ln w="9525">
            <a:solidFill>
              <a:srgbClr val="D9D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217920" y="3456432"/>
            <a:ext cx="475488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Ejemplo: no identificas si una discrepancia amerita observación y el instructor lo determina; esa parte queda pendiente.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60520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Interrupción externa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617720"/>
            <a:ext cx="5120640" cy="150876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475488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Queda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pendiente de conclusión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su causa; no se califica como falta de competencia.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5468112"/>
            <a:ext cx="4754880" cy="0"/>
          </a:xfrm>
          <a:prstGeom prst="line">
            <a:avLst/>
          </a:prstGeom>
          <a:ln w="9525">
            <a:solidFill>
              <a:srgbClr val="D9D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5513831"/>
            <a:ext cx="475488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Ejemplo: se cancela el vuelo que ibas a inspeccionar; el nivel se reprograma sin afectar tu resultado.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4160520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Riesgo de seguridad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0" y="4617720"/>
            <a:ext cx="5120640" cy="150876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0" y="4690872"/>
            <a:ext cx="475488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instructor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interviene o suspende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actividad y deja constancia de lo ocurrido.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217920" y="5468112"/>
            <a:ext cx="4754880" cy="0"/>
          </a:xfrm>
          <a:prstGeom prst="line">
            <a:avLst/>
          </a:prstGeom>
          <a:ln w="9525">
            <a:solidFill>
              <a:srgbClr val="D9D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217920" y="5513831"/>
            <a:ext cx="475488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Ejemplo: hay combustible derramado en plataforma y el instructor detiene la inspección hasta que sea seguro.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4.2.3 y 4.2.5.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12"/>
                            </p:stCondLst>
                            <p:childTnLst>
                              <p:par>
                                <p:cTn id="4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859"/>
                            </p:stCondLst>
                            <p:childTnLst>
                              <p:par>
                                <p:cTn id="7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2124"/>
                            </p:stCondLst>
                            <p:childTnLst>
                              <p:par>
                                <p:cTn id="7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2389"/>
                            </p:stCondLst>
                            <p:childTnLst>
                              <p:par>
                                <p:cTn id="8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2654"/>
                            </p:stCondLst>
                            <p:childTnLst>
                              <p:par>
                                <p:cTn id="8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3019"/>
                            </p:stCondLst>
                            <p:childTnLst>
                              <p:par>
                                <p:cTn id="9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8" grpId="0" animBg="1"/>
      <p:bldP spid="9" grpId="0" animBg="1"/>
      <p:bldP spid="11" grpId="0" animBg="1"/>
      <p:bldP spid="13" grpId="0" animBg="1"/>
      <p:bldP spid="14" grpId="0" animBg="1"/>
      <p:bldP spid="16" grpId="0" animBg="1"/>
      <p:bldP spid="18" grpId="0" animBg="1"/>
      <p:bldP spid="19" grpId="0" animBg="1"/>
      <p:bldP spid="21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17">
            <a:extLst>
              <a:ext uri="{FF2B5EF4-FFF2-40B4-BE49-F238E27FC236}">
                <a16:creationId xmlns:a16="http://schemas.microsoft.com/office/drawing/2014/main" id="{145BDB81-99C8-B494-6D46-E58474007F07}"/>
              </a:ext>
            </a:extLst>
          </p:cNvPr>
          <p:cNvSpPr/>
          <p:nvPr/>
        </p:nvSpPr>
        <p:spPr>
          <a:xfrm>
            <a:off x="731520" y="18288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Evaluación del nivel</a:t>
            </a:r>
          </a:p>
        </p:txBody>
      </p:sp>
      <p:sp>
        <p:nvSpPr>
          <p:cNvPr id="4" name="Right Arrow 18">
            <a:extLst>
              <a:ext uri="{FF2B5EF4-FFF2-40B4-BE49-F238E27FC236}">
                <a16:creationId xmlns:a16="http://schemas.microsoft.com/office/drawing/2014/main" id="{DC3F7369-1EC3-30A8-32A2-675AA198B31D}"/>
              </a:ext>
            </a:extLst>
          </p:cNvPr>
          <p:cNvSpPr/>
          <p:nvPr/>
        </p:nvSpPr>
        <p:spPr>
          <a:xfrm>
            <a:off x="3200400" y="2103120"/>
            <a:ext cx="411480" cy="36576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iamond 19">
            <a:extLst>
              <a:ext uri="{FF2B5EF4-FFF2-40B4-BE49-F238E27FC236}">
                <a16:creationId xmlns:a16="http://schemas.microsoft.com/office/drawing/2014/main" id="{1D01423A-CBA3-1F27-2A00-DA23D185BFE0}"/>
              </a:ext>
            </a:extLst>
          </p:cNvPr>
          <p:cNvSpPr/>
          <p:nvPr/>
        </p:nvSpPr>
        <p:spPr>
          <a:xfrm>
            <a:off x="3611880" y="1645920"/>
            <a:ext cx="2103120" cy="1280160"/>
          </a:xfrm>
          <a:prstGeom prst="diamond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¿Aprueba?</a:t>
            </a:r>
          </a:p>
        </p:txBody>
      </p:sp>
      <p:sp>
        <p:nvSpPr>
          <p:cNvPr id="6" name="Right Arrow 20">
            <a:extLst>
              <a:ext uri="{FF2B5EF4-FFF2-40B4-BE49-F238E27FC236}">
                <a16:creationId xmlns:a16="http://schemas.microsoft.com/office/drawing/2014/main" id="{E0C3B1EB-C76A-3FF1-4E4A-886BE6A9A433}"/>
              </a:ext>
            </a:extLst>
          </p:cNvPr>
          <p:cNvSpPr/>
          <p:nvPr/>
        </p:nvSpPr>
        <p:spPr>
          <a:xfrm>
            <a:off x="5760720" y="2103120"/>
            <a:ext cx="685800" cy="365760"/>
          </a:xfrm>
          <a:prstGeom prst="rightArrow">
            <a:avLst/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21">
            <a:extLst>
              <a:ext uri="{FF2B5EF4-FFF2-40B4-BE49-F238E27FC236}">
                <a16:creationId xmlns:a16="http://schemas.microsoft.com/office/drawing/2014/main" id="{A76E0F2B-CC80-8F7E-F059-23FDE94048A7}"/>
              </a:ext>
            </a:extLst>
          </p:cNvPr>
          <p:cNvSpPr txBox="1"/>
          <p:nvPr/>
        </p:nvSpPr>
        <p:spPr>
          <a:xfrm>
            <a:off x="5669280" y="1645920"/>
            <a:ext cx="8686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2F7A4D"/>
                </a:solidFill>
                <a:latin typeface="Montserrat SemiBold"/>
                <a:ea typeface="Montserrat SemiBold"/>
                <a:cs typeface="Montserrat SemiBold"/>
              </a:rPr>
              <a:t>Sí</a:t>
            </a:r>
          </a:p>
        </p:txBody>
      </p:sp>
      <p:sp>
        <p:nvSpPr>
          <p:cNvPr id="8" name="Rounded Rectangle 22">
            <a:extLst>
              <a:ext uri="{FF2B5EF4-FFF2-40B4-BE49-F238E27FC236}">
                <a16:creationId xmlns:a16="http://schemas.microsoft.com/office/drawing/2014/main" id="{1B0DF589-9FC8-6E62-460F-220B73054A9E}"/>
              </a:ext>
            </a:extLst>
          </p:cNvPr>
          <p:cNvSpPr/>
          <p:nvPr/>
        </p:nvSpPr>
        <p:spPr>
          <a:xfrm>
            <a:off x="6583680" y="1828800"/>
            <a:ext cx="4572000" cy="914400"/>
          </a:xfrm>
          <a:prstGeom prst="roundRect">
            <a:avLst>
              <a:gd name="adj" fmla="val 8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Se registra y el siguiente nivel se programa en fecha posterior</a:t>
            </a:r>
          </a:p>
        </p:txBody>
      </p:sp>
      <p:cxnSp>
        <p:nvCxnSpPr>
          <p:cNvPr id="9" name="Connector 23">
            <a:extLst>
              <a:ext uri="{FF2B5EF4-FFF2-40B4-BE49-F238E27FC236}">
                <a16:creationId xmlns:a16="http://schemas.microsoft.com/office/drawing/2014/main" id="{5E1BD780-CC59-3115-40D2-53E42676CDDD}"/>
              </a:ext>
            </a:extLst>
          </p:cNvPr>
          <p:cNvCxnSpPr/>
          <p:nvPr/>
        </p:nvCxnSpPr>
        <p:spPr>
          <a:xfrm>
            <a:off x="4663440" y="2926080"/>
            <a:ext cx="0" cy="228600"/>
          </a:xfrm>
          <a:prstGeom prst="line">
            <a:avLst/>
          </a:prstGeom>
          <a:ln w="31750">
            <a:solidFill>
              <a:srgbClr val="9A73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24">
            <a:extLst>
              <a:ext uri="{FF2B5EF4-FFF2-40B4-BE49-F238E27FC236}">
                <a16:creationId xmlns:a16="http://schemas.microsoft.com/office/drawing/2014/main" id="{7319B220-C273-8460-6DD8-30399DE5C762}"/>
              </a:ext>
            </a:extLst>
          </p:cNvPr>
          <p:cNvCxnSpPr/>
          <p:nvPr/>
        </p:nvCxnSpPr>
        <p:spPr>
          <a:xfrm flipH="1">
            <a:off x="1920240" y="3154680"/>
            <a:ext cx="2743200" cy="0"/>
          </a:xfrm>
          <a:prstGeom prst="line">
            <a:avLst/>
          </a:prstGeom>
          <a:ln w="31750">
            <a:solidFill>
              <a:srgbClr val="9A73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25">
            <a:extLst>
              <a:ext uri="{FF2B5EF4-FFF2-40B4-BE49-F238E27FC236}">
                <a16:creationId xmlns:a16="http://schemas.microsoft.com/office/drawing/2014/main" id="{CD32AC51-4519-EA9B-E1E1-9FD4C052D094}"/>
              </a:ext>
            </a:extLst>
          </p:cNvPr>
          <p:cNvCxnSpPr/>
          <p:nvPr/>
        </p:nvCxnSpPr>
        <p:spPr>
          <a:xfrm>
            <a:off x="1920240" y="3154680"/>
            <a:ext cx="0" cy="338328"/>
          </a:xfrm>
          <a:prstGeom prst="line">
            <a:avLst/>
          </a:prstGeom>
          <a:ln w="31750">
            <a:solidFill>
              <a:srgbClr val="9A732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26">
            <a:extLst>
              <a:ext uri="{FF2B5EF4-FFF2-40B4-BE49-F238E27FC236}">
                <a16:creationId xmlns:a16="http://schemas.microsoft.com/office/drawing/2014/main" id="{DB3E18A9-DC56-B3CB-8673-43846A504804}"/>
              </a:ext>
            </a:extLst>
          </p:cNvPr>
          <p:cNvSpPr txBox="1"/>
          <p:nvPr/>
        </p:nvSpPr>
        <p:spPr>
          <a:xfrm>
            <a:off x="4754880" y="2862072"/>
            <a:ext cx="7315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A3352C"/>
                </a:solidFill>
                <a:latin typeface="Montserrat SemiBold"/>
                <a:ea typeface="Montserrat SemiBold"/>
                <a:cs typeface="Montserrat SemiBold"/>
              </a:rPr>
              <a:t>No</a:t>
            </a:r>
          </a:p>
        </p:txBody>
      </p:sp>
      <p:sp>
        <p:nvSpPr>
          <p:cNvPr id="13" name="Rounded Rectangle 27">
            <a:extLst>
              <a:ext uri="{FF2B5EF4-FFF2-40B4-BE49-F238E27FC236}">
                <a16:creationId xmlns:a16="http://schemas.microsoft.com/office/drawing/2014/main" id="{216988C1-92E2-F0E7-E748-82804429B12B}"/>
              </a:ext>
            </a:extLst>
          </p:cNvPr>
          <p:cNvSpPr/>
          <p:nvPr/>
        </p:nvSpPr>
        <p:spPr>
          <a:xfrm>
            <a:off x="731520" y="35204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9A7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Brechas y retroalimentación</a:t>
            </a:r>
          </a:p>
        </p:txBody>
      </p:sp>
      <p:sp>
        <p:nvSpPr>
          <p:cNvPr id="14" name="Right Arrow 28">
            <a:extLst>
              <a:ext uri="{FF2B5EF4-FFF2-40B4-BE49-F238E27FC236}">
                <a16:creationId xmlns:a16="http://schemas.microsoft.com/office/drawing/2014/main" id="{D54385E2-CB61-55B7-9FAC-8F6EC729CA85}"/>
              </a:ext>
            </a:extLst>
          </p:cNvPr>
          <p:cNvSpPr/>
          <p:nvPr/>
        </p:nvSpPr>
        <p:spPr>
          <a:xfrm>
            <a:off x="3136391" y="3822191"/>
            <a:ext cx="228600" cy="310896"/>
          </a:xfrm>
          <a:prstGeom prst="rightArrow">
            <a:avLst/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29">
            <a:extLst>
              <a:ext uri="{FF2B5EF4-FFF2-40B4-BE49-F238E27FC236}">
                <a16:creationId xmlns:a16="http://schemas.microsoft.com/office/drawing/2014/main" id="{500DB928-6337-D194-9AC9-B83778A68B79}"/>
              </a:ext>
            </a:extLst>
          </p:cNvPr>
          <p:cNvSpPr/>
          <p:nvPr/>
        </p:nvSpPr>
        <p:spPr>
          <a:xfrm>
            <a:off x="3383280" y="35204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9A7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Reforzamiento</a:t>
            </a:r>
          </a:p>
        </p:txBody>
      </p:sp>
      <p:sp>
        <p:nvSpPr>
          <p:cNvPr id="16" name="Right Arrow 30">
            <a:extLst>
              <a:ext uri="{FF2B5EF4-FFF2-40B4-BE49-F238E27FC236}">
                <a16:creationId xmlns:a16="http://schemas.microsoft.com/office/drawing/2014/main" id="{41327433-7D2D-656A-1005-D08EADC0B242}"/>
              </a:ext>
            </a:extLst>
          </p:cNvPr>
          <p:cNvSpPr/>
          <p:nvPr/>
        </p:nvSpPr>
        <p:spPr>
          <a:xfrm>
            <a:off x="5788152" y="3822191"/>
            <a:ext cx="228600" cy="310896"/>
          </a:xfrm>
          <a:prstGeom prst="rightArrow">
            <a:avLst/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31">
            <a:extLst>
              <a:ext uri="{FF2B5EF4-FFF2-40B4-BE49-F238E27FC236}">
                <a16:creationId xmlns:a16="http://schemas.microsoft.com/office/drawing/2014/main" id="{13B989CE-8EF3-BE57-0493-642D81985DA0}"/>
              </a:ext>
            </a:extLst>
          </p:cNvPr>
          <p:cNvSpPr/>
          <p:nvPr/>
        </p:nvSpPr>
        <p:spPr>
          <a:xfrm>
            <a:off x="6035040" y="35204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9A7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Reprogramación por el ICOJT</a:t>
            </a:r>
          </a:p>
        </p:txBody>
      </p:sp>
      <p:sp>
        <p:nvSpPr>
          <p:cNvPr id="18" name="Right Arrow 32">
            <a:extLst>
              <a:ext uri="{FF2B5EF4-FFF2-40B4-BE49-F238E27FC236}">
                <a16:creationId xmlns:a16="http://schemas.microsoft.com/office/drawing/2014/main" id="{0D3FF324-CB35-688B-7BA7-3114960200C3}"/>
              </a:ext>
            </a:extLst>
          </p:cNvPr>
          <p:cNvSpPr/>
          <p:nvPr/>
        </p:nvSpPr>
        <p:spPr>
          <a:xfrm>
            <a:off x="8439912" y="3822191"/>
            <a:ext cx="228600" cy="310896"/>
          </a:xfrm>
          <a:prstGeom prst="rightArrow">
            <a:avLst/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33">
            <a:extLst>
              <a:ext uri="{FF2B5EF4-FFF2-40B4-BE49-F238E27FC236}">
                <a16:creationId xmlns:a16="http://schemas.microsoft.com/office/drawing/2014/main" id="{F7BFCEE8-6D56-A044-7B16-D86C0F7EB037}"/>
              </a:ext>
            </a:extLst>
          </p:cNvPr>
          <p:cNvSpPr/>
          <p:nvPr/>
        </p:nvSpPr>
        <p:spPr>
          <a:xfrm>
            <a:off x="8686800" y="35204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9A7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Nueva evaluación</a:t>
            </a:r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05EF59B3-4D15-4855-013B-CF38FAA094A2}"/>
              </a:ext>
            </a:extLst>
          </p:cNvPr>
          <p:cNvSpPr txBox="1"/>
          <p:nvPr/>
        </p:nvSpPr>
        <p:spPr>
          <a:xfrm>
            <a:off x="731520" y="4910168"/>
            <a:ext cx="10424160" cy="124517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Interrupción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externa: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queda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pendiente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no es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falta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competencia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  <a:p>
            <a:pPr marL="347472" indent="-347472" algn="l">
              <a:lnSpc>
                <a:spcPct val="100000"/>
              </a:lnSpc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Hasta </a:t>
            </a:r>
            <a:r>
              <a:rPr sz="18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2 </a:t>
            </a:r>
            <a:r>
              <a:rPr sz="18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reprogramaciones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adicionales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causa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justificada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21" name="TextBox 16">
            <a:extLst>
              <a:ext uri="{FF2B5EF4-FFF2-40B4-BE49-F238E27FC236}">
                <a16:creationId xmlns:a16="http://schemas.microsoft.com/office/drawing/2014/main" id="{4EDEF350-C6FA-82AF-E0F8-A045DF8E7BE7}"/>
              </a:ext>
            </a:extLst>
          </p:cNvPr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3.4.5 g), 3.4.8 y 4.2.5.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998C54F6-B797-D919-A377-F8EB55F15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 dirty="0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¿Y </a:t>
            </a:r>
            <a:r>
              <a:rPr sz="28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si</a:t>
            </a:r>
            <a:r>
              <a:rPr sz="28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el </a:t>
            </a:r>
            <a:r>
              <a:rPr sz="28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resultado</a:t>
            </a:r>
            <a:r>
              <a:rPr sz="28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no es </a:t>
            </a:r>
            <a:r>
              <a:rPr sz="28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satisfactorio</a:t>
            </a:r>
            <a:r>
              <a:rPr sz="28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014977499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97"/>
                            </p:stCondLst>
                            <p:childTnLst>
                              <p:par>
                                <p:cTn id="1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89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636"/>
                            </p:stCondLst>
                            <p:childTnLst>
                              <p:par>
                                <p:cTn id="2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1"/>
                            </p:stCondLst>
                            <p:childTnLst>
                              <p:par>
                                <p:cTn id="3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398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790"/>
                            </p:stCondLst>
                            <p:childTnLst>
                              <p:par>
                                <p:cTn id="4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3137"/>
                            </p:stCondLst>
                            <p:childTnLst>
                              <p:par>
                                <p:cTn id="4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402"/>
                            </p:stCondLst>
                            <p:childTnLst>
                              <p:par>
                                <p:cTn id="5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767"/>
                            </p:stCondLst>
                            <p:childTnLst>
                              <p:par>
                                <p:cTn id="5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4164"/>
                            </p:stCondLst>
                            <p:childTnLst>
                              <p:par>
                                <p:cTn id="6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556"/>
                            </p:stCondLst>
                            <p:childTnLst>
                              <p:par>
                                <p:cTn id="6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4953"/>
                            </p:stCondLst>
                            <p:childTnLst>
                              <p:par>
                                <p:cTn id="7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5345"/>
                            </p:stCondLst>
                            <p:childTnLst>
                              <p:par>
                                <p:cTn id="7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742"/>
                            </p:stCondLst>
                            <p:childTnLst>
                              <p:par>
                                <p:cTn id="8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6134"/>
                            </p:stCondLst>
                            <p:childTnLst>
                              <p:par>
                                <p:cTn id="8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6631"/>
                            </p:stCondLst>
                            <p:childTnLst>
                              <p:par>
                                <p:cTn id="9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7106"/>
                            </p:stCondLst>
                            <p:childTnLst>
                              <p:par>
                                <p:cTn id="9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7" grpId="0" animBg="1"/>
      <p:bldP spid="8" grpId="0" animBg="1"/>
      <p:bldP spid="12" grpId="0" animBg="1"/>
      <p:bldP spid="13" grpId="0" animBg="1"/>
      <p:bldP spid="15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Alcance de tu aprobación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Cuando apruebas un nivel, la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aprobación técnica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tu instructor identifica exactamente lo que demostraste: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4937760" cy="502920"/>
          </a:xfrm>
          <a:prstGeom prst="roundRect">
            <a:avLst>
              <a:gd name="adj" fmla="val 12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Tu aprobación identifica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71800"/>
            <a:ext cx="4937760" cy="566928"/>
          </a:xfrm>
          <a:prstGeom prst="roundRect">
            <a:avLst>
              <a:gd name="adj" fmla="val 12000"/>
            </a:avLst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tarea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630168"/>
            <a:ext cx="4937760" cy="566928"/>
          </a:xfrm>
          <a:prstGeom prst="roundRect">
            <a:avLst>
              <a:gd name="adj" fmla="val 12000"/>
            </a:avLst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nivel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88536"/>
            <a:ext cx="4937760" cy="566928"/>
          </a:xfrm>
          <a:prstGeom prst="roundRect">
            <a:avLst>
              <a:gd name="adj" fmla="val 12000"/>
            </a:avLst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Las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subtareas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demostradas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46904"/>
            <a:ext cx="4937760" cy="566928"/>
          </a:xfrm>
          <a:prstGeom prst="roundRect">
            <a:avLst>
              <a:gd name="adj" fmla="val 12000"/>
            </a:avLst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Las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condiciones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en que lo hiciste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377440"/>
            <a:ext cx="5120640" cy="502920"/>
          </a:xfrm>
          <a:prstGeom prst="roundRect">
            <a:avLst>
              <a:gd name="adj" fmla="val 12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Pero 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971800"/>
            <a:ext cx="5120640" cy="786384"/>
          </a:xfrm>
          <a:prstGeom prst="roundRect">
            <a:avLst>
              <a:gd name="adj" fmla="val 12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Acredita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toda tu especialidad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849624"/>
            <a:ext cx="5120640" cy="786384"/>
          </a:xfrm>
          <a:prstGeom prst="roundRect">
            <a:avLst>
              <a:gd name="adj" fmla="val 12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Te designa como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727448"/>
            <a:ext cx="5120640" cy="786384"/>
          </a:xfrm>
          <a:prstGeom prst="roundRect">
            <a:avLst>
              <a:gd name="adj" fmla="val 12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Te autoriza por sí sola a ejercer funciones de forma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autónoma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669280"/>
            <a:ext cx="1010412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desempeño autónomo lo asigna la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autoridad competente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solo dentro del alcance que completaste.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4.2.6 y apartado de Definiciones.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512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209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821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Entrenamiento previo: convalidación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35161"/>
            <a:ext cx="5029200" cy="581081"/>
          </a:xfrm>
          <a:prstGeom prst="roundRect">
            <a:avLst>
              <a:gd name="adj" fmla="val 1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Modalidad 1: Formato OJT anterior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16242"/>
            <a:ext cx="5029200" cy="1577220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Se examina el entrenamiento ya documentado, con sus firmas y evidencias originales.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835161"/>
            <a:ext cx="5029200" cy="581081"/>
          </a:xfrm>
          <a:prstGeom prst="roundRect">
            <a:avLst>
              <a:gd name="adj" fmla="val 1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Modalidad 2: Evidencia documental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2416242"/>
            <a:ext cx="5029200" cy="1577220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Se examinan actividades previas por tarea, nivel, evento y fecha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42497"/>
            <a:ext cx="10424160" cy="15772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</a:t>
            </a:r>
            <a:r>
              <a:rPr sz="22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antigüedad</a:t>
            </a: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por sí sola no acredita.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Sin sustento: se registra la brecha y se programa el entrenamiento.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4.4 y 4.5 (P-DCIA-CPEPT-02-R04).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7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84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959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Convalidación paso a paso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 ya realizaste entrenamiento antes del formato vigente, este es el camino para que se reconozca:</a:t>
            </a:r>
          </a:p>
        </p:txBody>
      </p:sp>
      <p:sp>
        <p:nvSpPr>
          <p:cNvPr id="4" name="Oval 3"/>
          <p:cNvSpPr/>
          <p:nvPr/>
        </p:nvSpPr>
        <p:spPr>
          <a:xfrm>
            <a:off x="1444752" y="2286000"/>
            <a:ext cx="457200" cy="45720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834640"/>
            <a:ext cx="1828800" cy="45720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 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91840"/>
            <a:ext cx="1828800" cy="13258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Entrega el formato anterior o la evidencia documental.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87752" y="3566160"/>
            <a:ext cx="219456" cy="310896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547872" y="2286000"/>
            <a:ext cx="457200" cy="45720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39" y="2834640"/>
            <a:ext cx="1828800" cy="457200"/>
          </a:xfrm>
          <a:prstGeom prst="roundRect">
            <a:avLst>
              <a:gd name="adj" fmla="val 12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ICOJT / IOJT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39" y="3291840"/>
            <a:ext cx="1828800" cy="13258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 que cumpla los criterios por tarea y nivel.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690871" y="3566160"/>
            <a:ext cx="219456" cy="310896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650992" y="2286000"/>
            <a:ext cx="457200" cy="45720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37759" y="2834640"/>
            <a:ext cx="1828800" cy="45720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ICOJT / IOJT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59" y="3291840"/>
            <a:ext cx="1828800" cy="13258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 procede, lo asienta en el formato vigente con la leyenda «convalidación».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793992" y="3566160"/>
            <a:ext cx="219456" cy="310896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754111" y="2286000"/>
            <a:ext cx="457200" cy="45720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79" y="2834640"/>
            <a:ext cx="1828800" cy="457200"/>
          </a:xfrm>
          <a:prstGeom prst="roundRect">
            <a:avLst>
              <a:gd name="adj" fmla="val 12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Titular del área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40879" y="3291840"/>
            <a:ext cx="1828800" cy="13258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Rubrica, firma y autoriza el formato convalidado.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97111" y="3566160"/>
            <a:ext cx="219456" cy="310896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857232" y="2286000"/>
            <a:ext cx="457200" cy="45720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2834640"/>
            <a:ext cx="1828800" cy="45720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 AP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3291840"/>
            <a:ext cx="1828800" cy="13258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Resguarda el original del formato autorizado.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800600"/>
            <a:ext cx="10424160" cy="548640"/>
          </a:xfrm>
          <a:prstGeom prst="roundRect">
            <a:avLst>
              <a:gd name="adj" fmla="val 15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A3352C"/>
                </a:solidFill>
                <a:latin typeface="Montserrat Medium"/>
                <a:ea typeface="Montserrat Medium"/>
                <a:cs typeface="Montserrat Medium"/>
              </a:rPr>
              <a:t>Si no procede: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se devuelven los documentos y se programa el entrenamiento pendiente (desde el Nivel 1 si no se acredita ninguno).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1560" y="5486400"/>
            <a:ext cx="10104120" cy="56692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fecha del dictamen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no sustituye la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fecha real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entrenamiento: ambas se conservan por separado.</a:t>
            </a:r>
          </a:p>
        </p:txBody>
      </p:sp>
      <p:sp>
        <p:nvSpPr>
          <p:cNvPr id="25" name="Oval 24"/>
          <p:cNvSpPr/>
          <p:nvPr/>
        </p:nvSpPr>
        <p:spPr>
          <a:xfrm>
            <a:off x="731520" y="5486400"/>
            <a:ext cx="566928" cy="56692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4.4 y 4.5 (P-DCIA-CPEPT-02-R04).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25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422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14"/>
                            </p:stCondLst>
                            <p:childTnLst>
                              <p:par>
                                <p:cTn id="2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211"/>
                            </p:stCondLst>
                            <p:childTnLst>
                              <p:par>
                                <p:cTn id="4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603"/>
                            </p:stCondLst>
                            <p:childTnLst>
                              <p:par>
                                <p:cTn id="4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000"/>
                            </p:stCondLst>
                            <p:childTnLst>
                              <p:par>
                                <p:cTn id="6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3392"/>
                            </p:stCondLst>
                            <p:childTnLst>
                              <p:par>
                                <p:cTn id="6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3789"/>
                            </p:stCondLst>
                            <p:childTnLst>
                              <p:par>
                                <p:cTn id="8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4181"/>
                            </p:stCondLst>
                            <p:childTnLst>
                              <p:par>
                                <p:cTn id="8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4678"/>
                            </p:stCondLst>
                            <p:childTnLst>
                              <p:par>
                                <p:cTn id="10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5403"/>
                            </p:stCondLst>
                            <p:childTnLst>
                              <p:par>
                                <p:cTn id="10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1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4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6015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¿Qué evidencia sirve para convalidar?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cada nivel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que quieras convalidar necesitas una evidencia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específica, suficiente y trazable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evento.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5120640" cy="502920"/>
          </a:xfrm>
          <a:prstGeom prst="roundRect">
            <a:avLst>
              <a:gd name="adj" fmla="val 12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Sí sirve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71800"/>
            <a:ext cx="5120640" cy="841248"/>
          </a:xfrm>
          <a:prstGeom prst="roundRect">
            <a:avLst>
              <a:gd name="adj" fmla="val 10000"/>
            </a:avLst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Formato OJT anterior completo: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nombres, firmas, iniciales y fecha por tarea y nivel.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04487"/>
            <a:ext cx="5120640" cy="841248"/>
          </a:xfrm>
          <a:prstGeom prst="roundRect">
            <a:avLst>
              <a:gd name="adj" fmla="val 10000"/>
            </a:avLst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Documentos oficiales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donde conste tu participación: acta de verificación, acta circunstanciada, plan de vuelo, entre otros.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837176"/>
            <a:ext cx="5120640" cy="841248"/>
          </a:xfrm>
          <a:prstGeom prst="roundRect">
            <a:avLst>
              <a:gd name="adj" fmla="val 10000"/>
            </a:avLst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fecha, nombre y firma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IVA AP y la tarea claramente identificable.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377440"/>
            <a:ext cx="5120640" cy="502920"/>
          </a:xfrm>
          <a:prstGeom prst="roundRect">
            <a:avLst>
              <a:gd name="adj" fmla="val 12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Por sí solo no basta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971800"/>
            <a:ext cx="5120640" cy="841248"/>
          </a:xfrm>
          <a:prstGeom prst="roundRect">
            <a:avLst>
              <a:gd name="adj" fmla="val 10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Oficio de comisión: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solo notifica que fuiste comisionado.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3904487"/>
            <a:ext cx="5120640" cy="841248"/>
          </a:xfrm>
          <a:prstGeom prst="roundRect">
            <a:avLst>
              <a:gd name="adj" fmla="val 10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Constancia de curso: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solo acredita la instrucción teórica.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837176"/>
            <a:ext cx="5120640" cy="841248"/>
          </a:xfrm>
          <a:prstGeom prst="roundRect">
            <a:avLst>
              <a:gd name="adj" fmla="val 10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Antigüedad: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experiencia debe estar documentada por tarea y nivel.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5806440"/>
            <a:ext cx="10104120" cy="47548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evidencia de un evento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sirve para otro nivel ni para otra tarea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5806440"/>
            <a:ext cx="475488" cy="47548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4.4 y 4.5.7.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12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209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821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2.3 ESPECIALIDADES TÉCNICAS DEL PERSONAL IVA (24 ESPECIALIDADES)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Especialidades técnicas del IVA (1 de 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10643"/>
            <a:ext cx="5029200" cy="415058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lang="es-MX" sz="160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</a:t>
            </a:r>
            <a:r>
              <a:rPr sz="16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icencias</a:t>
            </a:r>
            <a:endParaRPr sz="1600" b="0" i="0" u="none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31520" y="2192110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2192110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39" y="2192110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Licencias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23385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2723385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39" y="2723385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Escuelas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54659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3254659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39" y="3254659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Exámenes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85934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88720" y="3785934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IVA-CL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34639" y="3785934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Competencia Lingüística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317208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88720" y="4317208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34639" y="4317208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Médico Evaluador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1710643"/>
            <a:ext cx="5029200" cy="415058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Operaciones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0" y="2192110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2192110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IVA-OT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59" y="2192110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Operaciones Tierra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2723385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2723385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IVA-OMP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59" y="2723385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Mercancías Peligrosas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0" y="3254659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3254659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IVA-OV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59" y="3254659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Operaciones Vuelo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35040" y="3785934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3785934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IVA-OC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59" y="3785934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Operaciones Cabina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6355080"/>
            <a:ext cx="8686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4.3 (conforme a la Carta de Política vigente). Agrupación didáctica.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51560" y="5120640"/>
            <a:ext cx="10104120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formato OJT y tus bitácoras corresponden 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tu especialidad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cada una tiene su propio catálogo de tareas en 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Anexo 1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MEPT.</a:t>
            </a:r>
          </a:p>
        </p:txBody>
      </p:sp>
      <p:sp>
        <p:nvSpPr>
          <p:cNvPr id="34" name="Oval 33"/>
          <p:cNvSpPr/>
          <p:nvPr/>
        </p:nvSpPr>
        <p:spPr>
          <a:xfrm>
            <a:off x="731520" y="5120640"/>
            <a:ext cx="685800" cy="68580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987"/>
                            </p:stCondLst>
                            <p:childTnLst>
                              <p:par>
                                <p:cTn id="7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1684"/>
                            </p:stCondLst>
                            <p:childTnLst>
                              <p:par>
                                <p:cTn id="1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7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8" dur="7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2296"/>
                            </p:stCondLst>
                            <p:childTnLst>
                              <p:par>
                                <p:cTn id="1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2.3 ESPECIALIDADES TÉCNICAS DEL PERSONAL IVA (24 ESPECIALIDADES)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Especialidades técnicas del IVA (2 de 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10643"/>
            <a:ext cx="5029200" cy="415058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Aeronavegabilidad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2110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2192110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39" y="2192110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Aeronavegabilidad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23385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2723385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39" y="2723385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Ingeniería y Producción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710643"/>
            <a:ext cx="5029200" cy="415058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Navegación aérea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2192110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192110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IVA-AIS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192110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Información Aeronáutica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2723385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13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723385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IVA-CNS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59" y="2723385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Comunicaciones, Navegación y Vigilancia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3254659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14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3254659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IVA-ATS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3254659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Tránsito Aéreo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0" y="3785934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15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3785934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IVA-PANS-OPS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59" y="3785934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Diseño de Procedimientos de Vuelo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4317208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4317208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IVA-MET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59" y="4317208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Meteorología Aeronáutica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0" y="4848482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17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4848482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IVA-CARTAS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59" y="4848482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Cartografía Aeronáutica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355080"/>
            <a:ext cx="8686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4.3 (conforme a la Carta de Política vigente). Agrupación didáctica.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1560" y="5440680"/>
            <a:ext cx="10104120" cy="65836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numeración y las claves son las del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numeral 4.3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MEPT; la agrupación por áreas es solo para facilitar tu estudio.</a:t>
            </a:r>
          </a:p>
        </p:txBody>
      </p:sp>
      <p:sp>
        <p:nvSpPr>
          <p:cNvPr id="31" name="Oval 30"/>
          <p:cNvSpPr/>
          <p:nvPr/>
        </p:nvSpPr>
        <p:spPr>
          <a:xfrm>
            <a:off x="731520" y="5440680"/>
            <a:ext cx="658368" cy="65836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987"/>
                            </p:stCondLst>
                            <p:childTnLst>
                              <p:par>
                                <p:cTn id="3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1684"/>
                            </p:stCondLst>
                            <p:childTnLst>
                              <p:par>
                                <p:cTn id="1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7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296"/>
                            </p:stCondLst>
                            <p:childTnLst>
                              <p:par>
                                <p:cTn id="1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2.3 ESPECIALIDADES TÉCNICAS DEL PERSONAL IVA (24 ESPECIALIDADES)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Especialidades técnicas del IVA (3 de 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10643"/>
            <a:ext cx="5029200" cy="415058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Aeródromos y seguridad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2110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2192110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IVA-AE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39" y="2192110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Aeródromos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23385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2723385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IVA-AVSEC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39" y="2723385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Seguridad de la Aviación Civil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54659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3254659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IVA-SMS/SSP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39" y="3254659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Sistemas de Gestión de Seguridad Operacional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1710643"/>
            <a:ext cx="5029200" cy="415058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2192110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21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192110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IIFTA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59" y="2192110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de Formación Técnica Aeronáutica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2723385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22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2723385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IIOJT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2723385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del OJT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951957"/>
            <a:ext cx="5029200" cy="415058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Jurídico y económico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433424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23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88720" y="4433424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IV-JL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4639" y="4433424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Jurídico Legal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964699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88720" y="4964699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IV-TTA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834639" y="4964699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Tarifas, Competencia y Regulación Económica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4.3 (conforme a la Carta de Política vigente). Agrupación didáctica.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59" y="3429000"/>
            <a:ext cx="4846320" cy="14630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Las especialidades de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Accidentes e Incidentes (AIG)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Búsqueda y Salvamento (SAR)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se atienden a solicitud de la DAAIA de la SICT. Una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nueva especialidad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se solicita a la Dirección del CIAAC.</a:t>
            </a:r>
          </a:p>
        </p:txBody>
      </p:sp>
      <p:sp>
        <p:nvSpPr>
          <p:cNvPr id="29" name="Oval 28"/>
          <p:cNvSpPr/>
          <p:nvPr/>
        </p:nvSpPr>
        <p:spPr>
          <a:xfrm>
            <a:off x="5989320" y="3771900"/>
            <a:ext cx="777240" cy="7772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987"/>
                            </p:stCondLst>
                            <p:childTnLst>
                              <p:par>
                                <p:cTn id="4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534"/>
                            </p:stCondLst>
                            <p:childTnLst>
                              <p:par>
                                <p:cTn id="7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2259"/>
                            </p:stCondLst>
                            <p:childTnLst>
                              <p:par>
                                <p:cTn id="10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6" dur="7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9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2871"/>
                            </p:stCondLst>
                            <p:childTnLst>
                              <p:par>
                                <p:cTn id="1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2.4 DESIGNACIÓN DE INSTRUCTORES OJT Y CRITERIOS DE SELECCIÓN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¿Quién designa a las figuras OJT?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69137"/>
            <a:ext cx="10424160" cy="8301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titulares de las Direcciones Ejecutivas, de Área y Comandancias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(AICM, AIFA y Regionales), a solicitud del CIAAC por medio de la CPEPT.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706783"/>
            <a:ext cx="2468880" cy="581081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ICOJT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87864"/>
            <a:ext cx="2468880" cy="232432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Uno por Dirección de área. Nivel de Enlace a Subdirector. ≥ 1 año en el programa OJT.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2706783"/>
            <a:ext cx="2468880" cy="581081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ICOJT-S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3287864"/>
            <a:ext cx="2468880" cy="232432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Suplente: apoya al ICOJT en sus ausencias.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706783"/>
            <a:ext cx="2468880" cy="581081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IPOJT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287864"/>
            <a:ext cx="2468880" cy="232432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Uno o más, según las necesidades del área.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2706783"/>
            <a:ext cx="2468880" cy="581081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IOJT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3287864"/>
            <a:ext cx="2468880" cy="232432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Uno o más, según las necesidades del área.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55080"/>
            <a:ext cx="8686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4.6.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669280"/>
            <a:ext cx="10104120" cy="56692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 titulares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designan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sus instructores; la CPEPT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valida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que cada perfil cumpla los criterios del MEPT.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5669280"/>
            <a:ext cx="566928" cy="56692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2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979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446"/>
                            </p:stCondLst>
                            <p:childTnLst>
                              <p:par>
                                <p:cTn id="3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143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755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2.4 DESIGNACIÓN DE INSTRUCTORES OJT Y CRITERIOS DE SELECCIÓN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Procedimiento de designación</a:t>
            </a:r>
          </a:p>
        </p:txBody>
      </p:sp>
      <p:sp>
        <p:nvSpPr>
          <p:cNvPr id="3" name="Oval 2"/>
          <p:cNvSpPr/>
          <p:nvPr/>
        </p:nvSpPr>
        <p:spPr>
          <a:xfrm>
            <a:off x="1645920" y="1835161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16242"/>
            <a:ext cx="23774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CPEPT solicita la designación</a:t>
            </a:r>
          </a:p>
        </p:txBody>
      </p:sp>
      <p:sp>
        <p:nvSpPr>
          <p:cNvPr id="5" name="Oval 4"/>
          <p:cNvSpPr/>
          <p:nvPr/>
        </p:nvSpPr>
        <p:spPr>
          <a:xfrm>
            <a:off x="4297680" y="1835161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2416242"/>
            <a:ext cx="23774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área propone por oficio</a:t>
            </a:r>
          </a:p>
        </p:txBody>
      </p:sp>
      <p:sp>
        <p:nvSpPr>
          <p:cNvPr id="7" name="Oval 6"/>
          <p:cNvSpPr/>
          <p:nvPr/>
        </p:nvSpPr>
        <p:spPr>
          <a:xfrm>
            <a:off x="6949440" y="1835161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416242"/>
            <a:ext cx="23774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CPEPT revisa el expediente</a:t>
            </a:r>
          </a:p>
        </p:txBody>
      </p:sp>
      <p:sp>
        <p:nvSpPr>
          <p:cNvPr id="9" name="Oval 8"/>
          <p:cNvSpPr/>
          <p:nvPr/>
        </p:nvSpPr>
        <p:spPr>
          <a:xfrm>
            <a:off x="9601200" y="1835161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2416242"/>
            <a:ext cx="23774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Coord. de Programas corrobora datos</a:t>
            </a:r>
          </a:p>
        </p:txBody>
      </p:sp>
      <p:sp>
        <p:nvSpPr>
          <p:cNvPr id="11" name="Oval 10"/>
          <p:cNvSpPr/>
          <p:nvPr/>
        </p:nvSpPr>
        <p:spPr>
          <a:xfrm>
            <a:off x="1645920" y="3619909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00992"/>
            <a:ext cx="2377440" cy="996139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CPEPT emite oficio de aprobación</a:t>
            </a:r>
          </a:p>
        </p:txBody>
      </p:sp>
      <p:sp>
        <p:nvSpPr>
          <p:cNvPr id="13" name="Oval 12"/>
          <p:cNvSpPr/>
          <p:nvPr/>
        </p:nvSpPr>
        <p:spPr>
          <a:xfrm>
            <a:off x="4297680" y="3619909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4200992"/>
            <a:ext cx="23774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área notifica al IVA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0" y="3619909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4200992"/>
            <a:ext cx="23774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IVA acusa de recibo</a:t>
            </a:r>
          </a:p>
        </p:txBody>
      </p:sp>
      <p:sp>
        <p:nvSpPr>
          <p:cNvPr id="17" name="Oval 16"/>
          <p:cNvSpPr/>
          <p:nvPr/>
        </p:nvSpPr>
        <p:spPr>
          <a:xfrm>
            <a:off x="9601200" y="3619909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200992"/>
            <a:ext cx="23774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Acuse al expediente e informe trimestral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487672"/>
            <a:ext cx="1042416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Si hay inconsistencias en el perfil, la CPEPT emite oficio con observaciones.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4.7 (P-DCIA-CPEPT-03-R04).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7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921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388"/>
                            </p:stCondLst>
                            <p:childTnLst>
                              <p:par>
                                <p:cTn id="4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855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322"/>
                            </p:stCondLst>
                            <p:childTnLst>
                              <p:par>
                                <p:cTn id="5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3789"/>
                            </p:stCondLst>
                            <p:childTnLst>
                              <p:par>
                                <p:cTn id="6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4286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4761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2.4 DESIGNACIÓN DE INSTRUCTORES OJT Y CRITERIOS DE SELECCIÓN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Criterios para seleccionar instructores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52149"/>
            <a:ext cx="502920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Técnicos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33229"/>
            <a:ext cx="5029200" cy="73050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Curso de Instructor OJT aprobado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163346"/>
            <a:ext cx="5029200" cy="73050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Curso básico o recurrente de la especialidad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93463"/>
            <a:ext cx="5029200" cy="73050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5 años en la especialidad o 1 año continuo en la actividad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823579"/>
            <a:ext cx="5029200" cy="73050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Niveles OJT acreditados en las tareas que impartirá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752149"/>
            <a:ext cx="5029200" cy="498069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Actitudinales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333229"/>
            <a:ext cx="5029200" cy="73050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Comunicación, escucha y paciencia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3163346"/>
            <a:ext cx="5029200" cy="73050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Interés en la capacitación OJT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993463"/>
            <a:ext cx="5029200" cy="73050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Respeto por sus compañeros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823579"/>
            <a:ext cx="5029200" cy="73050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Disposición a seguir las directrices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8686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4.8.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1560" y="5623560"/>
            <a:ext cx="10104120" cy="6217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antigüedad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sustituye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los demás requisitos: también debes haber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acreditado los niveles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las tareas que impartirás.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5623560"/>
            <a:ext cx="621792" cy="62179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87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684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296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2.4 DESIGNACIÓN DE INSTRUCTORES OJT Y CRITERIOS DE SELECCIÓN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Alcance de la designación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designación indica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qué tareas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puede instruir y evaluar cada instructor. Ese alcance se revisa cuando hay: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3200400" cy="749808"/>
          </a:xfrm>
          <a:prstGeom prst="roundRect">
            <a:avLst>
              <a:gd name="adj" fmla="val 12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Cambios de procedimientos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46120"/>
            <a:ext cx="3200400" cy="749808"/>
          </a:xfrm>
          <a:prstGeom prst="roundRect">
            <a:avLst>
              <a:gd name="adj" fmla="val 12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Inactividad que afecte la competencia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3200400" cy="749808"/>
          </a:xfrm>
          <a:prstGeom prst="roundRect">
            <a:avLst>
              <a:gd name="adj" fmla="val 12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Resultados insuficientes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69080" y="3063240"/>
            <a:ext cx="548640" cy="45720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754880" y="2514600"/>
            <a:ext cx="2926080" cy="50292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Revisión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3017520"/>
            <a:ext cx="2926080" cy="150876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ICOJT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con apoyo del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IPOJT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revisa el alcance del instructor.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818120" y="3063240"/>
            <a:ext cx="548640" cy="45720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503920" y="2514600"/>
            <a:ext cx="2651760" cy="502920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Resultado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0" y="3017520"/>
            <a:ext cx="2651760" cy="150876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Reforzamiento o reevaluación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antes de continuar con esas tareas.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120640"/>
            <a:ext cx="10104120" cy="8229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 hay un impedimento para evaluar con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imparcialidad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se comunica para asignar otro evaluador. Tener acceso al Módulo OJT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equivale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estar designado.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5143500"/>
            <a:ext cx="777240" cy="7772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4.8 y 3.4.2 n).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25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422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14"/>
                            </p:stCondLst>
                            <p:childTnLst>
                              <p:par>
                                <p:cTn id="2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211"/>
                            </p:stCondLst>
                            <p:childTnLst>
                              <p:par>
                                <p:cTn id="4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603"/>
                            </p:stCondLst>
                            <p:childTnLst>
                              <p:par>
                                <p:cTn id="4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33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912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pPr algn="ctr"/>
            <a:r>
              <a:rPr sz="37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¡Gracias!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14915</TotalTime>
  <Words>2502</Words>
  <Application>Microsoft Office PowerPoint</Application>
  <PresentationFormat>Panorámica</PresentationFormat>
  <Paragraphs>399</Paragraphs>
  <Slides>25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25</vt:i4>
      </vt:variant>
    </vt:vector>
  </HeadingPairs>
  <TitlesOfParts>
    <vt:vector size="33" baseType="lpstr">
      <vt:lpstr>Aptos</vt:lpstr>
      <vt:lpstr>Aptos Display</vt:lpstr>
      <vt:lpstr>Arial</vt:lpstr>
      <vt:lpstr>Montserrat</vt:lpstr>
      <vt:lpstr>Montserrat Medium</vt:lpstr>
      <vt:lpstr>Montserrat SemiBold</vt:lpstr>
      <vt:lpstr>Noto Sans</vt:lpstr>
      <vt:lpstr>Tema de Office</vt:lpstr>
      <vt:lpstr>Módulo 2 Requisitos de implementación del Programa OJT Actualización del Manual de Entrenamiento en el Puesto de Trabajo</vt:lpstr>
      <vt:lpstr>ACTIVIDAD DE INICIO Para iniciar, reflexiona</vt:lpstr>
      <vt:lpstr>2.1 REQUISITOS GENERALES PARA LLEVAR A CABO EL ENTRENAMIENTO OJT Requisitos para realizar el OJT</vt:lpstr>
      <vt:lpstr>2.1 REQUISITOS GENERALES PARA LLEVAR A CABO EL ENTRENAMIENTO OJT Lista de verificación antes de iniciar</vt:lpstr>
      <vt:lpstr>2.2 NIVELES DE ENTRENAMIENTO OJT: NIVEL 1, NIVEL 2 Y NIVEL 3, Y CONVALIDACIÓN Tres niveles progresivos por tarea</vt:lpstr>
      <vt:lpstr>2.2 NIVELES DE ENTRENAMIENTO OJT: NIVEL 1, NIVEL 2 Y NIVEL 3, Y CONVALIDACIÓN Nivel 1: Conocimiento aplicado</vt:lpstr>
      <vt:lpstr>2.2 NIVELES DE ENTRENAMIENTO OJT: NIVEL 1, NIVEL 2 Y NIVEL 3, Y CONVALIDACIÓN Nivel 2: Demostración</vt:lpstr>
      <vt:lpstr>2.2 NIVELES DE ENTRENAMIENTO OJT: NIVEL 1, NIVEL 2 Y NIVEL 3, Y CONVALIDACIÓN Nivel 3: Ejecución supervisada</vt:lpstr>
      <vt:lpstr>2.2 NIVELES DE ENTRENAMIENTO OJT: NIVEL 1, NIVEL 2 Y NIVEL 3, Y CONVALIDACIÓN Una tarea, tres eventos distintos</vt:lpstr>
      <vt:lpstr>2.2 NIVELES DE ENTRENAMIENTO OJT: NIVEL 1, NIVEL 2 Y NIVEL 3, Y CONVALIDACIÓN ¿Qué debe demostrar tu evidencia?</vt:lpstr>
      <vt:lpstr>2.2 NIVELES DE ENTRENAMIENTO OJT: NIVEL 1, NIVEL 2 Y NIVEL 3, Y CONVALIDACIÓN Lo que por sí solo no acredita un nivel</vt:lpstr>
      <vt:lpstr>2.2 NIVELES DE ENTRENAMIENTO OJT: NIVEL 1, NIVEL 2 Y NIVEL 3, Y CONVALIDACIÓN Situaciones especiales durante el evento</vt:lpstr>
      <vt:lpstr>2.2 NIVELES DE ENTRENAMIENTO OJT: NIVEL 1, NIVEL 2 Y NIVEL 3, Y CONVALIDACIÓN ¿Y si el resultado no es satisfactorio?</vt:lpstr>
      <vt:lpstr>2.2 NIVELES DE ENTRENAMIENTO OJT: NIVEL 1, NIVEL 2 Y NIVEL 3, Y CONVALIDACIÓN Alcance de tu aprobación</vt:lpstr>
      <vt:lpstr>2.2 NIVELES DE ENTRENAMIENTO OJT: NIVEL 1, NIVEL 2 Y NIVEL 3, Y CONVALIDACIÓN Entrenamiento previo: convalidación</vt:lpstr>
      <vt:lpstr>2.2 NIVELES DE ENTRENAMIENTO OJT: NIVEL 1, NIVEL 2 Y NIVEL 3, Y CONVALIDACIÓN Convalidación paso a paso</vt:lpstr>
      <vt:lpstr>2.2 NIVELES DE ENTRENAMIENTO OJT: NIVEL 1, NIVEL 2 Y NIVEL 3, Y CONVALIDACIÓN ¿Qué evidencia sirve para convalidar?</vt:lpstr>
      <vt:lpstr>2.3 ESPECIALIDADES TÉCNICAS DEL PERSONAL IVA (24 ESPECIALIDADES) Especialidades técnicas del IVA (1 de 3)</vt:lpstr>
      <vt:lpstr>2.3 ESPECIALIDADES TÉCNICAS DEL PERSONAL IVA (24 ESPECIALIDADES) Especialidades técnicas del IVA (2 de 3)</vt:lpstr>
      <vt:lpstr>2.3 ESPECIALIDADES TÉCNICAS DEL PERSONAL IVA (24 ESPECIALIDADES) Especialidades técnicas del IVA (3 de 3)</vt:lpstr>
      <vt:lpstr>2.4 DESIGNACIÓN DE INSTRUCTORES OJT Y CRITERIOS DE SELECCIÓN ¿Quién designa a las figuras OJT?</vt:lpstr>
      <vt:lpstr>2.4 DESIGNACIÓN DE INSTRUCTORES OJT Y CRITERIOS DE SELECCIÓN Procedimiento de designación</vt:lpstr>
      <vt:lpstr>2.4 DESIGNACIÓN DE INSTRUCTORES OJT Y CRITERIOS DE SELECCIÓN Criterios para seleccionar instructores</vt:lpstr>
      <vt:lpstr>2.4 DESIGNACIÓN DE INSTRUCTORES OJT Y CRITERIOS DE SELECCIÓN Alcance de la designación</vt:lpstr>
      <vt:lpstr>¡Gracias!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AVANZADO PARA EL INSPECTOR VERIFICADOR AERONÁUTICO DE INVESTIGACIÓN ADMINISTRATIVA Y SEGURIDAD AÉREA (IVA-IASA)</dc:title>
  <dc:creator>Ricardo Elias Delgado Villalobos</dc:creator>
  <cp:lastModifiedBy>Jose Manuel Figueroa Hernandez</cp:lastModifiedBy>
  <cp:revision>219</cp:revision>
  <dcterms:created xsi:type="dcterms:W3CDTF">2025-01-15T19:01:35Z</dcterms:created>
  <dcterms:modified xsi:type="dcterms:W3CDTF">2026-09-24T15:27:10Z</dcterms:modified>
</cp:coreProperties>
</file>