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3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92" r:id="rId10"/>
    <p:sldId id="293" r:id="rId11"/>
    <p:sldId id="294" r:id="rId12"/>
    <p:sldId id="295" r:id="rId13"/>
    <p:sldId id="291" r:id="rId14"/>
    <p:sldId id="296" r:id="rId15"/>
    <p:sldId id="277" r:id="rId16"/>
    <p:sldId id="297" r:id="rId17"/>
    <p:sldId id="298" r:id="rId18"/>
    <p:sldId id="278" r:id="rId19"/>
    <p:sldId id="279" r:id="rId20"/>
    <p:sldId id="280" r:id="rId21"/>
    <p:sldId id="281" r:id="rId22"/>
    <p:sldId id="282" r:id="rId23"/>
    <p:sldId id="283" r:id="rId24"/>
    <p:sldId id="299" r:id="rId25"/>
    <p:sldId id="290" r:id="rId2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9C16"/>
    <a:srgbClr val="156082"/>
    <a:srgbClr val="0B3041"/>
    <a:srgbClr val="CCCCFF"/>
    <a:srgbClr val="E4CDAC"/>
    <a:srgbClr val="7B95AF"/>
    <a:srgbClr val="003764"/>
    <a:srgbClr val="4E95D9"/>
    <a:srgbClr val="AEAEAE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30" autoAdjust="0"/>
    <p:restoredTop sz="94038" autoAdjust="0"/>
  </p:normalViewPr>
  <p:slideViewPr>
    <p:cSldViewPr snapToGrid="0">
      <p:cViewPr varScale="1">
        <p:scale>
          <a:sx n="65" d="100"/>
          <a:sy n="65" d="100"/>
        </p:scale>
        <p:origin x="8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nuel Figueroa Hernandez" userId="c23fd2b0-07fd-455e-80a2-756e0be2378e" providerId="ADAL" clId="{19EAFD33-AF50-43D6-BF52-FC06C69CD06D}"/>
    <pc:docChg chg="delSld modSld">
      <pc:chgData name="Jose Manuel Figueroa Hernandez" userId="c23fd2b0-07fd-455e-80a2-756e0be2378e" providerId="ADAL" clId="{19EAFD33-AF50-43D6-BF52-FC06C69CD06D}" dt="2026-09-23T22:15:07.545" v="14" actId="47"/>
      <pc:docMkLst>
        <pc:docMk/>
      </pc:docMkLst>
      <pc:sldChg chg="del">
        <pc:chgData name="Jose Manuel Figueroa Hernandez" userId="c23fd2b0-07fd-455e-80a2-756e0be2378e" providerId="ADAL" clId="{19EAFD33-AF50-43D6-BF52-FC06C69CD06D}" dt="2026-09-23T22:13:23.744" v="0" actId="47"/>
        <pc:sldMkLst>
          <pc:docMk/>
          <pc:sldMk cId="0" sldId="256"/>
        </pc:sldMkLst>
      </pc:sldChg>
      <pc:sldChg chg="del">
        <pc:chgData name="Jose Manuel Figueroa Hernandez" userId="c23fd2b0-07fd-455e-80a2-756e0be2378e" providerId="ADAL" clId="{19EAFD33-AF50-43D6-BF52-FC06C69CD06D}" dt="2026-09-23T22:13:24.796" v="1" actId="47"/>
        <pc:sldMkLst>
          <pc:docMk/>
          <pc:sldMk cId="0" sldId="257"/>
        </pc:sldMkLst>
      </pc:sldChg>
      <pc:sldChg chg="del">
        <pc:chgData name="Jose Manuel Figueroa Hernandez" userId="c23fd2b0-07fd-455e-80a2-756e0be2378e" providerId="ADAL" clId="{19EAFD33-AF50-43D6-BF52-FC06C69CD06D}" dt="2026-09-23T22:13:25.681" v="2" actId="47"/>
        <pc:sldMkLst>
          <pc:docMk/>
          <pc:sldMk cId="0" sldId="258"/>
        </pc:sldMkLst>
      </pc:sldChg>
      <pc:sldChg chg="del">
        <pc:chgData name="Jose Manuel Figueroa Hernandez" userId="c23fd2b0-07fd-455e-80a2-756e0be2378e" providerId="ADAL" clId="{19EAFD33-AF50-43D6-BF52-FC06C69CD06D}" dt="2026-09-23T22:13:27.921" v="3" actId="47"/>
        <pc:sldMkLst>
          <pc:docMk/>
          <pc:sldMk cId="0" sldId="259"/>
        </pc:sldMkLst>
      </pc:sldChg>
      <pc:sldChg chg="del">
        <pc:chgData name="Jose Manuel Figueroa Hernandez" userId="c23fd2b0-07fd-455e-80a2-756e0be2378e" providerId="ADAL" clId="{19EAFD33-AF50-43D6-BF52-FC06C69CD06D}" dt="2026-09-23T22:13:28.839" v="4" actId="47"/>
        <pc:sldMkLst>
          <pc:docMk/>
          <pc:sldMk cId="0" sldId="260"/>
        </pc:sldMkLst>
      </pc:sldChg>
      <pc:sldChg chg="del">
        <pc:chgData name="Jose Manuel Figueroa Hernandez" userId="c23fd2b0-07fd-455e-80a2-756e0be2378e" providerId="ADAL" clId="{19EAFD33-AF50-43D6-BF52-FC06C69CD06D}" dt="2026-09-23T22:13:29.764" v="5" actId="47"/>
        <pc:sldMkLst>
          <pc:docMk/>
          <pc:sldMk cId="0" sldId="261"/>
        </pc:sldMkLst>
      </pc:sldChg>
      <pc:sldChg chg="del">
        <pc:chgData name="Jose Manuel Figueroa Hernandez" userId="c23fd2b0-07fd-455e-80a2-756e0be2378e" providerId="ADAL" clId="{19EAFD33-AF50-43D6-BF52-FC06C69CD06D}" dt="2026-09-23T22:13:30.751" v="6" actId="47"/>
        <pc:sldMkLst>
          <pc:docMk/>
          <pc:sldMk cId="0" sldId="262"/>
        </pc:sldMkLst>
      </pc:sldChg>
      <pc:sldChg chg="modSp mod">
        <pc:chgData name="Jose Manuel Figueroa Hernandez" userId="c23fd2b0-07fd-455e-80a2-756e0be2378e" providerId="ADAL" clId="{19EAFD33-AF50-43D6-BF52-FC06C69CD06D}" dt="2026-09-23T22:14:18.880" v="9" actId="20577"/>
        <pc:sldMkLst>
          <pc:docMk/>
          <pc:sldMk cId="0" sldId="263"/>
        </pc:sldMkLst>
        <pc:spChg chg="mod">
          <ac:chgData name="Jose Manuel Figueroa Hernandez" userId="c23fd2b0-07fd-455e-80a2-756e0be2378e" providerId="ADAL" clId="{19EAFD33-AF50-43D6-BF52-FC06C69CD06D}" dt="2026-09-23T22:14:18.880" v="9" actId="20577"/>
          <ac:spMkLst>
            <pc:docMk/>
            <pc:sldMk cId="0" sldId="263"/>
            <ac:spMk id="2" creationId="{00000000-0000-0000-0000-000000000000}"/>
          </ac:spMkLst>
        </pc:spChg>
      </pc:sldChg>
      <pc:sldChg chg="del">
        <pc:chgData name="Jose Manuel Figueroa Hernandez" userId="c23fd2b0-07fd-455e-80a2-756e0be2378e" providerId="ADAL" clId="{19EAFD33-AF50-43D6-BF52-FC06C69CD06D}" dt="2026-09-23T22:14:35.506" v="10" actId="47"/>
        <pc:sldMkLst>
          <pc:docMk/>
          <pc:sldMk cId="0" sldId="264"/>
        </pc:sldMkLst>
      </pc:sldChg>
      <pc:sldChg chg="del">
        <pc:chgData name="Jose Manuel Figueroa Hernandez" userId="c23fd2b0-07fd-455e-80a2-756e0be2378e" providerId="ADAL" clId="{19EAFD33-AF50-43D6-BF52-FC06C69CD06D}" dt="2026-09-23T22:14:37.349" v="11" actId="47"/>
        <pc:sldMkLst>
          <pc:docMk/>
          <pc:sldMk cId="0" sldId="265"/>
        </pc:sldMkLst>
      </pc:sldChg>
      <pc:sldChg chg="del">
        <pc:chgData name="Jose Manuel Figueroa Hernandez" userId="c23fd2b0-07fd-455e-80a2-756e0be2378e" providerId="ADAL" clId="{19EAFD33-AF50-43D6-BF52-FC06C69CD06D}" dt="2026-09-23T22:15:07.545" v="14" actId="47"/>
        <pc:sldMkLst>
          <pc:docMk/>
          <pc:sldMk cId="0" sldId="287"/>
        </pc:sldMkLst>
      </pc:sldChg>
      <pc:sldChg chg="del">
        <pc:chgData name="Jose Manuel Figueroa Hernandez" userId="c23fd2b0-07fd-455e-80a2-756e0be2378e" providerId="ADAL" clId="{19EAFD33-AF50-43D6-BF52-FC06C69CD06D}" dt="2026-09-23T22:15:04.497" v="12" actId="47"/>
        <pc:sldMkLst>
          <pc:docMk/>
          <pc:sldMk cId="0" sldId="288"/>
        </pc:sldMkLst>
      </pc:sldChg>
      <pc:sldChg chg="del">
        <pc:chgData name="Jose Manuel Figueroa Hernandez" userId="c23fd2b0-07fd-455e-80a2-756e0be2378e" providerId="ADAL" clId="{19EAFD33-AF50-43D6-BF52-FC06C69CD06D}" dt="2026-09-23T22:15:06.062" v="13" actId="47"/>
        <pc:sldMkLst>
          <pc:docMk/>
          <pc:sldMk cId="0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3DD9-E4B5-4997-8BD0-CCD1D82A46CA}" type="datetimeFigureOut">
              <a:rPr lang="es-MX" smtClean="0"/>
              <a:t>23/09/2026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ECBA-0A42-439B-8BB1-7C8EF8AA356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49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783C967-2F54-09E4-AA30-298CA5655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BB59DC73-C653-C81C-D52E-0C69633752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4899638"/>
            <a:ext cx="7766977" cy="1072989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8FDDAFA-5E8D-9796-4199-96DDF49E0C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78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, fin de present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F8A2C392-B539-B6D8-7851-5351BEE0B7B2}"/>
              </a:ext>
            </a:extLst>
          </p:cNvPr>
          <p:cNvPicPr/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855720" y="1760220"/>
            <a:ext cx="8336280" cy="5097780"/>
          </a:xfrm>
          <a:prstGeom prst="rect">
            <a:avLst/>
          </a:prstGeom>
        </p:spPr>
      </p:pic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66826DB8-4520-87EC-C957-39CC5FEDDF23}"/>
              </a:ext>
            </a:extLst>
          </p:cNvPr>
          <p:cNvCxnSpPr>
            <a:cxnSpLocks/>
          </p:cNvCxnSpPr>
          <p:nvPr userDrawn="1"/>
        </p:nvCxnSpPr>
        <p:spPr>
          <a:xfrm>
            <a:off x="2610003" y="3429000"/>
            <a:ext cx="6968946" cy="0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14770139-593C-68D8-65A7-D32A6375D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619" y="1992089"/>
            <a:ext cx="7329714" cy="1436911"/>
          </a:xfrm>
        </p:spPr>
        <p:txBody>
          <a:bodyPr anchor="ctr">
            <a:noAutofit/>
          </a:bodyPr>
          <a:lstStyle>
            <a:lvl1pPr algn="ctr">
              <a:defRPr sz="5000"/>
            </a:lvl1pPr>
          </a:lstStyle>
          <a:p>
            <a:endParaRPr lang="es-MX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51A90F6-F9C8-C3DC-0206-47FA2B0E52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2210987" y="3772615"/>
            <a:ext cx="7766977" cy="10729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AADA8D9-AE01-0879-2B0F-D35E84BE75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5" t="2142" b="1"/>
          <a:stretch/>
        </p:blipFill>
        <p:spPr>
          <a:xfrm>
            <a:off x="-1525" y="0"/>
            <a:ext cx="12192000" cy="203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854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9625AD5-FD90-7ED4-A463-1E5CB822AA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240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BA6592-4655-ECA7-5E54-6A226619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65" b="4156"/>
          <a:stretch/>
        </p:blipFill>
        <p:spPr>
          <a:xfrm>
            <a:off x="0" y="0"/>
            <a:ext cx="12192000" cy="141604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98B7789-9006-E47A-926E-AC183E215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3486" y="0"/>
            <a:ext cx="8955314" cy="1325563"/>
          </a:xfrm>
        </p:spPr>
        <p:txBody>
          <a:bodyPr>
            <a:normAutofit/>
          </a:bodyPr>
          <a:lstStyle>
            <a:lvl1pPr algn="just"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MX" dirty="0"/>
          </a:p>
        </p:txBody>
      </p:sp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A6FA8314-6B07-608F-1066-971AAD27014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3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01879A4-A5B6-7D86-61D5-66ACD9BA94ED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31143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634EBF27-8651-00A8-AF4C-4E9644167F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BE94F59-AD2E-40B1-B026-72BC4AB241A4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82609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Descripción generada automáticamente">
            <a:extLst>
              <a:ext uri="{FF2B5EF4-FFF2-40B4-BE49-F238E27FC236}">
                <a16:creationId xmlns:a16="http://schemas.microsoft.com/office/drawing/2014/main" id="{A5A1F8B5-C537-E163-7F62-A12931C7E1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9621210-2A91-1552-D4F2-DF2766531006}"/>
              </a:ext>
            </a:extLst>
          </p:cNvPr>
          <p:cNvSpPr/>
          <p:nvPr userDrawn="1"/>
        </p:nvSpPr>
        <p:spPr>
          <a:xfrm>
            <a:off x="11829143" y="0"/>
            <a:ext cx="362857" cy="174691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4666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4" name="Imagen 3" descr="Patrón de fondo&#10;&#10;Descripción generada automáticamente">
            <a:extLst>
              <a:ext uri="{FF2B5EF4-FFF2-40B4-BE49-F238E27FC236}">
                <a16:creationId xmlns:a16="http://schemas.microsoft.com/office/drawing/2014/main" id="{CEFCEBEC-42C8-C58C-CD8C-206F903423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8146" y="6096500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02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532B9242-CE35-04A2-18AA-987DB5B40A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4" y="6082877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5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C42BCD7-7546-798B-E3E1-8978EB603A65}"/>
              </a:ext>
            </a:extLst>
          </p:cNvPr>
          <p:cNvSpPr/>
          <p:nvPr userDrawn="1"/>
        </p:nvSpPr>
        <p:spPr>
          <a:xfrm>
            <a:off x="11832609" y="0"/>
            <a:ext cx="359391" cy="1746913"/>
          </a:xfrm>
          <a:prstGeom prst="rect">
            <a:avLst/>
          </a:prstGeom>
          <a:solidFill>
            <a:srgbClr val="7B95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latin typeface="Noto Sans"/>
            </a:endParaRPr>
          </a:p>
        </p:txBody>
      </p:sp>
      <p:pic>
        <p:nvPicPr>
          <p:cNvPr id="3" name="Imagen 2" descr="Patrón de fondo&#10;&#10;Descripción generada automáticamente">
            <a:extLst>
              <a:ext uri="{FF2B5EF4-FFF2-40B4-BE49-F238E27FC236}">
                <a16:creationId xmlns:a16="http://schemas.microsoft.com/office/drawing/2014/main" id="{85BD324A-C024-0077-DF8F-20DCA813A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58" y="66706"/>
            <a:ext cx="992252" cy="70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38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3F39D5-2B33-B76C-39CA-AE6BED786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BD0F07-E6DF-E238-D01E-6075CA1AE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3371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1" r:id="rId4"/>
    <p:sldLayoutId id="2147483655" r:id="rId5"/>
    <p:sldLayoutId id="2147483664" r:id="rId6"/>
    <p:sldLayoutId id="2147483663" r:id="rId7"/>
    <p:sldLayoutId id="2147483662" r:id="rId8"/>
    <p:sldLayoutId id="2147483666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03120"/>
            <a:ext cx="10515600" cy="2651760"/>
          </a:xfrm>
        </p:spPr>
        <p:txBody>
          <a:bodyPr wrap="square" anchor="ctr"/>
          <a:lstStyle/>
          <a:p>
            <a:pPr algn="ctr">
              <a:spcAft>
                <a:spcPts val="600"/>
              </a:spcAft>
            </a:pPr>
            <a:r>
              <a:rPr sz="5400" b="0" i="0" u="none" dirty="0" err="1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Módulo</a:t>
            </a:r>
            <a:r>
              <a:rPr sz="5400" b="0" i="0" u="none" dirty="0">
                <a:solidFill>
                  <a:srgbClr val="B98A2E"/>
                </a:solidFill>
                <a:latin typeface="Montserrat SemiBold"/>
                <a:ea typeface="Montserrat SemiBold"/>
                <a:cs typeface="Montserrat SemiBold"/>
              </a:rPr>
              <a:t> 2</a:t>
            </a:r>
          </a:p>
          <a:p>
            <a:pPr algn="ctr">
              <a:spcAft>
                <a:spcPts val="800"/>
              </a:spcAft>
            </a:pP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Requisitos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implementación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del </a:t>
            </a:r>
            <a:r>
              <a:rPr sz="4000" b="1" i="0" u="none" dirty="0" err="1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Programa</a:t>
            </a:r>
            <a:r>
              <a:rPr sz="4000" b="1" i="0" u="none" dirty="0">
                <a:solidFill>
                  <a:srgbClr val="0E2A47"/>
                </a:solidFill>
                <a:latin typeface="Montserrat"/>
                <a:ea typeface="Montserrat"/>
                <a:cs typeface="Montserrat"/>
              </a:rPr>
              <a:t> OJT</a:t>
            </a:r>
          </a:p>
          <a:p>
            <a:pPr algn="ctr"/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Programa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Entrenamiento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en</a:t>
            </a:r>
            <a:r>
              <a:rPr sz="1600" b="0" i="0" u="none" dirty="0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 el Puesto de </a:t>
            </a:r>
            <a:r>
              <a:rPr sz="1600" b="0" i="0" u="none" dirty="0" err="1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Trabajo</a:t>
            </a:r>
            <a:endParaRPr sz="1600" b="0" i="0" u="none" dirty="0">
              <a:solidFill>
                <a:srgbClr val="182430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ACTIVIDAD DE INICIO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Para iniciar, reflexiona</a:t>
            </a:r>
          </a:p>
        </p:txBody>
      </p:sp>
      <p:pic>
        <p:nvPicPr>
          <p:cNvPr id="3" name="Picture 2" descr="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193" y="2233617"/>
            <a:ext cx="3065083" cy="23907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835161"/>
            <a:ext cx="7040880" cy="37856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Aprobaste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básico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especialidad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¿Eso basta para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tarea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campo?</a:t>
            </a: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¿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Qué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tendrías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demostrar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ante </a:t>
            </a:r>
            <a:r>
              <a:rPr sz="25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quién</a:t>
            </a:r>
            <a:r>
              <a:rPr sz="25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?</a:t>
            </a:r>
            <a:endParaRPr lang="es-MX"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347472" indent="-347472" algn="l">
              <a:lnSpc>
                <a:spcPct val="100000"/>
              </a:lnSpc>
              <a:spcAft>
                <a:spcPts val="1200"/>
              </a:spcAft>
              <a:buClr>
                <a:srgbClr val="B98A2E"/>
              </a:buClr>
              <a:buFont typeface="Arial"/>
              <a:buChar char="•"/>
            </a:pPr>
            <a:endParaRPr sz="25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algn="ctr">
              <a:lnSpc>
                <a:spcPct val="100000"/>
              </a:lnSpc>
              <a:spcAft>
                <a:spcPts val="1200"/>
              </a:spcAft>
            </a:pP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Anota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tu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respuesta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y </a:t>
            </a:r>
            <a:r>
              <a:rPr sz="2500" b="1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compárala</a:t>
            </a:r>
            <a:r>
              <a:rPr sz="2500" b="1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</a:rPr>
              <a:t> al final.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75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2.1 REQUISITOS GENERALES PARA EL ENTRENAMIENTO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Requisitos para realizar el OJT</a:t>
            </a:r>
          </a:p>
        </p:txBody>
      </p:sp>
      <p:sp>
        <p:nvSpPr>
          <p:cNvPr id="3" name="Oval 2"/>
          <p:cNvSpPr/>
          <p:nvPr/>
        </p:nvSpPr>
        <p:spPr>
          <a:xfrm>
            <a:off x="2011680" y="1752149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40759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Instructor OJT designado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87864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experiencia y conocimientos; designado por su área con anuencia del Director del CIAAC.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1752149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2540759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Condiciones completas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3287864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acreditado, programación autorizada y procedimientos vigentes.</a:t>
            </a:r>
          </a:p>
        </p:txBody>
      </p:sp>
      <p:sp>
        <p:nvSpPr>
          <p:cNvPr id="9" name="Oval 8"/>
          <p:cNvSpPr/>
          <p:nvPr/>
        </p:nvSpPr>
        <p:spPr>
          <a:xfrm>
            <a:off x="9052560" y="1752149"/>
            <a:ext cx="731520" cy="6640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2540759"/>
            <a:ext cx="3291840" cy="747104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Todo se documenta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3287864"/>
            <a:ext cx="3291840" cy="2158302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 el expediente del IVA y en el Módulo OJT de la plataforma de la AFAC.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532120"/>
            <a:ext cx="10104120" cy="6400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falta cualquiera de estos requisitos,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el evento no puede realizarse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primero se regulariza y después se programa.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532120"/>
            <a:ext cx="640080" cy="6400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87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454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151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763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2.1 REQUISITOS GENERALES PARA EL ENTRENAMIENTO OJT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Lista de verificación antes de iniciar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54480" y="1793655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acreditado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793655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793655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designado para la tarea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89793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2789793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Programación autorizada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789793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89793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Procedimientos vigentes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85934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3785934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Recursos disponibles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3785934"/>
            <a:ext cx="731520" cy="747104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5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85934"/>
            <a:ext cx="4206240" cy="747104"/>
          </a:xfrm>
          <a:prstGeom prst="roundRect">
            <a:avLst>
              <a:gd name="adj" fmla="val 10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Criterios de desempeño definidos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06590"/>
            <a:ext cx="10424160" cy="830116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Antes de cada evento, el instructor explica al aprendiz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qué deberá demostrar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4.1, 4.2 y 5.2.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987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454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921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88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855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22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89"/>
                            </p:stCondLst>
                            <p:childTnLst>
                              <p:par>
                                <p:cTn id="4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256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23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9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657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154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29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Tres niveles progresivos por tarea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93655"/>
            <a:ext cx="3200400" cy="996139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Nivel 1</a:t>
            </a:r>
          </a:p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Conocimiento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89794"/>
            <a:ext cx="3200400" cy="2158302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Instructor: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Instruir</a:t>
            </a:r>
          </a:p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Aprendiz: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Asimilar conocimientos (en sitio)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997323"/>
            <a:ext cx="320040" cy="415058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1793655"/>
            <a:ext cx="3200400" cy="996139"/>
          </a:xfrm>
          <a:prstGeom prst="roundRect">
            <a:avLst>
              <a:gd name="adj" fmla="val 8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Nivel 2</a:t>
            </a:r>
          </a:p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Demostración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89794"/>
            <a:ext cx="3200400" cy="2158302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Instructor: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Demostrar / asistir</a:t>
            </a:r>
          </a:p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Aprendiz: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Observar / coadyuvar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89520" y="2997323"/>
            <a:ext cx="320040" cy="415058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0" y="1793655"/>
            <a:ext cx="3200400" cy="996139"/>
          </a:xfrm>
          <a:prstGeom prst="roundRect">
            <a:avLst>
              <a:gd name="adj" fmla="val 8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1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Nivel 3</a:t>
            </a:r>
          </a:p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Ejecución supervisada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2789794"/>
            <a:ext cx="3200400" cy="2158302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Instructor: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Evaluar</a:t>
            </a:r>
          </a:p>
          <a:p>
            <a:pPr algn="ctr">
              <a:spcAft>
                <a:spcPts val="140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Aprendiz: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Realizar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97131"/>
            <a:ext cx="10424160" cy="622587"/>
          </a:xfrm>
          <a:prstGeom prst="roundRect">
            <a:avLst>
              <a:gd name="adj" fmla="val 10000"/>
            </a:avLst>
          </a:prstGeom>
          <a:solidFill>
            <a:srgbClr val="F6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nivel es un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evento distinto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en </a:t>
            </a:r>
            <a:r>
              <a:rPr sz="20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fecha distinta</a:t>
            </a:r>
            <a:r>
              <a:rPr sz="20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en orden.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4.2.1 a 4.2.4.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97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89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686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78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75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5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1: Conocimiento aplicado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Relaciona el curso básico con la tarea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 objetivo, fundamento, secuencia, recursos y seguridad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Identifica propósito y alcance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Localiza las referencias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 secuencia, registros y límites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el instructor comprueba el conocimiento aplicado a la tarea.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No se acredita solo por un curso previo.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4.2.1.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84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2: Demostración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Ejecuta y explica la tarea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Muestra criterios, puntos críticos y registros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puede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coadyuvar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Explica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secuencia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observada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Identifica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es-MX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puntos clave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precauciones</a:t>
            </a:r>
            <a:endParaRPr sz="1800" b="0" i="0" u="none" dirty="0">
              <a:solidFill>
                <a:srgbClr val="182430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cubrió la demostración y el aprendiz demuestra comprensión.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Coadyuvar no acredita ejecución independiente.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84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3: Ejecución supervisada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OJT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Observa, supervisa y evalúa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Documenta cualquier intervención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aprendiz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2250219"/>
            <a:ext cx="5029200" cy="2282819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201168" rIns="201168" bIns="201168" rtlCol="0" anchor="t"/>
          <a:lstStyle/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Ejecuta la tarea y sus subtareas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Sustenta sus decisiones</a:t>
            </a:r>
          </a:p>
          <a:p>
            <a:pPr marL="228600" indent="-228600" algn="l"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Usa recursos autorizados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40567"/>
            <a:ext cx="1042416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ctr">
              <a:spcAft>
                <a:spcPts val="0"/>
              </a:spcAft>
            </a:pPr>
            <a:r>
              <a:rPr sz="1800" b="1" i="0" u="none">
                <a:solidFill>
                  <a:srgbClr val="9A7323"/>
                </a:solidFill>
                <a:latin typeface="Montserrat Medium"/>
                <a:ea typeface="Montserrat Medium"/>
                <a:cs typeface="Montserrat Medium"/>
              </a:rPr>
              <a:t>Es satisfactorio cuando: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cumple los criterios de aceptación y todas las subtareas aplicables. </a:t>
            </a:r>
            <a:r>
              <a:rPr sz="1800" b="1" i="0" u="none">
                <a:solidFill>
                  <a:srgbClr val="0E2A47"/>
                </a:solidFill>
                <a:highlight>
                  <a:srgbClr val="E6CC8F"/>
                </a:highlight>
                <a:latin typeface="Montserrat Medium"/>
                <a:ea typeface="Montserrat Medium"/>
                <a:cs typeface="Montserrat Medium"/>
              </a:rPr>
              <a:t>La acreditación no se extiende a otras tareas.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4.2.3.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84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Una tarea, tres eventos distintos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la R06, cada nivel de una misma tarea se realiza en un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evento propio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en una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distinta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en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orden progresivo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80360"/>
            <a:ext cx="301752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 1 · fecha A</a:t>
            </a:r>
          </a:p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 propia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22191" y="2971800"/>
            <a:ext cx="502920" cy="41148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0" y="237744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880360"/>
            <a:ext cx="301752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 2 · fecha posterior</a:t>
            </a:r>
          </a:p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 propia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79792" y="2971800"/>
            <a:ext cx="502920" cy="41148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046720" y="2377440"/>
            <a:ext cx="3017520" cy="50292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Nivel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880360"/>
            <a:ext cx="3017520" cy="10972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Evento 3 · fecha posterior</a:t>
            </a:r>
          </a:p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 propia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206240"/>
            <a:ext cx="502920" cy="502920"/>
          </a:xfrm>
          <a:prstGeom prst="ellipse">
            <a:avLst/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42062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Dos niveles el mismo día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4206240"/>
            <a:ext cx="502920" cy="502920"/>
          </a:xfrm>
          <a:prstGeom prst="ellipse">
            <a:avLst/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42062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Reutilizar la evidencia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0" y="4206240"/>
            <a:ext cx="502920" cy="502920"/>
          </a:xfrm>
          <a:prstGeom prst="ellipse">
            <a:avLst/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4206240"/>
            <a:ext cx="2423160" cy="502920"/>
          </a:xfrm>
          <a:prstGeom prst="roundRect">
            <a:avLst>
              <a:gd name="adj" fmla="val 3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Saltar un nivel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983480"/>
            <a:ext cx="1010412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nivel siguiente solo se programa cuando el anterior tiene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aprobación técnica documentada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Si un nivel dura varias jornadas, se registran sus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fechas reales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inicio y conclusión.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02920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4.2.4 a) a d).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22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814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211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603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7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37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4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471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938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405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102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6714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debe demostrar tu evidencia?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Cada evento necesita evidencia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pertinente, auténtica y suficiente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 Al revisarla, debe responder estas preguntas: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8988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¿Quién participó?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Tú y tu instructor, identificados.</a:t>
            </a:r>
          </a:p>
        </p:txBody>
      </p:sp>
      <p:sp>
        <p:nvSpPr>
          <p:cNvPr id="6" name="Oval 5"/>
          <p:cNvSpPr/>
          <p:nvPr/>
        </p:nvSpPr>
        <p:spPr>
          <a:xfrm>
            <a:off x="425196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1032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¿Qué hiciste?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actuación concreta en la tarea.</a:t>
            </a:r>
          </a:p>
        </p:txBody>
      </p:sp>
      <p:sp>
        <p:nvSpPr>
          <p:cNvPr id="8" name="Oval 7"/>
          <p:cNvSpPr/>
          <p:nvPr/>
        </p:nvSpPr>
        <p:spPr>
          <a:xfrm>
            <a:off x="7772400" y="265176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30768" y="237744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¿En qué tarea y nivel?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su código y denominación.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8988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¿En qué evento y fecha?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Fechas reales, no las de la comisión.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032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¿Bajo qué supervisión?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instrucción o supervisión recibida.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393192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8" y="3657600"/>
            <a:ext cx="2651760" cy="1097280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28016" rIns="128016" bIns="128016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¿Con qué resultado?</a:t>
            </a:r>
          </a:p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Satisfactorio, pendiente o no satisfactorio.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5074920"/>
            <a:ext cx="10104120" cy="7315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Copiar un documento, cambiarle el nombre o cargarlo en otro apartado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lo convierte en evidencia de otro evento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5074920"/>
            <a:ext cx="731520" cy="73152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4.2.4 e), g) y h).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7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4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1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38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47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314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81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48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15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182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879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491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Lo que por sí solo no acredita un nivel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Estos elementos forman parte del proceso, pero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ninguno demuestra por sí solo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realizaste la tarea: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331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La programación del evento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7375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Tu asistencia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37744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94192" y="237744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El tiempo transcurrido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5331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Un oficio de comisión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375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Una constancia de curso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337560"/>
            <a:ext cx="548640" cy="731520"/>
          </a:xfrm>
          <a:prstGeom prst="roundRect">
            <a:avLst>
              <a:gd name="adj" fmla="val 15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94192" y="3337560"/>
            <a:ext cx="2697480" cy="73152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SemiBold"/>
                <a:ea typeface="Montserrat SemiBold"/>
                <a:cs typeface="Montserrat SemiBold"/>
              </a:rPr>
              <a:t>Cargar documentos al Módulo OJT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548640" cy="914400"/>
          </a:xfrm>
          <a:prstGeom prst="roundRect">
            <a:avLst>
              <a:gd name="adj" fmla="val 15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2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312" y="4434840"/>
            <a:ext cx="9802368" cy="914400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Lo que sí acredita el nivel: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evaluación satisfactoria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instructor, con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evidencia propia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evento y registrada en tu formato y bitácora.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4.2.4 g), 4.2.5 y 4.11.2.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12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79"/>
                            </p:stCondLst>
                            <p:childTnLst>
                              <p:par>
                                <p:cTn id="1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46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913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38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47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314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781"/>
                            </p:stCondLst>
                            <p:childTnLst>
                              <p:par>
                                <p:cTn id="4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48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15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182"/>
                            </p:stCondLst>
                            <p:childTnLst>
                              <p:par>
                                <p:cTn id="6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649"/>
                            </p:stCondLst>
                            <p:childTnLst>
                              <p:par>
                                <p:cTn id="6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146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621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Situaciones especiales durante el evento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Durante el entrenamiento pueden presentarse estas situaciones. Así se tratan: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Prácticas con ayuda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33472"/>
            <a:ext cx="47548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Son parte de tu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formación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; no se confunden con la evaluación final del Nivel 3.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3410711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3456432"/>
            <a:ext cx="4754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Ejemplo: en tus primeras inspecciones de rampa el instructor te guía paso a paso; la evaluación es cuando la realizas por tu cuenta.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031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El instructor interviene en la evaluación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560320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2633472"/>
            <a:ext cx="47548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resuelve una decisión sustantiva o ejecuta una parte que te correspondía, lo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esa parte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se acredita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17920" y="3410711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217920" y="3456432"/>
            <a:ext cx="4754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Ejemplo: no identificas si una discrepancia amerita observación y el instructor lo determina; esa parte queda pendiente.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05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Interrupción externa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17720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690872"/>
            <a:ext cx="47548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pendiente de conclusión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con su causa; no se califica como falta de competencia.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5468112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513831"/>
            <a:ext cx="4754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Ejemplo: se cancela el vuelo que ibas a inspeccionar; el nivel se reprograma sin afectar tu resultado.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16052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Riesgo de seguridad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617720"/>
            <a:ext cx="512064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0" y="4690872"/>
            <a:ext cx="47548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instructor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interviene o suspende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actividad y deja constancia de lo ocurrido.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217920" y="5468112"/>
            <a:ext cx="4754880" cy="0"/>
          </a:xfrm>
          <a:prstGeom prst="line">
            <a:avLst/>
          </a:prstGeom>
          <a:ln w="9525">
            <a:solidFill>
              <a:srgbClr val="D9D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17920" y="5513831"/>
            <a:ext cx="4754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 Medium"/>
                <a:ea typeface="Montserrat Medium"/>
                <a:cs typeface="Montserrat Medium"/>
              </a:rPr>
              <a:t>Ejemplo: hay combustible derramado en plataforma y el instructor detiene la inspección hasta que sea seguro.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4.2.3 y 4.2.5.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12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859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124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389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654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19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1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145BDB81-99C8-B494-6D46-E58474007F07}"/>
              </a:ext>
            </a:extLst>
          </p:cNvPr>
          <p:cNvSpPr/>
          <p:nvPr/>
        </p:nvSpPr>
        <p:spPr>
          <a:xfrm>
            <a:off x="731520" y="182880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Evaluación del nivel</a:t>
            </a:r>
          </a:p>
        </p:txBody>
      </p:sp>
      <p:sp>
        <p:nvSpPr>
          <p:cNvPr id="4" name="Right Arrow 18">
            <a:extLst>
              <a:ext uri="{FF2B5EF4-FFF2-40B4-BE49-F238E27FC236}">
                <a16:creationId xmlns:a16="http://schemas.microsoft.com/office/drawing/2014/main" id="{DC3F7369-1EC3-30A8-32A2-675AA198B31D}"/>
              </a:ext>
            </a:extLst>
          </p:cNvPr>
          <p:cNvSpPr/>
          <p:nvPr/>
        </p:nvSpPr>
        <p:spPr>
          <a:xfrm>
            <a:off x="3200400" y="2103120"/>
            <a:ext cx="411480" cy="36576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19">
            <a:extLst>
              <a:ext uri="{FF2B5EF4-FFF2-40B4-BE49-F238E27FC236}">
                <a16:creationId xmlns:a16="http://schemas.microsoft.com/office/drawing/2014/main" id="{1D01423A-CBA3-1F27-2A00-DA23D185BFE0}"/>
              </a:ext>
            </a:extLst>
          </p:cNvPr>
          <p:cNvSpPr/>
          <p:nvPr/>
        </p:nvSpPr>
        <p:spPr>
          <a:xfrm>
            <a:off x="3611880" y="1645920"/>
            <a:ext cx="2103120" cy="1280160"/>
          </a:xfrm>
          <a:prstGeom prst="diamond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¿Aprueba?</a:t>
            </a:r>
          </a:p>
        </p:txBody>
      </p:sp>
      <p:sp>
        <p:nvSpPr>
          <p:cNvPr id="6" name="Right Arrow 20">
            <a:extLst>
              <a:ext uri="{FF2B5EF4-FFF2-40B4-BE49-F238E27FC236}">
                <a16:creationId xmlns:a16="http://schemas.microsoft.com/office/drawing/2014/main" id="{E0C3B1EB-C76A-3FF1-4E4A-886BE6A9A433}"/>
              </a:ext>
            </a:extLst>
          </p:cNvPr>
          <p:cNvSpPr/>
          <p:nvPr/>
        </p:nvSpPr>
        <p:spPr>
          <a:xfrm>
            <a:off x="5760720" y="2103120"/>
            <a:ext cx="685800" cy="365760"/>
          </a:xfrm>
          <a:prstGeom prst="rightArrow">
            <a:avLst/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21">
            <a:extLst>
              <a:ext uri="{FF2B5EF4-FFF2-40B4-BE49-F238E27FC236}">
                <a16:creationId xmlns:a16="http://schemas.microsoft.com/office/drawing/2014/main" id="{A76E0F2B-CC80-8F7E-F059-23FDE94048A7}"/>
              </a:ext>
            </a:extLst>
          </p:cNvPr>
          <p:cNvSpPr txBox="1"/>
          <p:nvPr/>
        </p:nvSpPr>
        <p:spPr>
          <a:xfrm>
            <a:off x="5669280" y="1645920"/>
            <a:ext cx="8686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2F7A4D"/>
                </a:solidFill>
                <a:latin typeface="Montserrat SemiBold"/>
                <a:ea typeface="Montserrat SemiBold"/>
                <a:cs typeface="Montserrat SemiBold"/>
              </a:rPr>
              <a:t>Sí</a:t>
            </a:r>
          </a:p>
        </p:txBody>
      </p:sp>
      <p:sp>
        <p:nvSpPr>
          <p:cNvPr id="8" name="Rounded Rectangle 22">
            <a:extLst>
              <a:ext uri="{FF2B5EF4-FFF2-40B4-BE49-F238E27FC236}">
                <a16:creationId xmlns:a16="http://schemas.microsoft.com/office/drawing/2014/main" id="{1B0DF589-9FC8-6E62-460F-220B73054A9E}"/>
              </a:ext>
            </a:extLst>
          </p:cNvPr>
          <p:cNvSpPr/>
          <p:nvPr/>
        </p:nvSpPr>
        <p:spPr>
          <a:xfrm>
            <a:off x="6583680" y="18288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Se registra y el siguiente nivel se programa en fecha posterior</a:t>
            </a:r>
          </a:p>
        </p:txBody>
      </p:sp>
      <p:cxnSp>
        <p:nvCxnSpPr>
          <p:cNvPr id="9" name="Connector 23">
            <a:extLst>
              <a:ext uri="{FF2B5EF4-FFF2-40B4-BE49-F238E27FC236}">
                <a16:creationId xmlns:a16="http://schemas.microsoft.com/office/drawing/2014/main" id="{5E1BD780-CC59-3115-40D2-53E42676CDDD}"/>
              </a:ext>
            </a:extLst>
          </p:cNvPr>
          <p:cNvCxnSpPr/>
          <p:nvPr/>
        </p:nvCxnSpPr>
        <p:spPr>
          <a:xfrm>
            <a:off x="4663440" y="2926080"/>
            <a:ext cx="0" cy="228600"/>
          </a:xfrm>
          <a:prstGeom prst="line">
            <a:avLst/>
          </a:prstGeom>
          <a:ln w="31750">
            <a:solidFill>
              <a:srgbClr val="9A7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24">
            <a:extLst>
              <a:ext uri="{FF2B5EF4-FFF2-40B4-BE49-F238E27FC236}">
                <a16:creationId xmlns:a16="http://schemas.microsoft.com/office/drawing/2014/main" id="{7319B220-C273-8460-6DD8-30399DE5C762}"/>
              </a:ext>
            </a:extLst>
          </p:cNvPr>
          <p:cNvCxnSpPr/>
          <p:nvPr/>
        </p:nvCxnSpPr>
        <p:spPr>
          <a:xfrm flipH="1">
            <a:off x="1920240" y="3154680"/>
            <a:ext cx="2743200" cy="0"/>
          </a:xfrm>
          <a:prstGeom prst="line">
            <a:avLst/>
          </a:prstGeom>
          <a:ln w="31750">
            <a:solidFill>
              <a:srgbClr val="9A73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25">
            <a:extLst>
              <a:ext uri="{FF2B5EF4-FFF2-40B4-BE49-F238E27FC236}">
                <a16:creationId xmlns:a16="http://schemas.microsoft.com/office/drawing/2014/main" id="{CD32AC51-4519-EA9B-E1E1-9FD4C052D094}"/>
              </a:ext>
            </a:extLst>
          </p:cNvPr>
          <p:cNvCxnSpPr/>
          <p:nvPr/>
        </p:nvCxnSpPr>
        <p:spPr>
          <a:xfrm>
            <a:off x="1920240" y="3154680"/>
            <a:ext cx="0" cy="338328"/>
          </a:xfrm>
          <a:prstGeom prst="line">
            <a:avLst/>
          </a:prstGeom>
          <a:ln w="31750">
            <a:solidFill>
              <a:srgbClr val="9A73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26">
            <a:extLst>
              <a:ext uri="{FF2B5EF4-FFF2-40B4-BE49-F238E27FC236}">
                <a16:creationId xmlns:a16="http://schemas.microsoft.com/office/drawing/2014/main" id="{DB3E18A9-DC56-B3CB-8673-43846A504804}"/>
              </a:ext>
            </a:extLst>
          </p:cNvPr>
          <p:cNvSpPr txBox="1"/>
          <p:nvPr/>
        </p:nvSpPr>
        <p:spPr>
          <a:xfrm>
            <a:off x="4754880" y="2862072"/>
            <a:ext cx="731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A3352C"/>
                </a:solidFill>
                <a:latin typeface="Montserrat SemiBold"/>
                <a:ea typeface="Montserrat SemiBold"/>
                <a:cs typeface="Montserrat SemiBold"/>
              </a:rPr>
              <a:t>No</a:t>
            </a:r>
          </a:p>
        </p:txBody>
      </p:sp>
      <p:sp>
        <p:nvSpPr>
          <p:cNvPr id="13" name="Rounded Rectangle 27">
            <a:extLst>
              <a:ext uri="{FF2B5EF4-FFF2-40B4-BE49-F238E27FC236}">
                <a16:creationId xmlns:a16="http://schemas.microsoft.com/office/drawing/2014/main" id="{216988C1-92E2-F0E7-E748-82804429B12B}"/>
              </a:ext>
            </a:extLst>
          </p:cNvPr>
          <p:cNvSpPr/>
          <p:nvPr/>
        </p:nvSpPr>
        <p:spPr>
          <a:xfrm>
            <a:off x="73152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Brechas y retroalimentación</a:t>
            </a:r>
          </a:p>
        </p:txBody>
      </p:sp>
      <p:sp>
        <p:nvSpPr>
          <p:cNvPr id="14" name="Right Arrow 28">
            <a:extLst>
              <a:ext uri="{FF2B5EF4-FFF2-40B4-BE49-F238E27FC236}">
                <a16:creationId xmlns:a16="http://schemas.microsoft.com/office/drawing/2014/main" id="{D54385E2-CB61-55B7-9FAC-8F6EC729CA85}"/>
              </a:ext>
            </a:extLst>
          </p:cNvPr>
          <p:cNvSpPr/>
          <p:nvPr/>
        </p:nvSpPr>
        <p:spPr>
          <a:xfrm>
            <a:off x="3136391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29">
            <a:extLst>
              <a:ext uri="{FF2B5EF4-FFF2-40B4-BE49-F238E27FC236}">
                <a16:creationId xmlns:a16="http://schemas.microsoft.com/office/drawing/2014/main" id="{500DB928-6337-D194-9AC9-B83778A68B79}"/>
              </a:ext>
            </a:extLst>
          </p:cNvPr>
          <p:cNvSpPr/>
          <p:nvPr/>
        </p:nvSpPr>
        <p:spPr>
          <a:xfrm>
            <a:off x="338328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Reforzamiento</a:t>
            </a:r>
          </a:p>
        </p:txBody>
      </p:sp>
      <p:sp>
        <p:nvSpPr>
          <p:cNvPr id="16" name="Right Arrow 30">
            <a:extLst>
              <a:ext uri="{FF2B5EF4-FFF2-40B4-BE49-F238E27FC236}">
                <a16:creationId xmlns:a16="http://schemas.microsoft.com/office/drawing/2014/main" id="{41327433-7D2D-656A-1005-D08EADC0B242}"/>
              </a:ext>
            </a:extLst>
          </p:cNvPr>
          <p:cNvSpPr/>
          <p:nvPr/>
        </p:nvSpPr>
        <p:spPr>
          <a:xfrm>
            <a:off x="5788152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31">
            <a:extLst>
              <a:ext uri="{FF2B5EF4-FFF2-40B4-BE49-F238E27FC236}">
                <a16:creationId xmlns:a16="http://schemas.microsoft.com/office/drawing/2014/main" id="{13B989CE-8EF3-BE57-0493-642D81985DA0}"/>
              </a:ext>
            </a:extLst>
          </p:cNvPr>
          <p:cNvSpPr/>
          <p:nvPr/>
        </p:nvSpPr>
        <p:spPr>
          <a:xfrm>
            <a:off x="603504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Reprogramación por el ICOJT</a:t>
            </a:r>
          </a:p>
        </p:txBody>
      </p:sp>
      <p:sp>
        <p:nvSpPr>
          <p:cNvPr id="18" name="Right Arrow 32">
            <a:extLst>
              <a:ext uri="{FF2B5EF4-FFF2-40B4-BE49-F238E27FC236}">
                <a16:creationId xmlns:a16="http://schemas.microsoft.com/office/drawing/2014/main" id="{0D3FF324-CB35-688B-7BA7-3114960200C3}"/>
              </a:ext>
            </a:extLst>
          </p:cNvPr>
          <p:cNvSpPr/>
          <p:nvPr/>
        </p:nvSpPr>
        <p:spPr>
          <a:xfrm>
            <a:off x="8439912" y="3822191"/>
            <a:ext cx="228600" cy="310896"/>
          </a:xfrm>
          <a:prstGeom prst="rightArrow">
            <a:avLst/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33">
            <a:extLst>
              <a:ext uri="{FF2B5EF4-FFF2-40B4-BE49-F238E27FC236}">
                <a16:creationId xmlns:a16="http://schemas.microsoft.com/office/drawing/2014/main" id="{F7BFCEE8-6D56-A044-7B16-D86C0F7EB037}"/>
              </a:ext>
            </a:extLst>
          </p:cNvPr>
          <p:cNvSpPr/>
          <p:nvPr/>
        </p:nvSpPr>
        <p:spPr>
          <a:xfrm>
            <a:off x="8686800" y="352044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9A7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Nueva evaluación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05EF59B3-4D15-4855-013B-CF38FAA094A2}"/>
              </a:ext>
            </a:extLst>
          </p:cNvPr>
          <p:cNvSpPr txBox="1"/>
          <p:nvPr/>
        </p:nvSpPr>
        <p:spPr>
          <a:xfrm>
            <a:off x="731520" y="4910168"/>
            <a:ext cx="10424160" cy="12451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Interrupción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externa: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queda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pendiente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no es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falta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  <a:p>
            <a:pPr marL="347472" indent="-347472" algn="l">
              <a:lnSpc>
                <a:spcPct val="100000"/>
              </a:lnSpc>
              <a:spcAft>
                <a:spcPts val="600"/>
              </a:spcAft>
              <a:buClr>
                <a:srgbClr val="B98A2E"/>
              </a:buClr>
              <a:buFont typeface="Arial"/>
              <a:buChar char="•"/>
            </a:pP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Hasta </a:t>
            </a:r>
            <a:r>
              <a:rPr sz="1800" b="1" i="0" u="none" dirty="0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2 </a:t>
            </a:r>
            <a:r>
              <a:rPr sz="1800" b="1" i="0" u="none" dirty="0" err="1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reprogramaciones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adicionales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causa </a:t>
            </a:r>
            <a:r>
              <a:rPr sz="1800" b="0" i="0" u="none" dirty="0" err="1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justificada</a:t>
            </a:r>
            <a:r>
              <a:rPr sz="1800" b="0" i="0" u="none" dirty="0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4EDEF350-C6FA-82AF-E0F8-A045DF8E7BE7}"/>
              </a:ext>
            </a:extLst>
          </p:cNvPr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3.4.5 g), 3.4.8 y 4.2.5.</a:t>
            </a: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998C54F6-B797-D919-A377-F8EB55F15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 dirty="0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¿Y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si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el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resultado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 no es </a:t>
            </a:r>
            <a:r>
              <a:rPr sz="28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satisfactorio</a:t>
            </a:r>
            <a:r>
              <a:rPr sz="2800" b="0" i="0" u="none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149774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897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89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36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1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398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79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137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2"/>
                            </p:stCondLst>
                            <p:childTnLst>
                              <p:par>
                                <p:cTn id="5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767"/>
                            </p:stCondLst>
                            <p:childTnLst>
                              <p:par>
                                <p:cTn id="5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164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56"/>
                            </p:stCondLst>
                            <p:childTnLst>
                              <p:par>
                                <p:cTn id="6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953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345"/>
                            </p:stCondLst>
                            <p:childTnLst>
                              <p:par>
                                <p:cTn id="7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742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134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631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7106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  <p:bldP spid="12" grpId="0" animBg="1"/>
      <p:bldP spid="13" grpId="0" animBg="1"/>
      <p:bldP spid="15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 de tu aprobación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Cuando apruebas un nivel, la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aprobación técnica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tu instructor identifica exactamente lo que demostraste: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4937760" cy="50292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Tu aprobación identifica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30168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nivel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88536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subtareas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demostradas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46904"/>
            <a:ext cx="4937760" cy="566928"/>
          </a:xfrm>
          <a:prstGeom prst="roundRect">
            <a:avLst>
              <a:gd name="adj" fmla="val 12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condiciones</a:t>
            </a: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en que lo hiciste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Pero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971800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Acredita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toda tu especialidad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849624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 designa como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instructor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727448"/>
            <a:ext cx="5120640" cy="786384"/>
          </a:xfrm>
          <a:prstGeom prst="roundRect">
            <a:avLst>
              <a:gd name="adj" fmla="val 12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Te autoriza por sí sola a ejercer funciones de forma </a:t>
            </a:r>
            <a:r>
              <a:rPr sz="16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autónoma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669280"/>
            <a:ext cx="10104120" cy="5486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desempeño autónomo lo asigna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autoridad competente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solo dentro del alcance que completaste.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4.2.6 y apartado de Definiciones.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12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209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821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NIVELES DE ENTRENAMIENTO OJT: 1, 2 Y 3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Entrenamiento previo: convalidación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35161"/>
            <a:ext cx="5029200" cy="581081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Modalidad 1: Formato OJT anterior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5029200" cy="1577220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examina el entrenamiento ya documentado, con sus firmas y evidencias originales.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835161"/>
            <a:ext cx="5029200" cy="581081"/>
          </a:xfrm>
          <a:prstGeom prst="roundRect">
            <a:avLst>
              <a:gd name="adj" fmla="val 10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Modalidad 2: Evidencia documental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416242"/>
            <a:ext cx="5029200" cy="1577220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 examinan actividades previas por tarea, nivel, evento y fecha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42497"/>
            <a:ext cx="10424160" cy="1577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22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antigüedad</a:t>
            </a: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por sí sola no acredita.</a:t>
            </a:r>
          </a:p>
          <a:p>
            <a:pPr marL="347472" indent="-347472" algn="l">
              <a:lnSpc>
                <a:spcPct val="100000"/>
              </a:lnSpc>
              <a:spcAft>
                <a:spcPts val="800"/>
              </a:spcAft>
              <a:buClr>
                <a:srgbClr val="B98A2E"/>
              </a:buClr>
              <a:buFont typeface="Arial"/>
              <a:buChar char="•"/>
            </a:pPr>
            <a:r>
              <a:rPr sz="22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Sin sustento: se registra la brecha y se programa el entrenamiento.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 (P-DCIA-CPEPT-02-R04).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84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59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ENTRENAMIENTO PREVIO: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Convalidación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ya realizaste entrenamiento antes del formato vigente, este es el camino para que se reconozca:</a:t>
            </a:r>
          </a:p>
        </p:txBody>
      </p:sp>
      <p:sp>
        <p:nvSpPr>
          <p:cNvPr id="4" name="Oval 3"/>
          <p:cNvSpPr/>
          <p:nvPr/>
        </p:nvSpPr>
        <p:spPr>
          <a:xfrm>
            <a:off x="144475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Entrega el formato anterior o la evidencia documental.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87752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54787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 / IOJT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Revisa que cumpla los criterios por tarea y nivel.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90871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5099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 / IOJT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5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procede, lo asienta en el formato vigente con la leyenda «convalidación».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793992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754111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40879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Titular del área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79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Rubrica, firma y autoriza el formato convalidado.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897111" y="3566160"/>
            <a:ext cx="219456" cy="310896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57232" y="2286000"/>
            <a:ext cx="457200" cy="4572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2834640"/>
            <a:ext cx="1828800" cy="45720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 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291840"/>
            <a:ext cx="1828800" cy="132588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3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Resguarda el original del formato autorizado.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10424160" cy="548640"/>
          </a:xfrm>
          <a:prstGeom prst="roundRect">
            <a:avLst>
              <a:gd name="adj" fmla="val 15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A3352C"/>
                </a:solidFill>
                <a:latin typeface="Montserrat Medium"/>
                <a:ea typeface="Montserrat Medium"/>
                <a:cs typeface="Montserrat Medium"/>
              </a:rPr>
              <a:t>Si no procede: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devuelven los documentos y se programa el entrenamiento pendiente (desde el Nivel 1 si no se acredita ninguno).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486400"/>
            <a:ext cx="101041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del dictamen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no sustituye la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 real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entrenamiento: ambas se conservan por separado.</a:t>
            </a:r>
          </a:p>
        </p:txBody>
      </p:sp>
      <p:sp>
        <p:nvSpPr>
          <p:cNvPr id="25" name="Oval 24"/>
          <p:cNvSpPr/>
          <p:nvPr/>
        </p:nvSpPr>
        <p:spPr>
          <a:xfrm>
            <a:off x="731520" y="5486400"/>
            <a:ext cx="566928" cy="56692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 (P-DCIA-CPEPT-02-R04).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22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14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11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603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392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789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4181"/>
                            </p:stCondLst>
                            <p:childTnLst>
                              <p:par>
                                <p:cTn id="8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678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403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015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2.2 ENTRENAMIENTO PREVIO: CONVALIDACIÓN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¿Qué evidencia sirve para convalidar?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Por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cada nivel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quieras convalidar necesitas una evidencia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específica, suficiente y trazable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evento.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2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Sí sirve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7180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Formato OJT anterior completo: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nombres, firmas, iniciales y fecha por tarea y nivel.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04487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Documentos oficiales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donde conste tu participación: acta de verificación, acta circunstanciada, plan de vuelo, entre otros.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3717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Con </a:t>
            </a: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fecha, nombre y firma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IVA AP y la tarea claramente identificable.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377440"/>
            <a:ext cx="5120640" cy="502920"/>
          </a:xfrm>
          <a:prstGeom prst="roundRect">
            <a:avLst>
              <a:gd name="adj" fmla="val 12000"/>
            </a:avLst>
          </a:prstGeom>
          <a:solidFill>
            <a:srgbClr val="A33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7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Por sí solo no basta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971800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Oficio de comisión: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solo notifica que fuiste comisionado.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04487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Constancia de curso: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solo acredita la instrucción teórica.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4837176"/>
            <a:ext cx="5120640" cy="841248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4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Antigüedad:</a:t>
            </a:r>
            <a:r>
              <a:rPr sz="14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la experiencia debe estar documentada por tarea y nivel.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5806440"/>
            <a:ext cx="10104120" cy="47548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evidencia de un evento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sirve para otro nivel ni para otra tarea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806440"/>
            <a:ext cx="475488" cy="47548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4.4 y 4.5.7.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12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09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21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IVA (24)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(1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lang="es-MX" sz="1600" dirty="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L</a:t>
            </a:r>
            <a:r>
              <a:rPr sz="1600" b="0" i="0" u="none" dirty="0" err="1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icencias</a:t>
            </a:r>
            <a:endParaRPr sz="1600" b="0" i="0" u="none" dirty="0">
              <a:solidFill>
                <a:srgbClr val="FFFFFF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Licencias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Escuelas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Exámenes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Competencia Lingüística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17208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4317208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834639" y="4317208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Médico Evaluador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Operaciones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Tierra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IVA-OMP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Mercancías Peligrosas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Vuelo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IVA-OC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Operaciones Cabina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51560" y="5120640"/>
            <a:ext cx="1010412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Tu formato OJT y tus bitácoras corresponden 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tu especialidad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: cada una tiene su propio catálogo de tareas en 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Anexo 1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MEPT.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120640"/>
            <a:ext cx="685800" cy="68580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987"/>
                            </p:stCondLst>
                            <p:childTnLst>
                              <p:par>
                                <p:cTn id="7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4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7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1" dur="4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684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296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IVA (24)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(2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Aeronavegabilidad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Aeronavegabilidad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Ingeniería y Producción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Navegación aérea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Información Aeronáutica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Comunicaciones, Navegación y Vigilancia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Tránsito Aéreo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78593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92240" y="378593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IVA-PANS-OPS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59" y="378593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Diseño de Procedimientos de Vuelo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4317208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317208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IVA-MET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59" y="4317208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Meteorología Aeronáutica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848482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92240" y="4848482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IVA-CARTAS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59" y="4848482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Cartografía Aeronáutica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51560" y="5440680"/>
            <a:ext cx="10104120" cy="65836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numeración y las claves son las del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numeral 4.3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del MEPT; la agrupación por áreas es solo para facilitar tu estudio.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440680"/>
            <a:ext cx="658368" cy="65836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87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4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4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5" dur="4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684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2296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2.3 ESPECIALIDADES TÉCNICAS DEL IVA (24)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Especialidades técnicas del IVA (3 de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Aeródromos y seguridad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3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Aeródromos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IVA-AVSEC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Seguridad de la Aviación Civil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5465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88720" y="325465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IVA-SMS/SSP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325465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Sistemas de Gestión de Seguridad Operacional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710643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Instrucción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192110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92110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IIFTA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192110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 Formación Técnica Aeronáutica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723385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723385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IIOJT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2723385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Instructor del OJT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51957"/>
            <a:ext cx="5029200" cy="415058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Jurídico y económico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33424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433424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IV-JL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39" y="4433424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Jurídico Legal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964699"/>
            <a:ext cx="457200" cy="464865"/>
          </a:xfrm>
          <a:prstGeom prst="roundRect">
            <a:avLst>
              <a:gd name="adj" fmla="val 8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5C6B7A"/>
                </a:solidFill>
                <a:latin typeface="Montserrat SemiBold"/>
                <a:ea typeface="Montserrat SemiBold"/>
                <a:cs typeface="Montserrat SemiBold"/>
              </a:rPr>
              <a:t>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4964699"/>
            <a:ext cx="1600200" cy="464865"/>
          </a:xfrm>
          <a:prstGeom prst="roundRect">
            <a:avLst>
              <a:gd name="adj" fmla="val 15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Aft>
                <a:spcPts val="0"/>
              </a:spcAft>
            </a:pPr>
            <a:r>
              <a:rPr sz="1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IV-TTA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34639" y="4964699"/>
            <a:ext cx="2926080" cy="464865"/>
          </a:xfrm>
          <a:prstGeom prst="roundRect">
            <a:avLst>
              <a:gd name="adj" fmla="val 12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Tarifas, Competencia y Regulación Económica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4.3 (conforme a la Carta de Política vigente). Agrupación didáctica.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59" y="3429000"/>
            <a:ext cx="4846320" cy="14630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Las especialidades de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Accidentes e Incidentes (AIG)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y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Búsqueda y Salvamento (SAR)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atienden a solicitud de la DAAIA de la SICT. Una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nueva especialidad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se solicita a la Dirección del CIAAC.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377190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987"/>
                            </p:stCondLst>
                            <p:childTnLst>
                              <p:par>
                                <p:cTn id="4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9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4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34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259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871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¿Quién designa a las figuras OJT?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69137"/>
            <a:ext cx="10424160" cy="8301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titulares de las Direcciones Ejecutivas, de Área y Comandancias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(AICM, AIFA y Regionales), a solicitud del CIAAC por medio de la CPEPT.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por Dirección de área. Nivel de Enlace a Subdirector. ≥ 1 año en el programa OJT.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ICOJT-S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Suplente: apoya al ICOJT en sus ausencias.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IPOJT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o más, según las necesidades del área.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706783"/>
            <a:ext cx="2468880" cy="581081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20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IOJT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287864"/>
            <a:ext cx="2468880" cy="2324325"/>
          </a:xfrm>
          <a:prstGeom prst="roundRect">
            <a:avLst>
              <a:gd name="adj" fmla="val 3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Uno o más, según las necesidades del área.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669280"/>
            <a:ext cx="10104120" cy="56692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Los titulares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designan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sus instructores; la CPEPT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valida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que cada perfil cumpla los criterios del MEPT.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669280"/>
            <a:ext cx="566928" cy="566928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45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2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979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46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143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755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Procedimiento de designación</a:t>
            </a:r>
          </a:p>
        </p:txBody>
      </p:sp>
      <p:sp>
        <p:nvSpPr>
          <p:cNvPr id="3" name="Oval 2"/>
          <p:cNvSpPr/>
          <p:nvPr/>
        </p:nvSpPr>
        <p:spPr>
          <a:xfrm>
            <a:off x="164592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solicita la designación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área propone por oficio</a:t>
            </a:r>
          </a:p>
        </p:txBody>
      </p:sp>
      <p:sp>
        <p:nvSpPr>
          <p:cNvPr id="7" name="Oval 6"/>
          <p:cNvSpPr/>
          <p:nvPr/>
        </p:nvSpPr>
        <p:spPr>
          <a:xfrm>
            <a:off x="694944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revisa el expediente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1835161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241624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Coord. de Programas corrobora datos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CPEPT emite oficio de aprobación</a:t>
            </a:r>
          </a:p>
        </p:txBody>
      </p:sp>
      <p:sp>
        <p:nvSpPr>
          <p:cNvPr id="13" name="Oval 12"/>
          <p:cNvSpPr/>
          <p:nvPr/>
        </p:nvSpPr>
        <p:spPr>
          <a:xfrm>
            <a:off x="429768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área notifica al IVA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IVA acusa de recibo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0" y="3619909"/>
            <a:ext cx="548640" cy="498069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200992"/>
            <a:ext cx="2377440" cy="996139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Acuse al expediente e informe trimestral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7672"/>
            <a:ext cx="10424160" cy="41505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600" b="0" i="0" u="none">
                <a:solidFill>
                  <a:srgbClr val="0E2A47"/>
                </a:solidFill>
                <a:latin typeface="Montserrat Medium"/>
                <a:ea typeface="Montserrat Medium"/>
                <a:cs typeface="Montserrat Medium"/>
              </a:rPr>
              <a:t>Si hay inconsistencias en el perfil, la CPEPT emite oficio con observaciones.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44236"/>
            <a:ext cx="8686800" cy="33204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4.7 (P-DCIA-CPEPT-03-R04).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87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1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454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921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88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55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322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4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789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4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286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4761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Criterios para seleccionar instructores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Técnicos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322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de Instructor OJT aprobado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63346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Curso básico o recurrente de la especialidad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93463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5 años en la especialidad o 1 año continuo en la actividad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82357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Niveles OJT acreditados en las tareas que impartirá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752149"/>
            <a:ext cx="5029200" cy="498069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Actitudinales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33322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Comunicación, escucha y paciencia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163346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Interés en la capacitación OJT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993463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Respeto por sus compañeros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4823579"/>
            <a:ext cx="5029200" cy="730502"/>
          </a:xfrm>
          <a:prstGeom prst="roundRect">
            <a:avLst>
              <a:gd name="adj" fmla="val 8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Disposición a seguir las directrices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86868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 4.8.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5623560"/>
            <a:ext cx="1010412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antigüedad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sustituye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los demás requisitos: también debes haber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acreditado los niveles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de las tareas que impartirás.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5623560"/>
            <a:ext cx="621792" cy="621792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2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987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684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296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6120" y="109728"/>
            <a:ext cx="8641080" cy="1188720"/>
          </a:xfrm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200" b="0" i="0" u="none">
                <a:solidFill>
                  <a:srgbClr val="E8D3A3"/>
                </a:solidFill>
                <a:latin typeface="Montserrat SemiBold"/>
                <a:ea typeface="Montserrat SemiBold"/>
                <a:cs typeface="Montserrat SemiBold"/>
              </a:rPr>
              <a:t>2.4 DESIGNACIÓN DE INSTRUCTORES Y CRITERIOS DE SELECCIÓN</a:t>
            </a:r>
          </a:p>
          <a:p>
            <a:pPr algn="l"/>
            <a:r>
              <a:rPr sz="28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Alcance de la designación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4241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La designación indica </a:t>
            </a:r>
            <a:r>
              <a:rPr sz="18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qué tareas</a:t>
            </a:r>
            <a:r>
              <a:rPr sz="18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puede instruir y evaluar cada instructor. Ese alcance se revisa cuando hay: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Cambios de procedimientos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4612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Inactividad que afecte la competencia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200400" cy="749808"/>
          </a:xfrm>
          <a:prstGeom prst="roundRect">
            <a:avLst>
              <a:gd name="adj" fmla="val 12000"/>
            </a:avLst>
          </a:prstGeom>
          <a:solidFill>
            <a:srgbClr val="F6EEDC"/>
          </a:solidFill>
          <a:ln w="1587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Resultados insuficientes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69080" y="3063240"/>
            <a:ext cx="548640" cy="45720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754880" y="2514600"/>
            <a:ext cx="2926080" cy="502920"/>
          </a:xfrm>
          <a:prstGeom prst="roundRect">
            <a:avLst>
              <a:gd name="adj" fmla="val 12000"/>
            </a:avLst>
          </a:prstGeom>
          <a:solidFill>
            <a:srgbClr val="1B4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Revisión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017520"/>
            <a:ext cx="292608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ICOJT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con apoyo del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IPOJT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revisa el alcance del instructor.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18120" y="3063240"/>
            <a:ext cx="548640" cy="457200"/>
          </a:xfrm>
          <a:prstGeom prst="rightArrow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503920" y="2514600"/>
            <a:ext cx="2651760" cy="502920"/>
          </a:xfrm>
          <a:prstGeom prst="roundRect">
            <a:avLst>
              <a:gd name="adj" fmla="val 12000"/>
            </a:avLst>
          </a:prstGeom>
          <a:solidFill>
            <a:srgbClr val="9A7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54864" rIns="54864" bIns="54864" rtlCol="0" anchor="ctr"/>
          <a:lstStyle/>
          <a:p>
            <a:pPr algn="ctr">
              <a:spcAft>
                <a:spcPts val="0"/>
              </a:spcAft>
            </a:pPr>
            <a:r>
              <a:rPr sz="16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Resultado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017520"/>
            <a:ext cx="2651760" cy="1508760"/>
          </a:xfrm>
          <a:prstGeom prst="roundRect">
            <a:avLst>
              <a:gd name="adj" fmla="val 4000"/>
            </a:avLst>
          </a:prstGeom>
          <a:solidFill>
            <a:srgbClr val="F1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37160" rIns="137160" bIns="137160" rtlCol="0" anchor="ctr"/>
          <a:lstStyle/>
          <a:p>
            <a:pPr algn="ctr">
              <a:spcAft>
                <a:spcPts val="0"/>
              </a:spcAft>
            </a:pP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Reforzamiento o reevaluación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antes de continuar con esas tareas.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5120640"/>
            <a:ext cx="10104120" cy="8229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E4E2DA"/>
            </a:solidFill>
          </a:ln>
          <a:effectLst>
            <a:outerShdw blurRad="80000" dist="20000" dir="5400000" algn="t" rotWithShape="0">
              <a:srgbClr val="0E2A47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tIns="164592" rIns="164592" bIns="164592" rtlCol="0" anchor="ctr"/>
          <a:lstStyle/>
          <a:p>
            <a:pPr algn="l">
              <a:spcAft>
                <a:spcPts val="0"/>
              </a:spcAft>
            </a:pP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Si hay un impedimento para evaluar con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imparcialidad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, se comunica para asignar otro evaluador. Tener acceso al Módulo OJT </a:t>
            </a:r>
            <a:r>
              <a:rPr sz="1500" b="1" i="0" u="none">
                <a:solidFill>
                  <a:srgbClr val="0E2A47"/>
                </a:solidFill>
                <a:highlight>
                  <a:srgbClr val="EFDDB0"/>
                </a:highlight>
                <a:latin typeface="Montserrat Medium"/>
                <a:ea typeface="Montserrat Medium"/>
                <a:cs typeface="Montserrat Medium"/>
              </a:rPr>
              <a:t>no equivale</a:t>
            </a:r>
            <a:r>
              <a:rPr sz="1500" b="0" i="0" u="none">
                <a:solidFill>
                  <a:srgbClr val="182430"/>
                </a:solidFill>
                <a:latin typeface="Montserrat Medium"/>
                <a:ea typeface="Montserrat Medium"/>
                <a:cs typeface="Montserrat Medium"/>
              </a:rPr>
              <a:t> a estar designado.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143500"/>
            <a:ext cx="777240" cy="77724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Aft>
                <a:spcPts val="0"/>
              </a:spcAft>
            </a:pPr>
            <a:r>
              <a:rPr sz="2400" b="0" i="0" u="none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55080"/>
            <a:ext cx="90525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 u="none">
                <a:solidFill>
                  <a:srgbClr val="5C6B7A"/>
                </a:solidFill>
                <a:latin typeface="Montserrat"/>
                <a:ea typeface="Montserrat"/>
                <a:cs typeface="Montserrat"/>
              </a:rPr>
              <a:t>Fuente: MEPT, numerales 4.8 y 3.4.2 n).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5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25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7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22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14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211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603"/>
                            </p:stCondLst>
                            <p:childTnLst>
                              <p:par>
                                <p:cTn id="4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4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6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3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3912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sz="3700" b="0" i="0" u="none">
                <a:solidFill>
                  <a:srgbClr val="0E2A47"/>
                </a:solidFill>
                <a:latin typeface="Montserrat SemiBold"/>
                <a:ea typeface="Montserrat SemiBold"/>
                <a:cs typeface="Montserrat SemiBold"/>
              </a:rPr>
              <a:t>¡Gracias!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14915</TotalTime>
  <Words>2394</Words>
  <Application>Microsoft Office PowerPoint</Application>
  <PresentationFormat>Panorámica</PresentationFormat>
  <Paragraphs>399</Paragraphs>
  <Slides>25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3" baseType="lpstr">
      <vt:lpstr>Aptos</vt:lpstr>
      <vt:lpstr>Aptos Display</vt:lpstr>
      <vt:lpstr>Arial</vt:lpstr>
      <vt:lpstr>Montserrat</vt:lpstr>
      <vt:lpstr>Montserrat Medium</vt:lpstr>
      <vt:lpstr>Montserrat SemiBold</vt:lpstr>
      <vt:lpstr>Noto Sans</vt:lpstr>
      <vt:lpstr>Tema de Office</vt:lpstr>
      <vt:lpstr>Módulo 2 Requisitos de implementación del Programa OJT Programa de Entrenamiento en el Puesto de Trabajo</vt:lpstr>
      <vt:lpstr>ACTIVIDAD DE INICIO Para iniciar, reflexiona</vt:lpstr>
      <vt:lpstr>2.1 REQUISITOS GENERALES PARA EL ENTRENAMIENTO OJT Requisitos para realizar el OJT</vt:lpstr>
      <vt:lpstr>2.1 REQUISITOS GENERALES PARA EL ENTRENAMIENTO OJT Lista de verificación antes de iniciar</vt:lpstr>
      <vt:lpstr>2.2 NIVELES DE ENTRENAMIENTO OJT: 1, 2 Y 3 Tres niveles progresivos por tarea</vt:lpstr>
      <vt:lpstr>2.2 NIVELES DE ENTRENAMIENTO OJT: 1, 2 Y 3 Nivel 1: Conocimiento aplicado</vt:lpstr>
      <vt:lpstr>2.2 NIVELES DE ENTRENAMIENTO OJT: 1, 2 Y 3 Nivel 2: Demostración</vt:lpstr>
      <vt:lpstr>2.2 NIVELES DE ENTRENAMIENTO OJT: 1, 2 Y 3 Nivel 3: Ejecución supervisada</vt:lpstr>
      <vt:lpstr>2.2 NIVELES DE ENTRENAMIENTO OJT: 1, 2 Y 3 Una tarea, tres eventos distintos</vt:lpstr>
      <vt:lpstr>2.2 NIVELES DE ENTRENAMIENTO OJT: 1, 2 Y 3 ¿Qué debe demostrar tu evidencia?</vt:lpstr>
      <vt:lpstr>2.2 NIVELES DE ENTRENAMIENTO OJT: 1, 2 Y 3 Lo que por sí solo no acredita un nivel</vt:lpstr>
      <vt:lpstr>2.2 NIVELES DE ENTRENAMIENTO OJT: 1, 2 Y 3 Situaciones especiales durante el evento</vt:lpstr>
      <vt:lpstr>2.2 NIVELES DE ENTRENAMIENTO OJT: 1, 2 Y 3 ¿Y si el resultado no es satisfactorio?</vt:lpstr>
      <vt:lpstr>2.2 NIVELES DE ENTRENAMIENTO OJT: 1, 2 Y 3 Alcance de tu aprobación</vt:lpstr>
      <vt:lpstr>2.2 NIVELES DE ENTRENAMIENTO OJT: 1, 2 Y 3 Entrenamiento previo: convalidación</vt:lpstr>
      <vt:lpstr>2.2 ENTRENAMIENTO PREVIO: CONVALIDACIÓN Convalidación paso a paso</vt:lpstr>
      <vt:lpstr>2.2 ENTRENAMIENTO PREVIO: CONVALIDACIÓN ¿Qué evidencia sirve para convalidar?</vt:lpstr>
      <vt:lpstr>2.3 ESPECIALIDADES TÉCNICAS DEL IVA (24) Especialidades técnicas del IVA (1 de 3)</vt:lpstr>
      <vt:lpstr>2.3 ESPECIALIDADES TÉCNICAS DEL IVA (24) Especialidades técnicas del IVA (2 de 3)</vt:lpstr>
      <vt:lpstr>2.3 ESPECIALIDADES TÉCNICAS DEL IVA (24) Especialidades técnicas del IVA (3 de 3)</vt:lpstr>
      <vt:lpstr>2.4 DESIGNACIÓN DE INSTRUCTORES Y CRITERIOS DE SELECCIÓN ¿Quién designa a las figuras OJT?</vt:lpstr>
      <vt:lpstr>2.4 DESIGNACIÓN DE INSTRUCTORES Y CRITERIOS DE SELECCIÓN Procedimiento de designación</vt:lpstr>
      <vt:lpstr>2.4 DESIGNACIÓN DE INSTRUCTORES Y CRITERIOS DE SELECCIÓN Criterios para seleccionar instructores</vt:lpstr>
      <vt:lpstr>2.4 DESIGNACIÓN DE INSTRUCTORES Y CRITERIOS DE SELECCIÓN Alcance de la designación</vt:lpstr>
      <vt:lpstr>¡Gracias!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AVANZADO PARA EL INSPECTOR VERIFICADOR AERONÁUTICO DE INVESTIGACIÓN ADMINISTRATIVA Y SEGURIDAD AÉREA (IVA-IASA)</dc:title>
  <dc:creator>Ricardo Elias Delgado Villalobos</dc:creator>
  <cp:lastModifiedBy>Jose Manuel Figueroa Hernandez</cp:lastModifiedBy>
  <cp:revision>218</cp:revision>
  <dcterms:created xsi:type="dcterms:W3CDTF">2025-01-15T19:01:35Z</dcterms:created>
  <dcterms:modified xsi:type="dcterms:W3CDTF">2026-09-24T03:46:02Z</dcterms:modified>
</cp:coreProperties>
</file>