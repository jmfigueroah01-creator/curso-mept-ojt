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63" r:id="rId2"/>
    <p:sldId id="266" r:id="rId3"/>
    <p:sldId id="267" r:id="rId4"/>
    <p:sldId id="268" r:id="rId5"/>
    <p:sldId id="269" r:id="rId6"/>
    <p:sldId id="270" r:id="rId7"/>
    <p:sldId id="271" r:id="rId8"/>
    <p:sldId id="272" r:id="rId9"/>
    <p:sldId id="291" r:id="rId10"/>
    <p:sldId id="277" r:id="rId11"/>
    <p:sldId id="278" r:id="rId12"/>
    <p:sldId id="279" r:id="rId13"/>
    <p:sldId id="280" r:id="rId14"/>
    <p:sldId id="281" r:id="rId15"/>
    <p:sldId id="282" r:id="rId16"/>
    <p:sldId id="283" r:id="rId17"/>
    <p:sldId id="290" r:id="rId18"/>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9C16"/>
    <a:srgbClr val="156082"/>
    <a:srgbClr val="0B3041"/>
    <a:srgbClr val="CCCCFF"/>
    <a:srgbClr val="E4CDAC"/>
    <a:srgbClr val="7B95AF"/>
    <a:srgbClr val="003764"/>
    <a:srgbClr val="4E95D9"/>
    <a:srgbClr val="AEAEAE"/>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30" autoAdjust="0"/>
    <p:restoredTop sz="94038" autoAdjust="0"/>
  </p:normalViewPr>
  <p:slideViewPr>
    <p:cSldViewPr snapToGrid="0">
      <p:cViewPr varScale="1">
        <p:scale>
          <a:sx n="65" d="100"/>
          <a:sy n="65" d="100"/>
        </p:scale>
        <p:origin x="82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e Manuel Figueroa Hernandez" userId="c23fd2b0-07fd-455e-80a2-756e0be2378e" providerId="ADAL" clId="{19EAFD33-AF50-43D6-BF52-FC06C69CD06D}"/>
    <pc:docChg chg="delSld modSld">
      <pc:chgData name="Jose Manuel Figueroa Hernandez" userId="c23fd2b0-07fd-455e-80a2-756e0be2378e" providerId="ADAL" clId="{19EAFD33-AF50-43D6-BF52-FC06C69CD06D}" dt="2026-09-23T22:15:07.545" v="14" actId="47"/>
      <pc:docMkLst>
        <pc:docMk/>
      </pc:docMkLst>
      <pc:sldChg chg="del">
        <pc:chgData name="Jose Manuel Figueroa Hernandez" userId="c23fd2b0-07fd-455e-80a2-756e0be2378e" providerId="ADAL" clId="{19EAFD33-AF50-43D6-BF52-FC06C69CD06D}" dt="2026-09-23T22:13:23.744" v="0" actId="47"/>
        <pc:sldMkLst>
          <pc:docMk/>
          <pc:sldMk cId="0" sldId="256"/>
        </pc:sldMkLst>
      </pc:sldChg>
      <pc:sldChg chg="del">
        <pc:chgData name="Jose Manuel Figueroa Hernandez" userId="c23fd2b0-07fd-455e-80a2-756e0be2378e" providerId="ADAL" clId="{19EAFD33-AF50-43D6-BF52-FC06C69CD06D}" dt="2026-09-23T22:13:24.796" v="1" actId="47"/>
        <pc:sldMkLst>
          <pc:docMk/>
          <pc:sldMk cId="0" sldId="257"/>
        </pc:sldMkLst>
      </pc:sldChg>
      <pc:sldChg chg="del">
        <pc:chgData name="Jose Manuel Figueroa Hernandez" userId="c23fd2b0-07fd-455e-80a2-756e0be2378e" providerId="ADAL" clId="{19EAFD33-AF50-43D6-BF52-FC06C69CD06D}" dt="2026-09-23T22:13:25.681" v="2" actId="47"/>
        <pc:sldMkLst>
          <pc:docMk/>
          <pc:sldMk cId="0" sldId="258"/>
        </pc:sldMkLst>
      </pc:sldChg>
      <pc:sldChg chg="del">
        <pc:chgData name="Jose Manuel Figueroa Hernandez" userId="c23fd2b0-07fd-455e-80a2-756e0be2378e" providerId="ADAL" clId="{19EAFD33-AF50-43D6-BF52-FC06C69CD06D}" dt="2026-09-23T22:13:27.921" v="3" actId="47"/>
        <pc:sldMkLst>
          <pc:docMk/>
          <pc:sldMk cId="0" sldId="259"/>
        </pc:sldMkLst>
      </pc:sldChg>
      <pc:sldChg chg="del">
        <pc:chgData name="Jose Manuel Figueroa Hernandez" userId="c23fd2b0-07fd-455e-80a2-756e0be2378e" providerId="ADAL" clId="{19EAFD33-AF50-43D6-BF52-FC06C69CD06D}" dt="2026-09-23T22:13:28.839" v="4" actId="47"/>
        <pc:sldMkLst>
          <pc:docMk/>
          <pc:sldMk cId="0" sldId="260"/>
        </pc:sldMkLst>
      </pc:sldChg>
      <pc:sldChg chg="del">
        <pc:chgData name="Jose Manuel Figueroa Hernandez" userId="c23fd2b0-07fd-455e-80a2-756e0be2378e" providerId="ADAL" clId="{19EAFD33-AF50-43D6-BF52-FC06C69CD06D}" dt="2026-09-23T22:13:29.764" v="5" actId="47"/>
        <pc:sldMkLst>
          <pc:docMk/>
          <pc:sldMk cId="0" sldId="261"/>
        </pc:sldMkLst>
      </pc:sldChg>
      <pc:sldChg chg="del">
        <pc:chgData name="Jose Manuel Figueroa Hernandez" userId="c23fd2b0-07fd-455e-80a2-756e0be2378e" providerId="ADAL" clId="{19EAFD33-AF50-43D6-BF52-FC06C69CD06D}" dt="2026-09-23T22:13:30.751" v="6" actId="47"/>
        <pc:sldMkLst>
          <pc:docMk/>
          <pc:sldMk cId="0" sldId="262"/>
        </pc:sldMkLst>
      </pc:sldChg>
      <pc:sldChg chg="modSp mod">
        <pc:chgData name="Jose Manuel Figueroa Hernandez" userId="c23fd2b0-07fd-455e-80a2-756e0be2378e" providerId="ADAL" clId="{19EAFD33-AF50-43D6-BF52-FC06C69CD06D}" dt="2026-09-23T22:14:18.880" v="9" actId="20577"/>
        <pc:sldMkLst>
          <pc:docMk/>
          <pc:sldMk cId="0" sldId="263"/>
        </pc:sldMkLst>
        <pc:spChg chg="mod">
          <ac:chgData name="Jose Manuel Figueroa Hernandez" userId="c23fd2b0-07fd-455e-80a2-756e0be2378e" providerId="ADAL" clId="{19EAFD33-AF50-43D6-BF52-FC06C69CD06D}" dt="2026-09-23T22:14:18.880" v="9" actId="20577"/>
          <ac:spMkLst>
            <pc:docMk/>
            <pc:sldMk cId="0" sldId="263"/>
            <ac:spMk id="2" creationId="{00000000-0000-0000-0000-000000000000}"/>
          </ac:spMkLst>
        </pc:spChg>
      </pc:sldChg>
      <pc:sldChg chg="del">
        <pc:chgData name="Jose Manuel Figueroa Hernandez" userId="c23fd2b0-07fd-455e-80a2-756e0be2378e" providerId="ADAL" clId="{19EAFD33-AF50-43D6-BF52-FC06C69CD06D}" dt="2026-09-23T22:14:35.506" v="10" actId="47"/>
        <pc:sldMkLst>
          <pc:docMk/>
          <pc:sldMk cId="0" sldId="264"/>
        </pc:sldMkLst>
      </pc:sldChg>
      <pc:sldChg chg="del">
        <pc:chgData name="Jose Manuel Figueroa Hernandez" userId="c23fd2b0-07fd-455e-80a2-756e0be2378e" providerId="ADAL" clId="{19EAFD33-AF50-43D6-BF52-FC06C69CD06D}" dt="2026-09-23T22:14:37.349" v="11" actId="47"/>
        <pc:sldMkLst>
          <pc:docMk/>
          <pc:sldMk cId="0" sldId="265"/>
        </pc:sldMkLst>
      </pc:sldChg>
      <pc:sldChg chg="del">
        <pc:chgData name="Jose Manuel Figueroa Hernandez" userId="c23fd2b0-07fd-455e-80a2-756e0be2378e" providerId="ADAL" clId="{19EAFD33-AF50-43D6-BF52-FC06C69CD06D}" dt="2026-09-23T22:15:07.545" v="14" actId="47"/>
        <pc:sldMkLst>
          <pc:docMk/>
          <pc:sldMk cId="0" sldId="287"/>
        </pc:sldMkLst>
      </pc:sldChg>
      <pc:sldChg chg="del">
        <pc:chgData name="Jose Manuel Figueroa Hernandez" userId="c23fd2b0-07fd-455e-80a2-756e0be2378e" providerId="ADAL" clId="{19EAFD33-AF50-43D6-BF52-FC06C69CD06D}" dt="2026-09-23T22:15:04.497" v="12" actId="47"/>
        <pc:sldMkLst>
          <pc:docMk/>
          <pc:sldMk cId="0" sldId="288"/>
        </pc:sldMkLst>
      </pc:sldChg>
      <pc:sldChg chg="del">
        <pc:chgData name="Jose Manuel Figueroa Hernandez" userId="c23fd2b0-07fd-455e-80a2-756e0be2378e" providerId="ADAL" clId="{19EAFD33-AF50-43D6-BF52-FC06C69CD06D}" dt="2026-09-23T22:15:06.062" v="13" actId="47"/>
        <pc:sldMkLst>
          <pc:docMk/>
          <pc:sldMk cId="0"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313DD9-E4B5-4997-8BD0-CCD1D82A46CA}" type="datetimeFigureOut">
              <a:rPr lang="es-MX" smtClean="0"/>
              <a:t>23/09/2026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F0ECBA-0A42-439B-8BB1-7C8EF8AA3563}" type="slidenum">
              <a:rPr lang="es-MX" smtClean="0"/>
              <a:t>‹Nº›</a:t>
            </a:fld>
            <a:endParaRPr lang="es-MX"/>
          </a:p>
        </p:txBody>
      </p:sp>
    </p:spTree>
    <p:extLst>
      <p:ext uri="{BB962C8B-B14F-4D97-AF65-F5344CB8AC3E}">
        <p14:creationId xmlns:p14="http://schemas.microsoft.com/office/powerpoint/2010/main" val="740494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Inducción. Respuesta esperada: no basta. MEPT 4.2.1: el Nivel 1 no se acredita únicamente por la asistencia a un curso previo; se desarrolla en el contexto del puesto de trabajo, ante un Instructor OJT designado, y se evalúa.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4.1: 1) Instructor OJT con experiencia, conocimientos y habilidades, designado por el Director de Área, Comandante del AICM, del AIFA o Regional, con la anuencia del Director del CIAAC a través de la CPEPT. 2) Capacitación básica previa acreditada, instructor competente y designado para la tarea, programación autorizada, procedimientos vigentes, recursos disponibles y criterios de desempeño definidos (se aplican 4.2.4 a 4.2.6). 3) Todo entrenamiento se documenta y conserva en los expedientes del IVA y en el Módulo OJT.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 antes de iniciar, el Instructor OJT verifica requisitos de ingreso, alcance, procedimientos y formatos vigentes, recursos y criterios de evaluación, y explica al aprendiz los resultados que deberá demostrar. MEPT 5.3.7 (nota): el IVA que no haya concluido un curso básico no podrá sujetarse al entrenamiento en el puesto de trabajo.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OJT se desarrolla de manera progresiva por tarea y subtarea, conforme al plan individual y a la programación autorizada. Comprende conocimiento aplicado (Nivel 1), demostración (Nivel 2) y ejecución evaluada (Nivel 3).</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4.2.1: el Instructor OJT relaciona los conocimientos del curso básico con la tarea: objetivos, fundamento, procedimientos, secuencia, recursos, registros, responsabilidades y condiciones de seguridad. Si el curso previo incluyó una práctica real o simulada, ésta debe evaluarse para cumplir las condiciones mínimas de una tarea OJT. Se registran aspectos verificados, método, resultado y necesidades de reforzamiento.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4.2.2: el registro identifica lo demostrado, la participación del aprendiz, la comprobación realizada, la retroalimentación y el resultado. La coadyuvancia no sustituye la demostración del instructor.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4.2.3: antes de la evaluación final puede haber prácticas supervisadas; lo realizado con ayuda es formación, no demostración final. Si el instructor resuelve una decisión sustantiva o asume una parte de la ejecución, lo documenta y esa parte no se acredita como desempeño autónomo. Cada evento corresponde a una tarea y un nivel; pueden requerirse varios eventos.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Tema complementario sugerido para la carta descriptiva (el MEPT R06 lo vincula con los requisitos y la progresión). El ICOJT coordina la revisión; el Instructor OJT o Principal competente evalúa la equivalencia por tarea y nivel. La fecha del dictamen no reemplaza la fecha real del entrenamiento. Si no se acredita ningún nivel, se inicia en el Nivel 1. La convalidación se documenta en el campo de observaciones del formato y de la bitácora.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Especialidades del personal IVA (MEPT 4.3). La agrupación por áreas es un organizador didáctico; la numeración y las claves corresponden a la tabla del MEPT. Corrección respecto de la presentación base: la especialidad 24 es IV-TTA (Inspector Verificador en Tarifas de Transporte Aéreo y de Aeropuertos, Competencia Efectiva y de Regulación Económica).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Especialidades del personal IVA (MEPT 4.3). La agrupación por áreas es un organizador didáctico; la numeración y las claves corresponden a la tabla del MEPT. Corrección respecto de la presentación base: la especialidad 24 es IV-TTA (Inspector Verificador en Tarifas de Transporte Aéreo y de Aeropuertos, Competencia Efectiva y de Regulación Económica).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Especialidades del personal IVA (MEPT 4.3). La agrupación por áreas es un organizador didáctico; la numeración y las claves corresponden a la tabla del MEPT. Corrección respecto de la presentación base: la especialidad 24 es IV-TTA (Inspector Verificador en Tarifas de Transporte Aéreo y de Aeropuertos, Competencia Efectiva y de Regulación Económica). Las especialidades de Accidentes e Incidentes (AIG) y Búsqueda y Salvamento (SAR) se atienden a solicitud de la DAAIA de la SICT mediante convenios. Las nuevas especialidades se solicitan a la Dirección del CIAAC.</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4.6: el Director del CIAAC, a través del Coordinador del Programa OJT, envía la solicitud por correo institucional y después documenta por oficio la designación. Las funciones de cada figura están en 3.4.5, 3.4.6 y 3.4.7.</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Tabla descriptiva TD-DCIA-CPEPT-03-R04 (14 pasos, resumidos). Indicador 4.7.8: cobertura de necesidades de instructores, evaluación mensual. La habilitación en el Módulo OJT no constituye designación.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4.8: la antigüedad no sustituye los demás requisitos. La designación identifica las tareas que puede instruir y evaluar; el ICOJT, con el IPOJT, revisa ese alcance ante cambios de procedimientos, inactividad o resultados insuficientes. Los impedimentos para una evaluación imparcial se comunican para asignar otro evaluador.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F8A2C392-B539-B6D8-7851-5351BEE0B7B2}"/>
              </a:ext>
            </a:extLst>
          </p:cNvPr>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p:blipFill>
        <p:spPr bwMode="auto">
          <a:xfrm>
            <a:off x="3855720" y="1760220"/>
            <a:ext cx="8336280" cy="5097780"/>
          </a:xfrm>
          <a:prstGeom prst="rect">
            <a:avLst/>
          </a:prstGeom>
        </p:spPr>
      </p:pic>
      <p:sp>
        <p:nvSpPr>
          <p:cNvPr id="2" name="Título 1">
            <a:extLst>
              <a:ext uri="{FF2B5EF4-FFF2-40B4-BE49-F238E27FC236}">
                <a16:creationId xmlns:a16="http://schemas.microsoft.com/office/drawing/2014/main" id="{E783C967-2F54-09E4-AA30-298CA5655112}"/>
              </a:ext>
            </a:extLst>
          </p:cNvPr>
          <p:cNvSpPr>
            <a:spLocks noGrp="1"/>
          </p:cNvSpPr>
          <p:nvPr>
            <p:ph type="ctrTitle"/>
          </p:nvPr>
        </p:nvSpPr>
        <p:spPr>
          <a:xfrm>
            <a:off x="1524000" y="2235200"/>
            <a:ext cx="9144000" cy="2387600"/>
          </a:xfrm>
        </p:spPr>
        <p:txBody>
          <a:bodyPr anchor="ctr"/>
          <a:lstStyle>
            <a:lvl1pPr algn="ctr">
              <a:defRPr sz="6000"/>
            </a:lvl1pPr>
          </a:lstStyle>
          <a:p>
            <a:r>
              <a:rPr lang="es-ES" dirty="0"/>
              <a:t>Haga clic para modificar el estilo de título del patrón</a:t>
            </a:r>
            <a:endParaRPr lang="es-MX" dirty="0"/>
          </a:p>
        </p:txBody>
      </p:sp>
      <p:pic>
        <p:nvPicPr>
          <p:cNvPr id="18" name="Imagen 17">
            <a:extLst>
              <a:ext uri="{FF2B5EF4-FFF2-40B4-BE49-F238E27FC236}">
                <a16:creationId xmlns:a16="http://schemas.microsoft.com/office/drawing/2014/main" id="{BB59DC73-C653-C81C-D52E-0C69633752F9}"/>
              </a:ext>
            </a:extLst>
          </p:cNvPr>
          <p:cNvPicPr>
            <a:picLocks noChangeAspect="1"/>
          </p:cNvPicPr>
          <p:nvPr userDrawn="1"/>
        </p:nvPicPr>
        <p:blipFill>
          <a:blip r:embed="rId3">
            <a:alphaModFix amt="85000"/>
          </a:blip>
          <a:stretch>
            <a:fillRect/>
          </a:stretch>
        </p:blipFill>
        <p:spPr>
          <a:xfrm>
            <a:off x="2210987" y="4899638"/>
            <a:ext cx="7766977" cy="1072989"/>
          </a:xfrm>
          <a:prstGeom prst="rect">
            <a:avLst/>
          </a:prstGeom>
        </p:spPr>
      </p:pic>
      <p:pic>
        <p:nvPicPr>
          <p:cNvPr id="25" name="Imagen 24">
            <a:extLst>
              <a:ext uri="{FF2B5EF4-FFF2-40B4-BE49-F238E27FC236}">
                <a16:creationId xmlns:a16="http://schemas.microsoft.com/office/drawing/2014/main" id="{A8FDDAFA-5E8D-9796-4199-96DDF49E0C4F}"/>
              </a:ext>
            </a:extLst>
          </p:cNvPr>
          <p:cNvPicPr>
            <a:picLocks noChangeAspect="1"/>
          </p:cNvPicPr>
          <p:nvPr userDrawn="1"/>
        </p:nvPicPr>
        <p:blipFill>
          <a:blip r:embed="rId4"/>
          <a:srcRect l="365" t="2142" b="1"/>
          <a:stretch/>
        </p:blipFill>
        <p:spPr>
          <a:xfrm>
            <a:off x="-1525" y="0"/>
            <a:ext cx="12192000" cy="2031091"/>
          </a:xfrm>
          <a:prstGeom prst="rect">
            <a:avLst/>
          </a:prstGeom>
        </p:spPr>
      </p:pic>
    </p:spTree>
    <p:extLst>
      <p:ext uri="{BB962C8B-B14F-4D97-AF65-F5344CB8AC3E}">
        <p14:creationId xmlns:p14="http://schemas.microsoft.com/office/powerpoint/2010/main" val="1689787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Diapositiva de título, fin de presentación">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F8A2C392-B539-B6D8-7851-5351BEE0B7B2}"/>
              </a:ext>
            </a:extLst>
          </p:cNvPr>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p:blipFill>
        <p:spPr bwMode="auto">
          <a:xfrm>
            <a:off x="3855720" y="1760220"/>
            <a:ext cx="8336280" cy="5097780"/>
          </a:xfrm>
          <a:prstGeom prst="rect">
            <a:avLst/>
          </a:prstGeom>
        </p:spPr>
      </p:pic>
      <p:cxnSp>
        <p:nvCxnSpPr>
          <p:cNvPr id="6" name="Conector recto 5">
            <a:extLst>
              <a:ext uri="{FF2B5EF4-FFF2-40B4-BE49-F238E27FC236}">
                <a16:creationId xmlns:a16="http://schemas.microsoft.com/office/drawing/2014/main" id="{66826DB8-4520-87EC-C957-39CC5FEDDF23}"/>
              </a:ext>
            </a:extLst>
          </p:cNvPr>
          <p:cNvCxnSpPr>
            <a:cxnSpLocks/>
          </p:cNvCxnSpPr>
          <p:nvPr userDrawn="1"/>
        </p:nvCxnSpPr>
        <p:spPr>
          <a:xfrm>
            <a:off x="2610003" y="3429000"/>
            <a:ext cx="6968946" cy="0"/>
          </a:xfrm>
          <a:prstGeom prst="line">
            <a:avLst/>
          </a:prstGeom>
          <a:ln w="28575">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 name="Título 1">
            <a:extLst>
              <a:ext uri="{FF2B5EF4-FFF2-40B4-BE49-F238E27FC236}">
                <a16:creationId xmlns:a16="http://schemas.microsoft.com/office/drawing/2014/main" id="{14770139-593C-68D8-65A7-D32A6375DD90}"/>
              </a:ext>
            </a:extLst>
          </p:cNvPr>
          <p:cNvSpPr>
            <a:spLocks noGrp="1"/>
          </p:cNvSpPr>
          <p:nvPr>
            <p:ph type="ctrTitle"/>
          </p:nvPr>
        </p:nvSpPr>
        <p:spPr>
          <a:xfrm>
            <a:off x="2429619" y="1992089"/>
            <a:ext cx="7329714" cy="1436911"/>
          </a:xfrm>
        </p:spPr>
        <p:txBody>
          <a:bodyPr anchor="ctr">
            <a:noAutofit/>
          </a:bodyPr>
          <a:lstStyle>
            <a:lvl1pPr algn="ctr">
              <a:defRPr sz="5000"/>
            </a:lvl1pPr>
          </a:lstStyle>
          <a:p>
            <a:endParaRPr lang="es-MX" dirty="0"/>
          </a:p>
        </p:txBody>
      </p:sp>
      <p:pic>
        <p:nvPicPr>
          <p:cNvPr id="3" name="Imagen 2">
            <a:extLst>
              <a:ext uri="{FF2B5EF4-FFF2-40B4-BE49-F238E27FC236}">
                <a16:creationId xmlns:a16="http://schemas.microsoft.com/office/drawing/2014/main" id="{351A90F6-F9C8-C3DC-0206-47FA2B0E52A1}"/>
              </a:ext>
            </a:extLst>
          </p:cNvPr>
          <p:cNvPicPr>
            <a:picLocks noChangeAspect="1"/>
          </p:cNvPicPr>
          <p:nvPr userDrawn="1"/>
        </p:nvPicPr>
        <p:blipFill>
          <a:blip r:embed="rId3">
            <a:alphaModFix amt="85000"/>
          </a:blip>
          <a:stretch>
            <a:fillRect/>
          </a:stretch>
        </p:blipFill>
        <p:spPr>
          <a:xfrm>
            <a:off x="2210987" y="3772615"/>
            <a:ext cx="7766977" cy="1072989"/>
          </a:xfrm>
          <a:prstGeom prst="rect">
            <a:avLst/>
          </a:prstGeom>
        </p:spPr>
      </p:pic>
      <p:pic>
        <p:nvPicPr>
          <p:cNvPr id="4" name="Imagen 3">
            <a:extLst>
              <a:ext uri="{FF2B5EF4-FFF2-40B4-BE49-F238E27FC236}">
                <a16:creationId xmlns:a16="http://schemas.microsoft.com/office/drawing/2014/main" id="{FAADA8D9-AE01-0879-2B0F-D35E84BE75D9}"/>
              </a:ext>
            </a:extLst>
          </p:cNvPr>
          <p:cNvPicPr>
            <a:picLocks noChangeAspect="1"/>
          </p:cNvPicPr>
          <p:nvPr userDrawn="1"/>
        </p:nvPicPr>
        <p:blipFill>
          <a:blip r:embed="rId4"/>
          <a:srcRect l="365" t="2142" b="1"/>
          <a:stretch/>
        </p:blipFill>
        <p:spPr>
          <a:xfrm>
            <a:off x="-1525" y="0"/>
            <a:ext cx="12192000" cy="2031091"/>
          </a:xfrm>
          <a:prstGeom prst="rect">
            <a:avLst/>
          </a:prstGeom>
        </p:spPr>
      </p:pic>
    </p:spTree>
    <p:extLst>
      <p:ext uri="{BB962C8B-B14F-4D97-AF65-F5344CB8AC3E}">
        <p14:creationId xmlns:p14="http://schemas.microsoft.com/office/powerpoint/2010/main" val="2568854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9625AD5-FD90-7ED4-A463-1E5CB822AAE6}"/>
              </a:ext>
            </a:extLst>
          </p:cNvPr>
          <p:cNvPicPr>
            <a:picLocks noChangeAspect="1"/>
          </p:cNvPicPr>
          <p:nvPr userDrawn="1"/>
        </p:nvPicPr>
        <p:blipFill>
          <a:blip r:embed="rId2"/>
          <a:srcRect l="365" b="4156"/>
          <a:stretch/>
        </p:blipFill>
        <p:spPr>
          <a:xfrm>
            <a:off x="0" y="0"/>
            <a:ext cx="12192000" cy="1416049"/>
          </a:xfrm>
          <a:prstGeom prst="rect">
            <a:avLst/>
          </a:prstGeom>
        </p:spPr>
      </p:pic>
      <p:sp>
        <p:nvSpPr>
          <p:cNvPr id="2" name="Título 1">
            <a:extLst>
              <a:ext uri="{FF2B5EF4-FFF2-40B4-BE49-F238E27FC236}">
                <a16:creationId xmlns:a16="http://schemas.microsoft.com/office/drawing/2014/main" id="{798B7789-9006-E47A-926E-AC183E21524C}"/>
              </a:ext>
            </a:extLst>
          </p:cNvPr>
          <p:cNvSpPr>
            <a:spLocks noGrp="1"/>
          </p:cNvSpPr>
          <p:nvPr>
            <p:ph type="title"/>
          </p:nvPr>
        </p:nvSpPr>
        <p:spPr>
          <a:xfrm>
            <a:off x="3033486" y="0"/>
            <a:ext cx="8955314" cy="1325563"/>
          </a:xfrm>
        </p:spPr>
        <p:txBody>
          <a:bodyPr>
            <a:normAutofit/>
          </a:bodyPr>
          <a:lstStyle>
            <a:lvl1pPr algn="just">
              <a:defRPr sz="4000">
                <a:solidFill>
                  <a:schemeClr val="bg1"/>
                </a:solidFill>
              </a:defRPr>
            </a:lvl1pPr>
          </a:lstStyle>
          <a:p>
            <a:r>
              <a:rPr lang="es-ES" dirty="0"/>
              <a:t>Haga clic para modificar el estilo de título del patrón</a:t>
            </a:r>
            <a:endParaRPr lang="es-MX" dirty="0"/>
          </a:p>
        </p:txBody>
      </p:sp>
      <p:pic>
        <p:nvPicPr>
          <p:cNvPr id="7" name="Imagen 6" descr="Patrón de fondo&#10;&#10;Descripción generada automáticamente">
            <a:extLst>
              <a:ext uri="{FF2B5EF4-FFF2-40B4-BE49-F238E27FC236}">
                <a16:creationId xmlns:a16="http://schemas.microsoft.com/office/drawing/2014/main" id="{A6FA8314-6B07-608F-1066-971AAD270147}"/>
              </a:ext>
            </a:extLst>
          </p:cNvPr>
          <p:cNvPicPr>
            <a:picLocks noChangeAspect="1"/>
          </p:cNvPicPr>
          <p:nvPr userDrawn="1"/>
        </p:nvPicPr>
        <p:blipFill>
          <a:blip r:embed="rId3"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Tree>
    <p:extLst>
      <p:ext uri="{BB962C8B-B14F-4D97-AF65-F5344CB8AC3E}">
        <p14:creationId xmlns:p14="http://schemas.microsoft.com/office/powerpoint/2010/main" val="1933240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CBA6592-4655-ECA7-5E54-6A226619694F}"/>
              </a:ext>
            </a:extLst>
          </p:cNvPr>
          <p:cNvPicPr>
            <a:picLocks noChangeAspect="1"/>
          </p:cNvPicPr>
          <p:nvPr userDrawn="1"/>
        </p:nvPicPr>
        <p:blipFill>
          <a:blip r:embed="rId2"/>
          <a:srcRect l="365" b="4156"/>
          <a:stretch/>
        </p:blipFill>
        <p:spPr>
          <a:xfrm>
            <a:off x="0" y="0"/>
            <a:ext cx="12192000" cy="1416049"/>
          </a:xfrm>
          <a:prstGeom prst="rect">
            <a:avLst/>
          </a:prstGeom>
        </p:spPr>
      </p:pic>
      <p:sp>
        <p:nvSpPr>
          <p:cNvPr id="2" name="Título 1">
            <a:extLst>
              <a:ext uri="{FF2B5EF4-FFF2-40B4-BE49-F238E27FC236}">
                <a16:creationId xmlns:a16="http://schemas.microsoft.com/office/drawing/2014/main" id="{798B7789-9006-E47A-926E-AC183E21524C}"/>
              </a:ext>
            </a:extLst>
          </p:cNvPr>
          <p:cNvSpPr>
            <a:spLocks noGrp="1"/>
          </p:cNvSpPr>
          <p:nvPr>
            <p:ph type="title"/>
          </p:nvPr>
        </p:nvSpPr>
        <p:spPr>
          <a:xfrm>
            <a:off x="3033486" y="0"/>
            <a:ext cx="8955314" cy="1325563"/>
          </a:xfrm>
        </p:spPr>
        <p:txBody>
          <a:bodyPr>
            <a:normAutofit/>
          </a:bodyPr>
          <a:lstStyle>
            <a:lvl1pPr algn="just">
              <a:defRPr sz="4000">
                <a:solidFill>
                  <a:schemeClr val="bg1"/>
                </a:solidFill>
              </a:defRPr>
            </a:lvl1pPr>
          </a:lstStyle>
          <a:p>
            <a:r>
              <a:rPr lang="es-ES" dirty="0"/>
              <a:t>Haga clic para modificar el estilo de título del patrón</a:t>
            </a:r>
            <a:endParaRPr lang="es-MX" dirty="0"/>
          </a:p>
        </p:txBody>
      </p:sp>
      <p:pic>
        <p:nvPicPr>
          <p:cNvPr id="7" name="Imagen 6" descr="Patrón de fondo&#10;&#10;Descripción generada automáticamente">
            <a:extLst>
              <a:ext uri="{FF2B5EF4-FFF2-40B4-BE49-F238E27FC236}">
                <a16:creationId xmlns:a16="http://schemas.microsoft.com/office/drawing/2014/main" id="{A6FA8314-6B07-608F-1066-971AAD270147}"/>
              </a:ext>
            </a:extLst>
          </p:cNvPr>
          <p:cNvPicPr>
            <a:picLocks noChangeAspect="1"/>
          </p:cNvPicPr>
          <p:nvPr userDrawn="1"/>
        </p:nvPicPr>
        <p:blipFill>
          <a:blip r:embed="rId3"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Tree>
    <p:extLst>
      <p:ext uri="{BB962C8B-B14F-4D97-AF65-F5344CB8AC3E}">
        <p14:creationId xmlns:p14="http://schemas.microsoft.com/office/powerpoint/2010/main" val="418853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2" name="Imagen 1" descr="Patrón de fondo&#10;&#10;Descripción generada automáticamente">
            <a:extLst>
              <a:ext uri="{FF2B5EF4-FFF2-40B4-BE49-F238E27FC236}">
                <a16:creationId xmlns:a16="http://schemas.microsoft.com/office/drawing/2014/main" id="{A5A1F8B5-C537-E163-7F62-A12931C7E165}"/>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
        <p:nvSpPr>
          <p:cNvPr id="4" name="Rectángulo 3">
            <a:extLst>
              <a:ext uri="{FF2B5EF4-FFF2-40B4-BE49-F238E27FC236}">
                <a16:creationId xmlns:a16="http://schemas.microsoft.com/office/drawing/2014/main" id="{801879A4-A5B6-7D86-61D5-66ACD9BA94ED}"/>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3131143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3_En blanco">
    <p:spTree>
      <p:nvGrpSpPr>
        <p:cNvPr id="1" name=""/>
        <p:cNvGrpSpPr/>
        <p:nvPr/>
      </p:nvGrpSpPr>
      <p:grpSpPr>
        <a:xfrm>
          <a:off x="0" y="0"/>
          <a:ext cx="0" cy="0"/>
          <a:chOff x="0" y="0"/>
          <a:chExt cx="0" cy="0"/>
        </a:xfrm>
      </p:grpSpPr>
      <p:pic>
        <p:nvPicPr>
          <p:cNvPr id="4" name="Imagen 3" descr="Patrón de fondo&#10;&#10;Descripción generada automáticamente">
            <a:extLst>
              <a:ext uri="{FF2B5EF4-FFF2-40B4-BE49-F238E27FC236}">
                <a16:creationId xmlns:a16="http://schemas.microsoft.com/office/drawing/2014/main" id="{634EBF27-8651-00A8-AF4C-4E9644167F6A}"/>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
        <p:nvSpPr>
          <p:cNvPr id="5" name="Rectángulo 4">
            <a:extLst>
              <a:ext uri="{FF2B5EF4-FFF2-40B4-BE49-F238E27FC236}">
                <a16:creationId xmlns:a16="http://schemas.microsoft.com/office/drawing/2014/main" id="{FBE94F59-AD2E-40B1-B026-72BC4AB241A4}"/>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15826098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2_En blanco">
    <p:spTree>
      <p:nvGrpSpPr>
        <p:cNvPr id="1" name=""/>
        <p:cNvGrpSpPr/>
        <p:nvPr/>
      </p:nvGrpSpPr>
      <p:grpSpPr>
        <a:xfrm>
          <a:off x="0" y="0"/>
          <a:ext cx="0" cy="0"/>
          <a:chOff x="0" y="0"/>
          <a:chExt cx="0" cy="0"/>
        </a:xfrm>
      </p:grpSpPr>
      <p:pic>
        <p:nvPicPr>
          <p:cNvPr id="2" name="Imagen 1" descr="Patrón de fondo&#10;&#10;Descripción generada automáticamente">
            <a:extLst>
              <a:ext uri="{FF2B5EF4-FFF2-40B4-BE49-F238E27FC236}">
                <a16:creationId xmlns:a16="http://schemas.microsoft.com/office/drawing/2014/main" id="{A5A1F8B5-C537-E163-7F62-A12931C7E165}"/>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58058" y="66706"/>
            <a:ext cx="992252" cy="702553"/>
          </a:xfrm>
          <a:prstGeom prst="rect">
            <a:avLst/>
          </a:prstGeom>
        </p:spPr>
      </p:pic>
      <p:sp>
        <p:nvSpPr>
          <p:cNvPr id="5" name="Rectángulo 4">
            <a:extLst>
              <a:ext uri="{FF2B5EF4-FFF2-40B4-BE49-F238E27FC236}">
                <a16:creationId xmlns:a16="http://schemas.microsoft.com/office/drawing/2014/main" id="{79621210-2A91-1552-D4F2-DF2766531006}"/>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744666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4" name="Imagen 3" descr="Patrón de fondo&#10;&#10;Descripción generada automáticamente">
            <a:extLst>
              <a:ext uri="{FF2B5EF4-FFF2-40B4-BE49-F238E27FC236}">
                <a16:creationId xmlns:a16="http://schemas.microsoft.com/office/drawing/2014/main" id="{CEFCEBEC-42C8-C58C-CD8C-206F9034235D}"/>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Tree>
    <p:extLst>
      <p:ext uri="{BB962C8B-B14F-4D97-AF65-F5344CB8AC3E}">
        <p14:creationId xmlns:p14="http://schemas.microsoft.com/office/powerpoint/2010/main" val="30911022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5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3" name="Imagen 2" descr="Patrón de fondo&#10;&#10;Descripción generada automáticamente">
            <a:extLst>
              <a:ext uri="{FF2B5EF4-FFF2-40B4-BE49-F238E27FC236}">
                <a16:creationId xmlns:a16="http://schemas.microsoft.com/office/drawing/2014/main" id="{532B9242-CE35-04A2-18AA-987DB5B40A5D}"/>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Tree>
    <p:extLst>
      <p:ext uri="{BB962C8B-B14F-4D97-AF65-F5344CB8AC3E}">
        <p14:creationId xmlns:p14="http://schemas.microsoft.com/office/powerpoint/2010/main" val="3391567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4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3" name="Imagen 2" descr="Patrón de fondo&#10;&#10;Descripción generada automáticamente">
            <a:extLst>
              <a:ext uri="{FF2B5EF4-FFF2-40B4-BE49-F238E27FC236}">
                <a16:creationId xmlns:a16="http://schemas.microsoft.com/office/drawing/2014/main" id="{85BD324A-C024-0077-DF8F-20DCA813AADF}"/>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58058" y="66706"/>
            <a:ext cx="992252" cy="702553"/>
          </a:xfrm>
          <a:prstGeom prst="rect">
            <a:avLst/>
          </a:prstGeom>
        </p:spPr>
      </p:pic>
    </p:spTree>
    <p:extLst>
      <p:ext uri="{BB962C8B-B14F-4D97-AF65-F5344CB8AC3E}">
        <p14:creationId xmlns:p14="http://schemas.microsoft.com/office/powerpoint/2010/main" val="2011138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D3F39D5-2B33-B76C-39CA-AE6BED786D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3DBD0F07-E6DF-E238-D01E-6075CA1AE2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Tree>
    <p:extLst>
      <p:ext uri="{BB962C8B-B14F-4D97-AF65-F5344CB8AC3E}">
        <p14:creationId xmlns:p14="http://schemas.microsoft.com/office/powerpoint/2010/main" val="883371375"/>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61" r:id="rId4"/>
    <p:sldLayoutId id="2147483655" r:id="rId5"/>
    <p:sldLayoutId id="2147483664" r:id="rId6"/>
    <p:sldLayoutId id="2147483663" r:id="rId7"/>
    <p:sldLayoutId id="2147483662" r:id="rId8"/>
    <p:sldLayoutId id="2147483666" r:id="rId9"/>
    <p:sldLayoutId id="2147483665"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2103120"/>
            <a:ext cx="10515600" cy="2651760"/>
          </a:xfrm>
        </p:spPr>
        <p:txBody>
          <a:bodyPr wrap="square" anchor="ctr"/>
          <a:lstStyle/>
          <a:p>
            <a:pPr algn="ctr">
              <a:spcAft>
                <a:spcPts val="600"/>
              </a:spcAft>
            </a:pPr>
            <a:r>
              <a:rPr sz="5400" b="0" i="0" u="none" dirty="0" err="1">
                <a:solidFill>
                  <a:srgbClr val="B98A2E"/>
                </a:solidFill>
                <a:latin typeface="Montserrat SemiBold"/>
                <a:ea typeface="Montserrat SemiBold"/>
                <a:cs typeface="Montserrat SemiBold"/>
              </a:rPr>
              <a:t>Módulo</a:t>
            </a:r>
            <a:r>
              <a:rPr sz="5400" b="0" i="0" u="none" dirty="0">
                <a:solidFill>
                  <a:srgbClr val="B98A2E"/>
                </a:solidFill>
                <a:latin typeface="Montserrat SemiBold"/>
                <a:ea typeface="Montserrat SemiBold"/>
                <a:cs typeface="Montserrat SemiBold"/>
              </a:rPr>
              <a:t> 2</a:t>
            </a:r>
          </a:p>
          <a:p>
            <a:pPr algn="ctr">
              <a:spcAft>
                <a:spcPts val="800"/>
              </a:spcAft>
            </a:pPr>
            <a:r>
              <a:rPr sz="4000" b="1" i="0" u="none" dirty="0" err="1">
                <a:solidFill>
                  <a:srgbClr val="0E2A47"/>
                </a:solidFill>
                <a:latin typeface="Montserrat"/>
                <a:ea typeface="Montserrat"/>
                <a:cs typeface="Montserrat"/>
              </a:rPr>
              <a:t>Requisitos</a:t>
            </a:r>
            <a:r>
              <a:rPr sz="4000" b="1" i="0" u="none" dirty="0">
                <a:solidFill>
                  <a:srgbClr val="0E2A47"/>
                </a:solidFill>
                <a:latin typeface="Montserrat"/>
                <a:ea typeface="Montserrat"/>
                <a:cs typeface="Montserrat"/>
              </a:rPr>
              <a:t> de </a:t>
            </a:r>
            <a:r>
              <a:rPr sz="4000" b="1" i="0" u="none" dirty="0" err="1">
                <a:solidFill>
                  <a:srgbClr val="0E2A47"/>
                </a:solidFill>
                <a:latin typeface="Montserrat"/>
                <a:ea typeface="Montserrat"/>
                <a:cs typeface="Montserrat"/>
              </a:rPr>
              <a:t>implementación</a:t>
            </a:r>
            <a:r>
              <a:rPr sz="4000" b="1" i="0" u="none" dirty="0">
                <a:solidFill>
                  <a:srgbClr val="0E2A47"/>
                </a:solidFill>
                <a:latin typeface="Montserrat"/>
                <a:ea typeface="Montserrat"/>
                <a:cs typeface="Montserrat"/>
              </a:rPr>
              <a:t> del </a:t>
            </a:r>
            <a:r>
              <a:rPr sz="4000" b="1" i="0" u="none" dirty="0" err="1">
                <a:solidFill>
                  <a:srgbClr val="0E2A47"/>
                </a:solidFill>
                <a:latin typeface="Montserrat"/>
                <a:ea typeface="Montserrat"/>
                <a:cs typeface="Montserrat"/>
              </a:rPr>
              <a:t>Programa</a:t>
            </a:r>
            <a:r>
              <a:rPr sz="4000" b="1" i="0" u="none" dirty="0">
                <a:solidFill>
                  <a:srgbClr val="0E2A47"/>
                </a:solidFill>
                <a:latin typeface="Montserrat"/>
                <a:ea typeface="Montserrat"/>
                <a:cs typeface="Montserrat"/>
              </a:rPr>
              <a:t> OJT</a:t>
            </a:r>
          </a:p>
          <a:p>
            <a:pPr algn="ctr"/>
            <a:r>
              <a:rPr sz="1600" b="0" i="0" u="none" dirty="0" err="1">
                <a:solidFill>
                  <a:srgbClr val="182430"/>
                </a:solidFill>
                <a:latin typeface="Montserrat SemiBold"/>
                <a:ea typeface="Montserrat SemiBold"/>
                <a:cs typeface="Montserrat SemiBold"/>
              </a:rPr>
              <a:t>Programa</a:t>
            </a:r>
            <a:r>
              <a:rPr sz="1600" b="0" i="0" u="none" dirty="0">
                <a:solidFill>
                  <a:srgbClr val="182430"/>
                </a:solidFill>
                <a:latin typeface="Montserrat SemiBold"/>
                <a:ea typeface="Montserrat SemiBold"/>
                <a:cs typeface="Montserrat SemiBold"/>
              </a:rPr>
              <a:t> de </a:t>
            </a:r>
            <a:r>
              <a:rPr sz="1600" b="0" i="0" u="none" dirty="0" err="1">
                <a:solidFill>
                  <a:srgbClr val="182430"/>
                </a:solidFill>
                <a:latin typeface="Montserrat SemiBold"/>
                <a:ea typeface="Montserrat SemiBold"/>
                <a:cs typeface="Montserrat SemiBold"/>
              </a:rPr>
              <a:t>Entrenamiento</a:t>
            </a:r>
            <a:r>
              <a:rPr sz="1600" b="0" i="0" u="none" dirty="0">
                <a:solidFill>
                  <a:srgbClr val="182430"/>
                </a:solidFill>
                <a:latin typeface="Montserrat SemiBold"/>
                <a:ea typeface="Montserrat SemiBold"/>
                <a:cs typeface="Montserrat SemiBold"/>
              </a:rPr>
              <a:t> </a:t>
            </a:r>
            <a:r>
              <a:rPr sz="1600" b="0" i="0" u="none" dirty="0" err="1">
                <a:solidFill>
                  <a:srgbClr val="182430"/>
                </a:solidFill>
                <a:latin typeface="Montserrat SemiBold"/>
                <a:ea typeface="Montserrat SemiBold"/>
                <a:cs typeface="Montserrat SemiBold"/>
              </a:rPr>
              <a:t>en</a:t>
            </a:r>
            <a:r>
              <a:rPr sz="1600" b="0" i="0" u="none" dirty="0">
                <a:solidFill>
                  <a:srgbClr val="182430"/>
                </a:solidFill>
                <a:latin typeface="Montserrat SemiBold"/>
                <a:ea typeface="Montserrat SemiBold"/>
                <a:cs typeface="Montserrat SemiBold"/>
              </a:rPr>
              <a:t> el Puesto de </a:t>
            </a:r>
            <a:r>
              <a:rPr sz="1600" b="0" i="0" u="none" dirty="0" err="1">
                <a:solidFill>
                  <a:srgbClr val="182430"/>
                </a:solidFill>
                <a:latin typeface="Montserrat SemiBold"/>
                <a:ea typeface="Montserrat SemiBold"/>
                <a:cs typeface="Montserrat SemiBold"/>
              </a:rPr>
              <a:t>Trabajo</a:t>
            </a:r>
            <a:endParaRPr sz="1600" b="0" i="0" u="none" dirty="0">
              <a:solidFill>
                <a:srgbClr val="182430"/>
              </a:solidFill>
              <a:latin typeface="Montserrat SemiBold"/>
              <a:ea typeface="Montserrat SemiBold"/>
              <a:cs typeface="Montserrat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ACTIVIDAD DE INICIO</a:t>
            </a:r>
          </a:p>
          <a:p>
            <a:pPr algn="l"/>
            <a:r>
              <a:rPr sz="2800" b="0" i="0" u="none">
                <a:solidFill>
                  <a:srgbClr val="FFFFFF"/>
                </a:solidFill>
                <a:latin typeface="Montserrat SemiBold"/>
                <a:ea typeface="Montserrat SemiBold"/>
                <a:cs typeface="Montserrat SemiBold"/>
              </a:rPr>
              <a:t>Para iniciar, reflexiona</a:t>
            </a:r>
          </a:p>
        </p:txBody>
      </p:sp>
      <p:pic>
        <p:nvPicPr>
          <p:cNvPr id="3" name="Picture 2" descr="course.png"/>
          <p:cNvPicPr>
            <a:picLocks noChangeAspect="1"/>
          </p:cNvPicPr>
          <p:nvPr/>
        </p:nvPicPr>
        <p:blipFill>
          <a:blip r:embed="rId3"/>
          <a:stretch>
            <a:fillRect/>
          </a:stretch>
        </p:blipFill>
        <p:spPr>
          <a:xfrm>
            <a:off x="8065193" y="2233617"/>
            <a:ext cx="3065083" cy="2390765"/>
          </a:xfrm>
          <a:prstGeom prst="rect">
            <a:avLst/>
          </a:prstGeom>
        </p:spPr>
      </p:pic>
      <p:sp>
        <p:nvSpPr>
          <p:cNvPr id="4" name="TextBox 3"/>
          <p:cNvSpPr txBox="1"/>
          <p:nvPr/>
        </p:nvSpPr>
        <p:spPr>
          <a:xfrm>
            <a:off x="731520" y="1835161"/>
            <a:ext cx="7040880" cy="3785652"/>
          </a:xfrm>
          <a:prstGeom prst="rect">
            <a:avLst/>
          </a:prstGeom>
          <a:noFill/>
        </p:spPr>
        <p:txBody>
          <a:bodyPr wrap="square" lIns="45720" rIns="45720" anchor="t">
            <a:spAutoFit/>
          </a:bodyPr>
          <a:lstStyle/>
          <a:p>
            <a:pPr algn="l">
              <a:lnSpc>
                <a:spcPct val="100000"/>
              </a:lnSpc>
              <a:spcAft>
                <a:spcPts val="1200"/>
              </a:spcAft>
            </a:pPr>
            <a:r>
              <a:rPr sz="2500" b="0" i="0" u="none" dirty="0" err="1">
                <a:solidFill>
                  <a:srgbClr val="182430"/>
                </a:solidFill>
                <a:latin typeface="Montserrat Medium"/>
                <a:ea typeface="Montserrat Medium"/>
                <a:cs typeface="Montserrat Medium"/>
              </a:rPr>
              <a:t>Aprobaste</a:t>
            </a:r>
            <a:r>
              <a:rPr sz="2500" b="0" i="0" u="none" dirty="0">
                <a:solidFill>
                  <a:srgbClr val="182430"/>
                </a:solidFill>
                <a:latin typeface="Montserrat Medium"/>
                <a:ea typeface="Montserrat Medium"/>
                <a:cs typeface="Montserrat Medium"/>
              </a:rPr>
              <a:t> el </a:t>
            </a:r>
            <a:r>
              <a:rPr sz="2500" b="0" i="0" u="none" dirty="0" err="1">
                <a:solidFill>
                  <a:srgbClr val="182430"/>
                </a:solidFill>
                <a:latin typeface="Montserrat Medium"/>
                <a:ea typeface="Montserrat Medium"/>
                <a:cs typeface="Montserrat Medium"/>
              </a:rPr>
              <a:t>curso</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básico</a:t>
            </a:r>
            <a:r>
              <a:rPr sz="2500" b="0" i="0" u="none" dirty="0">
                <a:solidFill>
                  <a:srgbClr val="182430"/>
                </a:solidFill>
                <a:latin typeface="Montserrat Medium"/>
                <a:ea typeface="Montserrat Medium"/>
                <a:cs typeface="Montserrat Medium"/>
              </a:rPr>
              <a:t> de </a:t>
            </a:r>
            <a:r>
              <a:rPr sz="2500" b="0" i="0" u="none" dirty="0" err="1">
                <a:solidFill>
                  <a:srgbClr val="182430"/>
                </a:solidFill>
                <a:latin typeface="Montserrat Medium"/>
                <a:ea typeface="Montserrat Medium"/>
                <a:cs typeface="Montserrat Medium"/>
              </a:rPr>
              <a:t>tu</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especialidad</a:t>
            </a:r>
            <a:r>
              <a:rPr sz="2500" b="0" i="0" u="none" dirty="0">
                <a:solidFill>
                  <a:srgbClr val="182430"/>
                </a:solidFill>
                <a:latin typeface="Montserrat Medium"/>
                <a:ea typeface="Montserrat Medium"/>
                <a:cs typeface="Montserrat Medium"/>
              </a:rPr>
              <a:t>.</a:t>
            </a:r>
          </a:p>
          <a:p>
            <a:pPr marL="347472" indent="-347472" algn="l">
              <a:lnSpc>
                <a:spcPct val="100000"/>
              </a:lnSpc>
              <a:spcAft>
                <a:spcPts val="1200"/>
              </a:spcAft>
              <a:buClr>
                <a:srgbClr val="B98A2E"/>
              </a:buClr>
              <a:buFont typeface="Arial"/>
              <a:buChar char="•"/>
            </a:pPr>
            <a:r>
              <a:rPr sz="2500" b="0" i="0" u="none" dirty="0">
                <a:solidFill>
                  <a:srgbClr val="182430"/>
                </a:solidFill>
                <a:latin typeface="Montserrat Medium"/>
                <a:ea typeface="Montserrat Medium"/>
                <a:cs typeface="Montserrat Medium"/>
              </a:rPr>
              <a:t>¿Eso basta para </a:t>
            </a:r>
            <a:r>
              <a:rPr sz="2500" b="0" i="0" u="none" dirty="0" err="1">
                <a:solidFill>
                  <a:srgbClr val="182430"/>
                </a:solidFill>
                <a:latin typeface="Montserrat Medium"/>
                <a:ea typeface="Montserrat Medium"/>
                <a:cs typeface="Montserrat Medium"/>
              </a:rPr>
              <a:t>acreditar</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una</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tarea</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en</a:t>
            </a:r>
            <a:r>
              <a:rPr sz="2500" b="0" i="0" u="none" dirty="0">
                <a:solidFill>
                  <a:srgbClr val="182430"/>
                </a:solidFill>
                <a:latin typeface="Montserrat Medium"/>
                <a:ea typeface="Montserrat Medium"/>
                <a:cs typeface="Montserrat Medium"/>
              </a:rPr>
              <a:t> campo?</a:t>
            </a:r>
          </a:p>
          <a:p>
            <a:pPr marL="347472" indent="-347472" algn="l">
              <a:lnSpc>
                <a:spcPct val="100000"/>
              </a:lnSpc>
              <a:spcAft>
                <a:spcPts val="1200"/>
              </a:spcAft>
              <a:buClr>
                <a:srgbClr val="B98A2E"/>
              </a:buClr>
              <a:buFont typeface="Arial"/>
              <a:buChar char="•"/>
            </a:pPr>
            <a:r>
              <a:rPr sz="2500" b="0" i="0" u="none" dirty="0">
                <a:solidFill>
                  <a:srgbClr val="182430"/>
                </a:solidFill>
                <a:latin typeface="Montserrat Medium"/>
                <a:ea typeface="Montserrat Medium"/>
                <a:cs typeface="Montserrat Medium"/>
              </a:rPr>
              <a:t>¿</a:t>
            </a:r>
            <a:r>
              <a:rPr sz="2500" b="0" i="0" u="none" dirty="0" err="1">
                <a:solidFill>
                  <a:srgbClr val="182430"/>
                </a:solidFill>
                <a:latin typeface="Montserrat Medium"/>
                <a:ea typeface="Montserrat Medium"/>
                <a:cs typeface="Montserrat Medium"/>
              </a:rPr>
              <a:t>Qué</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tendrías</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que</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demostrar</a:t>
            </a:r>
            <a:r>
              <a:rPr sz="2500" b="0" i="0" u="none" dirty="0">
                <a:solidFill>
                  <a:srgbClr val="182430"/>
                </a:solidFill>
                <a:latin typeface="Montserrat Medium"/>
                <a:ea typeface="Montserrat Medium"/>
                <a:cs typeface="Montserrat Medium"/>
              </a:rPr>
              <a:t> y ante </a:t>
            </a:r>
            <a:r>
              <a:rPr sz="2500" b="0" i="0" u="none" dirty="0" err="1">
                <a:solidFill>
                  <a:srgbClr val="182430"/>
                </a:solidFill>
                <a:latin typeface="Montserrat Medium"/>
                <a:ea typeface="Montserrat Medium"/>
                <a:cs typeface="Montserrat Medium"/>
              </a:rPr>
              <a:t>quién</a:t>
            </a:r>
            <a:r>
              <a:rPr sz="2500" b="0" i="0" u="none" dirty="0">
                <a:solidFill>
                  <a:srgbClr val="182430"/>
                </a:solidFill>
                <a:latin typeface="Montserrat Medium"/>
                <a:ea typeface="Montserrat Medium"/>
                <a:cs typeface="Montserrat Medium"/>
              </a:rPr>
              <a:t>?</a:t>
            </a:r>
            <a:endParaRPr lang="es-MX" sz="2500" b="0" i="0" u="none" dirty="0">
              <a:solidFill>
                <a:srgbClr val="182430"/>
              </a:solidFill>
              <a:latin typeface="Montserrat Medium"/>
              <a:ea typeface="Montserrat Medium"/>
              <a:cs typeface="Montserrat Medium"/>
            </a:endParaRPr>
          </a:p>
          <a:p>
            <a:pPr marL="347472" indent="-347472" algn="l">
              <a:lnSpc>
                <a:spcPct val="100000"/>
              </a:lnSpc>
              <a:spcAft>
                <a:spcPts val="1200"/>
              </a:spcAft>
              <a:buClr>
                <a:srgbClr val="B98A2E"/>
              </a:buClr>
              <a:buFont typeface="Arial"/>
              <a:buChar char="•"/>
            </a:pPr>
            <a:endParaRPr sz="2500" b="0" i="0" u="none" dirty="0">
              <a:solidFill>
                <a:srgbClr val="182430"/>
              </a:solidFill>
              <a:latin typeface="Montserrat Medium"/>
              <a:ea typeface="Montserrat Medium"/>
              <a:cs typeface="Montserrat Medium"/>
            </a:endParaRPr>
          </a:p>
          <a:p>
            <a:pPr algn="ctr">
              <a:lnSpc>
                <a:spcPct val="100000"/>
              </a:lnSpc>
              <a:spcAft>
                <a:spcPts val="1200"/>
              </a:spcAft>
            </a:pPr>
            <a:r>
              <a:rPr sz="2500" b="1" dirty="0" err="1">
                <a:solidFill>
                  <a:srgbClr val="0E2A47"/>
                </a:solidFill>
                <a:highlight>
                  <a:srgbClr val="EFDDB0"/>
                </a:highlight>
                <a:latin typeface="Montserrat Medium"/>
              </a:rPr>
              <a:t>Anota</a:t>
            </a:r>
            <a:r>
              <a:rPr sz="2500" b="1" dirty="0">
                <a:solidFill>
                  <a:srgbClr val="0E2A47"/>
                </a:solidFill>
                <a:highlight>
                  <a:srgbClr val="EFDDB0"/>
                </a:highlight>
                <a:latin typeface="Montserrat Medium"/>
              </a:rPr>
              <a:t> </a:t>
            </a:r>
            <a:r>
              <a:rPr sz="2500" b="1" dirty="0" err="1">
                <a:solidFill>
                  <a:srgbClr val="0E2A47"/>
                </a:solidFill>
                <a:highlight>
                  <a:srgbClr val="EFDDB0"/>
                </a:highlight>
                <a:latin typeface="Montserrat Medium"/>
              </a:rPr>
              <a:t>tu</a:t>
            </a:r>
            <a:r>
              <a:rPr sz="2500" b="1" dirty="0">
                <a:solidFill>
                  <a:srgbClr val="0E2A47"/>
                </a:solidFill>
                <a:highlight>
                  <a:srgbClr val="EFDDB0"/>
                </a:highlight>
                <a:latin typeface="Montserrat Medium"/>
              </a:rPr>
              <a:t> </a:t>
            </a:r>
            <a:r>
              <a:rPr sz="2500" b="1" dirty="0" err="1">
                <a:solidFill>
                  <a:srgbClr val="0E2A47"/>
                </a:solidFill>
                <a:highlight>
                  <a:srgbClr val="EFDDB0"/>
                </a:highlight>
                <a:latin typeface="Montserrat Medium"/>
              </a:rPr>
              <a:t>respuesta</a:t>
            </a:r>
            <a:r>
              <a:rPr sz="2500" b="1" dirty="0">
                <a:solidFill>
                  <a:srgbClr val="0E2A47"/>
                </a:solidFill>
                <a:highlight>
                  <a:srgbClr val="EFDDB0"/>
                </a:highlight>
                <a:latin typeface="Montserrat Medium"/>
              </a:rPr>
              <a:t> y </a:t>
            </a:r>
            <a:r>
              <a:rPr sz="2500" b="1" dirty="0" err="1">
                <a:solidFill>
                  <a:srgbClr val="0E2A47"/>
                </a:solidFill>
                <a:highlight>
                  <a:srgbClr val="EFDDB0"/>
                </a:highlight>
                <a:latin typeface="Montserrat Medium"/>
              </a:rPr>
              <a:t>compárala</a:t>
            </a:r>
            <a:r>
              <a:rPr sz="2500" b="1" dirty="0">
                <a:solidFill>
                  <a:srgbClr val="0E2A47"/>
                </a:solidFill>
                <a:highlight>
                  <a:srgbClr val="EFDDB0"/>
                </a:highlight>
                <a:latin typeface="Montserrat Medium"/>
              </a:rPr>
              <a:t> al final.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2.1 REQUISITOS GENERALES PARA EL ENTRENAMIENTO OJT</a:t>
            </a:r>
          </a:p>
          <a:p>
            <a:pPr algn="l"/>
            <a:r>
              <a:rPr sz="2800" b="0" i="0" u="none">
                <a:solidFill>
                  <a:srgbClr val="FFFFFF"/>
                </a:solidFill>
                <a:latin typeface="Montserrat SemiBold"/>
                <a:ea typeface="Montserrat SemiBold"/>
                <a:cs typeface="Montserrat SemiBold"/>
              </a:rPr>
              <a:t>Requisitos para realizar el OJT</a:t>
            </a:r>
          </a:p>
        </p:txBody>
      </p:sp>
      <p:sp>
        <p:nvSpPr>
          <p:cNvPr id="3" name="Oval 2"/>
          <p:cNvSpPr/>
          <p:nvPr/>
        </p:nvSpPr>
        <p:spPr>
          <a:xfrm>
            <a:off x="2011680" y="1752149"/>
            <a:ext cx="731520" cy="664092"/>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200" b="0" i="0" u="none">
                <a:solidFill>
                  <a:srgbClr val="FFFFFF"/>
                </a:solidFill>
                <a:latin typeface="Montserrat SemiBold"/>
                <a:ea typeface="Montserrat SemiBold"/>
                <a:cs typeface="Montserrat SemiBold"/>
              </a:rPr>
              <a:t>1</a:t>
            </a:r>
          </a:p>
        </p:txBody>
      </p:sp>
      <p:sp>
        <p:nvSpPr>
          <p:cNvPr id="4" name="Rounded Rectangle 3"/>
          <p:cNvSpPr/>
          <p:nvPr/>
        </p:nvSpPr>
        <p:spPr>
          <a:xfrm>
            <a:off x="731520" y="2540759"/>
            <a:ext cx="3291840" cy="747104"/>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Instructor OJT designado</a:t>
            </a:r>
          </a:p>
        </p:txBody>
      </p:sp>
      <p:sp>
        <p:nvSpPr>
          <p:cNvPr id="5" name="Rounded Rectangle 4"/>
          <p:cNvSpPr/>
          <p:nvPr/>
        </p:nvSpPr>
        <p:spPr>
          <a:xfrm>
            <a:off x="731520" y="3287864"/>
            <a:ext cx="3291840" cy="2158302"/>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ctr"/>
          <a:lstStyle/>
          <a:p>
            <a:pPr algn="ctr">
              <a:spcAft>
                <a:spcPts val="0"/>
              </a:spcAft>
            </a:pPr>
            <a:r>
              <a:rPr sz="1800" b="0" i="0" u="none">
                <a:solidFill>
                  <a:srgbClr val="182430"/>
                </a:solidFill>
                <a:latin typeface="Montserrat Medium"/>
                <a:ea typeface="Montserrat Medium"/>
                <a:cs typeface="Montserrat Medium"/>
              </a:rPr>
              <a:t>Con experiencia y conocimientos; designado por su área con anuencia del Director del CIAAC.</a:t>
            </a:r>
          </a:p>
        </p:txBody>
      </p:sp>
      <p:sp>
        <p:nvSpPr>
          <p:cNvPr id="6" name="Oval 5"/>
          <p:cNvSpPr/>
          <p:nvPr/>
        </p:nvSpPr>
        <p:spPr>
          <a:xfrm>
            <a:off x="5532120" y="1752149"/>
            <a:ext cx="731520" cy="664092"/>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200" b="0" i="0" u="none">
                <a:solidFill>
                  <a:srgbClr val="FFFFFF"/>
                </a:solidFill>
                <a:latin typeface="Montserrat SemiBold"/>
                <a:ea typeface="Montserrat SemiBold"/>
                <a:cs typeface="Montserrat SemiBold"/>
              </a:rPr>
              <a:t>2</a:t>
            </a:r>
          </a:p>
        </p:txBody>
      </p:sp>
      <p:sp>
        <p:nvSpPr>
          <p:cNvPr id="7" name="Rounded Rectangle 6"/>
          <p:cNvSpPr/>
          <p:nvPr/>
        </p:nvSpPr>
        <p:spPr>
          <a:xfrm>
            <a:off x="4251960" y="2540759"/>
            <a:ext cx="3291840" cy="747104"/>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Condiciones completas</a:t>
            </a:r>
          </a:p>
        </p:txBody>
      </p:sp>
      <p:sp>
        <p:nvSpPr>
          <p:cNvPr id="8" name="Rounded Rectangle 7"/>
          <p:cNvSpPr/>
          <p:nvPr/>
        </p:nvSpPr>
        <p:spPr>
          <a:xfrm>
            <a:off x="4251960" y="3287864"/>
            <a:ext cx="3291840" cy="2158302"/>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ctr"/>
          <a:lstStyle/>
          <a:p>
            <a:pPr algn="ctr">
              <a:spcAft>
                <a:spcPts val="0"/>
              </a:spcAft>
            </a:pPr>
            <a:r>
              <a:rPr sz="1800" b="0" i="0" u="none">
                <a:solidFill>
                  <a:srgbClr val="182430"/>
                </a:solidFill>
                <a:latin typeface="Montserrat Medium"/>
                <a:ea typeface="Montserrat Medium"/>
                <a:cs typeface="Montserrat Medium"/>
              </a:rPr>
              <a:t>Curso básico acreditado, programación autorizada y procedimientos vigentes.</a:t>
            </a:r>
          </a:p>
        </p:txBody>
      </p:sp>
      <p:sp>
        <p:nvSpPr>
          <p:cNvPr id="9" name="Oval 8"/>
          <p:cNvSpPr/>
          <p:nvPr/>
        </p:nvSpPr>
        <p:spPr>
          <a:xfrm>
            <a:off x="9052560" y="1752149"/>
            <a:ext cx="731520" cy="664092"/>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200" b="0" i="0" u="none">
                <a:solidFill>
                  <a:srgbClr val="FFFFFF"/>
                </a:solidFill>
                <a:latin typeface="Montserrat SemiBold"/>
                <a:ea typeface="Montserrat SemiBold"/>
                <a:cs typeface="Montserrat SemiBold"/>
              </a:rPr>
              <a:t>3</a:t>
            </a:r>
          </a:p>
        </p:txBody>
      </p:sp>
      <p:sp>
        <p:nvSpPr>
          <p:cNvPr id="10" name="Rounded Rectangle 9"/>
          <p:cNvSpPr/>
          <p:nvPr/>
        </p:nvSpPr>
        <p:spPr>
          <a:xfrm>
            <a:off x="7772400" y="2540759"/>
            <a:ext cx="3291840" cy="747104"/>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Todo se documenta</a:t>
            </a:r>
          </a:p>
        </p:txBody>
      </p:sp>
      <p:sp>
        <p:nvSpPr>
          <p:cNvPr id="11" name="Rounded Rectangle 10"/>
          <p:cNvSpPr/>
          <p:nvPr/>
        </p:nvSpPr>
        <p:spPr>
          <a:xfrm>
            <a:off x="7772400" y="3287864"/>
            <a:ext cx="3291840" cy="2158302"/>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ctr"/>
          <a:lstStyle/>
          <a:p>
            <a:pPr algn="ctr">
              <a:spcAft>
                <a:spcPts val="0"/>
              </a:spcAft>
            </a:pPr>
            <a:r>
              <a:rPr sz="1800" b="0" i="0" u="none">
                <a:solidFill>
                  <a:srgbClr val="182430"/>
                </a:solidFill>
                <a:latin typeface="Montserrat Medium"/>
                <a:ea typeface="Montserrat Medium"/>
                <a:cs typeface="Montserrat Medium"/>
              </a:rPr>
              <a:t>En el expediente del IVA y en el Módulo OJT de la plataforma de la AFAC.</a:t>
            </a:r>
          </a:p>
        </p:txBody>
      </p:sp>
      <p:sp>
        <p:nvSpPr>
          <p:cNvPr id="12" name="TextBox 1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2.1 REQUISITOS GENERALES PARA EL ENTRENAMIENTO OJT</a:t>
            </a:r>
          </a:p>
          <a:p>
            <a:pPr algn="l"/>
            <a:r>
              <a:rPr sz="2800" b="0" i="0" u="none">
                <a:solidFill>
                  <a:srgbClr val="FFFFFF"/>
                </a:solidFill>
                <a:latin typeface="Montserrat SemiBold"/>
                <a:ea typeface="Montserrat SemiBold"/>
                <a:cs typeface="Montserrat SemiBold"/>
              </a:rPr>
              <a:t>Lista de verificación antes de iniciar</a:t>
            </a:r>
          </a:p>
        </p:txBody>
      </p:sp>
      <p:sp>
        <p:nvSpPr>
          <p:cNvPr id="3" name="Rounded Rectangle 2"/>
          <p:cNvSpPr/>
          <p:nvPr/>
        </p:nvSpPr>
        <p:spPr>
          <a:xfrm>
            <a:off x="731520" y="1793655"/>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4" name="Rounded Rectangle 3"/>
          <p:cNvSpPr/>
          <p:nvPr/>
        </p:nvSpPr>
        <p:spPr>
          <a:xfrm>
            <a:off x="1554480" y="1793655"/>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Curso básico acreditado</a:t>
            </a:r>
          </a:p>
        </p:txBody>
      </p:sp>
      <p:sp>
        <p:nvSpPr>
          <p:cNvPr id="5" name="Rounded Rectangle 4"/>
          <p:cNvSpPr/>
          <p:nvPr/>
        </p:nvSpPr>
        <p:spPr>
          <a:xfrm>
            <a:off x="6035040" y="1793655"/>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6" name="Rounded Rectangle 5"/>
          <p:cNvSpPr/>
          <p:nvPr/>
        </p:nvSpPr>
        <p:spPr>
          <a:xfrm>
            <a:off x="6858000" y="1793655"/>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Instructor designado para la tarea</a:t>
            </a:r>
          </a:p>
        </p:txBody>
      </p:sp>
      <p:sp>
        <p:nvSpPr>
          <p:cNvPr id="7" name="Rounded Rectangle 6"/>
          <p:cNvSpPr/>
          <p:nvPr/>
        </p:nvSpPr>
        <p:spPr>
          <a:xfrm>
            <a:off x="731520" y="2789793"/>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8" name="Rounded Rectangle 7"/>
          <p:cNvSpPr/>
          <p:nvPr/>
        </p:nvSpPr>
        <p:spPr>
          <a:xfrm>
            <a:off x="1554480" y="2789793"/>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Programación autorizada</a:t>
            </a:r>
          </a:p>
        </p:txBody>
      </p:sp>
      <p:sp>
        <p:nvSpPr>
          <p:cNvPr id="9" name="Rounded Rectangle 8"/>
          <p:cNvSpPr/>
          <p:nvPr/>
        </p:nvSpPr>
        <p:spPr>
          <a:xfrm>
            <a:off x="6035040" y="2789793"/>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10" name="Rounded Rectangle 9"/>
          <p:cNvSpPr/>
          <p:nvPr/>
        </p:nvSpPr>
        <p:spPr>
          <a:xfrm>
            <a:off x="6858000" y="2789793"/>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Procedimientos vigentes</a:t>
            </a:r>
          </a:p>
        </p:txBody>
      </p:sp>
      <p:sp>
        <p:nvSpPr>
          <p:cNvPr id="11" name="Rounded Rectangle 10"/>
          <p:cNvSpPr/>
          <p:nvPr/>
        </p:nvSpPr>
        <p:spPr>
          <a:xfrm>
            <a:off x="731520" y="3785934"/>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12" name="Rounded Rectangle 11"/>
          <p:cNvSpPr/>
          <p:nvPr/>
        </p:nvSpPr>
        <p:spPr>
          <a:xfrm>
            <a:off x="1554480" y="3785934"/>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Recursos disponibles</a:t>
            </a:r>
          </a:p>
        </p:txBody>
      </p:sp>
      <p:sp>
        <p:nvSpPr>
          <p:cNvPr id="13" name="Rounded Rectangle 12"/>
          <p:cNvSpPr/>
          <p:nvPr/>
        </p:nvSpPr>
        <p:spPr>
          <a:xfrm>
            <a:off x="6035040" y="3785934"/>
            <a:ext cx="731520" cy="747104"/>
          </a:xfrm>
          <a:prstGeom prst="roundRect">
            <a:avLst>
              <a:gd name="adj" fmla="val 15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500" b="0" i="0" u="none">
                <a:solidFill>
                  <a:srgbClr val="FFFFFF"/>
                </a:solidFill>
                <a:latin typeface="Montserrat SemiBold"/>
                <a:ea typeface="Montserrat SemiBold"/>
                <a:cs typeface="Montserrat SemiBold"/>
              </a:rPr>
              <a:t>✓</a:t>
            </a:r>
          </a:p>
        </p:txBody>
      </p:sp>
      <p:sp>
        <p:nvSpPr>
          <p:cNvPr id="14" name="Rounded Rectangle 13"/>
          <p:cNvSpPr/>
          <p:nvPr/>
        </p:nvSpPr>
        <p:spPr>
          <a:xfrm>
            <a:off x="6858000" y="3785934"/>
            <a:ext cx="4206240" cy="747104"/>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0"/>
              </a:spcAft>
            </a:pPr>
            <a:r>
              <a:rPr sz="2000" b="0" i="0" u="none">
                <a:solidFill>
                  <a:srgbClr val="182430"/>
                </a:solidFill>
                <a:latin typeface="Montserrat Medium"/>
                <a:ea typeface="Montserrat Medium"/>
                <a:cs typeface="Montserrat Medium"/>
              </a:rPr>
              <a:t>Criterios de desempeño definidos</a:t>
            </a:r>
          </a:p>
        </p:txBody>
      </p:sp>
      <p:sp>
        <p:nvSpPr>
          <p:cNvPr id="15" name="Rounded Rectangle 14"/>
          <p:cNvSpPr/>
          <p:nvPr/>
        </p:nvSpPr>
        <p:spPr>
          <a:xfrm>
            <a:off x="731520" y="4906590"/>
            <a:ext cx="10424160" cy="830116"/>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182430"/>
                </a:solidFill>
                <a:latin typeface="Montserrat Medium"/>
                <a:ea typeface="Montserrat Medium"/>
                <a:cs typeface="Montserrat Medium"/>
              </a:rPr>
              <a:t>Antes de cada evento, el instructor explica al aprendiz </a:t>
            </a:r>
            <a:r>
              <a:rPr sz="2000" b="1" i="0" u="none">
                <a:solidFill>
                  <a:srgbClr val="0E2A47"/>
                </a:solidFill>
                <a:highlight>
                  <a:srgbClr val="E6CC8F"/>
                </a:highlight>
                <a:latin typeface="Montserrat Medium"/>
                <a:ea typeface="Montserrat Medium"/>
                <a:cs typeface="Montserrat Medium"/>
              </a:rPr>
              <a:t>qué deberá demostrar</a:t>
            </a:r>
            <a:r>
              <a:rPr sz="2000" b="0" i="0" u="none">
                <a:solidFill>
                  <a:srgbClr val="182430"/>
                </a:solidFill>
                <a:latin typeface="Montserrat Medium"/>
                <a:ea typeface="Montserrat Medium"/>
                <a:cs typeface="Montserrat Medium"/>
              </a:rPr>
              <a:t>.</a:t>
            </a:r>
          </a:p>
        </p:txBody>
      </p:sp>
      <p:sp>
        <p:nvSpPr>
          <p:cNvPr id="16" name="TextBox 15"/>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4.1, 4.2 y 5.2.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Tres niveles progresivos por tarea</a:t>
            </a:r>
          </a:p>
        </p:txBody>
      </p:sp>
      <p:sp>
        <p:nvSpPr>
          <p:cNvPr id="3" name="Rounded Rectangle 2"/>
          <p:cNvSpPr/>
          <p:nvPr/>
        </p:nvSpPr>
        <p:spPr>
          <a:xfrm>
            <a:off x="731520" y="1793655"/>
            <a:ext cx="3200400" cy="996139"/>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1" i="0" u="none">
                <a:solidFill>
                  <a:srgbClr val="FFFFFF"/>
                </a:solidFill>
                <a:latin typeface="Montserrat Medium"/>
                <a:ea typeface="Montserrat Medium"/>
                <a:cs typeface="Montserrat Medium"/>
              </a:rPr>
              <a:t>Nivel 1</a:t>
            </a:r>
          </a:p>
          <a:p>
            <a:pPr algn="ctr">
              <a:spcAft>
                <a:spcPts val="0"/>
              </a:spcAft>
            </a:pPr>
            <a:r>
              <a:rPr sz="2000" b="0" i="0" u="none">
                <a:solidFill>
                  <a:srgbClr val="FFFFFF"/>
                </a:solidFill>
                <a:latin typeface="Montserrat Medium"/>
                <a:ea typeface="Montserrat Medium"/>
                <a:cs typeface="Montserrat Medium"/>
              </a:rPr>
              <a:t>Conocimiento</a:t>
            </a:r>
          </a:p>
        </p:txBody>
      </p:sp>
      <p:sp>
        <p:nvSpPr>
          <p:cNvPr id="4" name="Rounded Rectangle 3"/>
          <p:cNvSpPr/>
          <p:nvPr/>
        </p:nvSpPr>
        <p:spPr>
          <a:xfrm>
            <a:off x="731520" y="2789794"/>
            <a:ext cx="3200400" cy="2158302"/>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400"/>
              </a:spcAft>
            </a:pPr>
            <a:r>
              <a:rPr sz="1800" b="1" i="0" u="none">
                <a:solidFill>
                  <a:srgbClr val="9A7323"/>
                </a:solidFill>
                <a:latin typeface="Montserrat Medium"/>
                <a:ea typeface="Montserrat Medium"/>
                <a:cs typeface="Montserrat Medium"/>
              </a:rPr>
              <a:t>Instructor:</a:t>
            </a:r>
            <a:r>
              <a:rPr sz="1800" b="0" i="0" u="none">
                <a:solidFill>
                  <a:srgbClr val="182430"/>
                </a:solidFill>
                <a:latin typeface="Montserrat Medium"/>
                <a:ea typeface="Montserrat Medium"/>
                <a:cs typeface="Montserrat Medium"/>
              </a:rPr>
              <a:t> Instruir</a:t>
            </a:r>
          </a:p>
          <a:p>
            <a:pPr algn="ctr">
              <a:spcAft>
                <a:spcPts val="1400"/>
              </a:spcAft>
            </a:pPr>
            <a:r>
              <a:rPr sz="1800" b="1" i="0" u="none">
                <a:solidFill>
                  <a:srgbClr val="9A7323"/>
                </a:solidFill>
                <a:latin typeface="Montserrat Medium"/>
                <a:ea typeface="Montserrat Medium"/>
                <a:cs typeface="Montserrat Medium"/>
              </a:rPr>
              <a:t>Aprendiz:</a:t>
            </a:r>
            <a:r>
              <a:rPr sz="1800" b="0" i="0" u="none">
                <a:solidFill>
                  <a:srgbClr val="182430"/>
                </a:solidFill>
                <a:latin typeface="Montserrat Medium"/>
                <a:ea typeface="Montserrat Medium"/>
                <a:cs typeface="Montserrat Medium"/>
              </a:rPr>
              <a:t> Asimilar conocimientos (en sitio)</a:t>
            </a:r>
          </a:p>
        </p:txBody>
      </p:sp>
      <p:sp>
        <p:nvSpPr>
          <p:cNvPr id="5" name="Right Arrow 4"/>
          <p:cNvSpPr/>
          <p:nvPr/>
        </p:nvSpPr>
        <p:spPr>
          <a:xfrm>
            <a:off x="3977639" y="2997323"/>
            <a:ext cx="320040" cy="415058"/>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43400" y="1793655"/>
            <a:ext cx="3200400" cy="996139"/>
          </a:xfrm>
          <a:prstGeom prst="roundRect">
            <a:avLst>
              <a:gd name="adj" fmla="val 8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1" i="0" u="none">
                <a:solidFill>
                  <a:srgbClr val="FFFFFF"/>
                </a:solidFill>
                <a:latin typeface="Montserrat Medium"/>
                <a:ea typeface="Montserrat Medium"/>
                <a:cs typeface="Montserrat Medium"/>
              </a:rPr>
              <a:t>Nivel 2</a:t>
            </a:r>
          </a:p>
          <a:p>
            <a:pPr algn="ctr">
              <a:spcAft>
                <a:spcPts val="0"/>
              </a:spcAft>
            </a:pPr>
            <a:r>
              <a:rPr sz="2000" b="0" i="0" u="none">
                <a:solidFill>
                  <a:srgbClr val="FFFFFF"/>
                </a:solidFill>
                <a:latin typeface="Montserrat Medium"/>
                <a:ea typeface="Montserrat Medium"/>
                <a:cs typeface="Montserrat Medium"/>
              </a:rPr>
              <a:t>Demostración</a:t>
            </a:r>
          </a:p>
        </p:txBody>
      </p:sp>
      <p:sp>
        <p:nvSpPr>
          <p:cNvPr id="7" name="Rounded Rectangle 6"/>
          <p:cNvSpPr/>
          <p:nvPr/>
        </p:nvSpPr>
        <p:spPr>
          <a:xfrm>
            <a:off x="4343400" y="2789794"/>
            <a:ext cx="3200400" cy="2158302"/>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400"/>
              </a:spcAft>
            </a:pPr>
            <a:r>
              <a:rPr sz="1800" b="1" i="0" u="none">
                <a:solidFill>
                  <a:srgbClr val="9A7323"/>
                </a:solidFill>
                <a:latin typeface="Montserrat Medium"/>
                <a:ea typeface="Montserrat Medium"/>
                <a:cs typeface="Montserrat Medium"/>
              </a:rPr>
              <a:t>Instructor:</a:t>
            </a:r>
            <a:r>
              <a:rPr sz="1800" b="0" i="0" u="none">
                <a:solidFill>
                  <a:srgbClr val="182430"/>
                </a:solidFill>
                <a:latin typeface="Montserrat Medium"/>
                <a:ea typeface="Montserrat Medium"/>
                <a:cs typeface="Montserrat Medium"/>
              </a:rPr>
              <a:t> Demostrar / asistir</a:t>
            </a:r>
          </a:p>
          <a:p>
            <a:pPr algn="ctr">
              <a:spcAft>
                <a:spcPts val="1400"/>
              </a:spcAft>
            </a:pPr>
            <a:r>
              <a:rPr sz="1800" b="1" i="0" u="none">
                <a:solidFill>
                  <a:srgbClr val="9A7323"/>
                </a:solidFill>
                <a:latin typeface="Montserrat Medium"/>
                <a:ea typeface="Montserrat Medium"/>
                <a:cs typeface="Montserrat Medium"/>
              </a:rPr>
              <a:t>Aprendiz:</a:t>
            </a:r>
            <a:r>
              <a:rPr sz="1800" b="0" i="0" u="none">
                <a:solidFill>
                  <a:srgbClr val="182430"/>
                </a:solidFill>
                <a:latin typeface="Montserrat Medium"/>
                <a:ea typeface="Montserrat Medium"/>
                <a:cs typeface="Montserrat Medium"/>
              </a:rPr>
              <a:t> Observar / coadyuvar</a:t>
            </a:r>
          </a:p>
        </p:txBody>
      </p:sp>
      <p:sp>
        <p:nvSpPr>
          <p:cNvPr id="8" name="Right Arrow 7"/>
          <p:cNvSpPr/>
          <p:nvPr/>
        </p:nvSpPr>
        <p:spPr>
          <a:xfrm>
            <a:off x="7589520" y="2997323"/>
            <a:ext cx="320040" cy="415058"/>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955280" y="1793655"/>
            <a:ext cx="3200400" cy="996139"/>
          </a:xfrm>
          <a:prstGeom prst="roundRect">
            <a:avLst>
              <a:gd name="adj" fmla="val 8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1" i="0" u="none">
                <a:solidFill>
                  <a:srgbClr val="FFFFFF"/>
                </a:solidFill>
                <a:latin typeface="Montserrat Medium"/>
                <a:ea typeface="Montserrat Medium"/>
                <a:cs typeface="Montserrat Medium"/>
              </a:rPr>
              <a:t>Nivel 3</a:t>
            </a:r>
          </a:p>
          <a:p>
            <a:pPr algn="ctr">
              <a:spcAft>
                <a:spcPts val="0"/>
              </a:spcAft>
            </a:pPr>
            <a:r>
              <a:rPr sz="2000" b="0" i="0" u="none">
                <a:solidFill>
                  <a:srgbClr val="FFFFFF"/>
                </a:solidFill>
                <a:latin typeface="Montserrat Medium"/>
                <a:ea typeface="Montserrat Medium"/>
                <a:cs typeface="Montserrat Medium"/>
              </a:rPr>
              <a:t>Ejecución supervisada</a:t>
            </a:r>
          </a:p>
        </p:txBody>
      </p:sp>
      <p:sp>
        <p:nvSpPr>
          <p:cNvPr id="10" name="Rounded Rectangle 9"/>
          <p:cNvSpPr/>
          <p:nvPr/>
        </p:nvSpPr>
        <p:spPr>
          <a:xfrm>
            <a:off x="7955280" y="2789794"/>
            <a:ext cx="3200400" cy="2158302"/>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400"/>
              </a:spcAft>
            </a:pPr>
            <a:r>
              <a:rPr sz="1800" b="1" i="0" u="none">
                <a:solidFill>
                  <a:srgbClr val="9A7323"/>
                </a:solidFill>
                <a:latin typeface="Montserrat Medium"/>
                <a:ea typeface="Montserrat Medium"/>
                <a:cs typeface="Montserrat Medium"/>
              </a:rPr>
              <a:t>Instructor:</a:t>
            </a:r>
            <a:r>
              <a:rPr sz="1800" b="0" i="0" u="none">
                <a:solidFill>
                  <a:srgbClr val="182430"/>
                </a:solidFill>
                <a:latin typeface="Montserrat Medium"/>
                <a:ea typeface="Montserrat Medium"/>
                <a:cs typeface="Montserrat Medium"/>
              </a:rPr>
              <a:t> Evaluar</a:t>
            </a:r>
          </a:p>
          <a:p>
            <a:pPr algn="ctr">
              <a:spcAft>
                <a:spcPts val="1400"/>
              </a:spcAft>
            </a:pPr>
            <a:r>
              <a:rPr sz="1800" b="1" i="0" u="none">
                <a:solidFill>
                  <a:srgbClr val="9A7323"/>
                </a:solidFill>
                <a:latin typeface="Montserrat Medium"/>
                <a:ea typeface="Montserrat Medium"/>
                <a:cs typeface="Montserrat Medium"/>
              </a:rPr>
              <a:t>Aprendiz:</a:t>
            </a:r>
            <a:r>
              <a:rPr sz="1800" b="0" i="0" u="none">
                <a:solidFill>
                  <a:srgbClr val="182430"/>
                </a:solidFill>
                <a:latin typeface="Montserrat Medium"/>
                <a:ea typeface="Montserrat Medium"/>
                <a:cs typeface="Montserrat Medium"/>
              </a:rPr>
              <a:t> Realizar</a:t>
            </a:r>
          </a:p>
        </p:txBody>
      </p:sp>
      <p:sp>
        <p:nvSpPr>
          <p:cNvPr id="11" name="Rounded Rectangle 10"/>
          <p:cNvSpPr/>
          <p:nvPr/>
        </p:nvSpPr>
        <p:spPr>
          <a:xfrm>
            <a:off x="731520" y="5197131"/>
            <a:ext cx="10424160" cy="622587"/>
          </a:xfrm>
          <a:prstGeom prst="roundRect">
            <a:avLst>
              <a:gd name="adj" fmla="val 10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182430"/>
                </a:solidFill>
                <a:latin typeface="Montserrat Medium"/>
                <a:ea typeface="Montserrat Medium"/>
                <a:cs typeface="Montserrat Medium"/>
              </a:rPr>
              <a:t>Cada nivel es un </a:t>
            </a:r>
            <a:r>
              <a:rPr sz="2000" b="1" i="0" u="none">
                <a:solidFill>
                  <a:srgbClr val="0E2A47"/>
                </a:solidFill>
                <a:highlight>
                  <a:srgbClr val="E6CC8F"/>
                </a:highlight>
                <a:latin typeface="Montserrat Medium"/>
                <a:ea typeface="Montserrat Medium"/>
                <a:cs typeface="Montserrat Medium"/>
              </a:rPr>
              <a:t>evento distinto</a:t>
            </a:r>
            <a:r>
              <a:rPr sz="2000" b="0" i="0" u="none">
                <a:solidFill>
                  <a:srgbClr val="182430"/>
                </a:solidFill>
                <a:latin typeface="Montserrat Medium"/>
                <a:ea typeface="Montserrat Medium"/>
                <a:cs typeface="Montserrat Medium"/>
              </a:rPr>
              <a:t>, en </a:t>
            </a:r>
            <a:r>
              <a:rPr sz="2000" b="1" i="0" u="none">
                <a:solidFill>
                  <a:srgbClr val="0E2A47"/>
                </a:solidFill>
                <a:highlight>
                  <a:srgbClr val="E6CC8F"/>
                </a:highlight>
                <a:latin typeface="Montserrat Medium"/>
                <a:ea typeface="Montserrat Medium"/>
                <a:cs typeface="Montserrat Medium"/>
              </a:rPr>
              <a:t>fecha distinta</a:t>
            </a:r>
            <a:r>
              <a:rPr sz="2000" b="0" i="0" u="none">
                <a:solidFill>
                  <a:srgbClr val="182430"/>
                </a:solidFill>
                <a:latin typeface="Montserrat Medium"/>
                <a:ea typeface="Montserrat Medium"/>
                <a:cs typeface="Montserrat Medium"/>
              </a:rPr>
              <a:t> y en orden.</a:t>
            </a:r>
          </a:p>
        </p:txBody>
      </p:sp>
      <p:sp>
        <p:nvSpPr>
          <p:cNvPr id="12" name="TextBox 1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4.2.1 a 4.2.4.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Nivel 1: Conocimiento aplicado</a:t>
            </a:r>
          </a:p>
        </p:txBody>
      </p:sp>
      <p:sp>
        <p:nvSpPr>
          <p:cNvPr id="3" name="Rounded Rectangle 2"/>
          <p:cNvSpPr/>
          <p:nvPr/>
        </p:nvSpPr>
        <p:spPr>
          <a:xfrm>
            <a:off x="731520" y="1752149"/>
            <a:ext cx="502920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instructor OJT</a:t>
            </a:r>
          </a:p>
        </p:txBody>
      </p:sp>
      <p:sp>
        <p:nvSpPr>
          <p:cNvPr id="4" name="Rounded Rectangle 3"/>
          <p:cNvSpPr/>
          <p:nvPr/>
        </p:nvSpPr>
        <p:spPr>
          <a:xfrm>
            <a:off x="73152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Relaciona el curso básico con la tarea</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Explica objetivo, fundamento, secuencia, recursos y seguridad</a:t>
            </a:r>
          </a:p>
        </p:txBody>
      </p:sp>
      <p:sp>
        <p:nvSpPr>
          <p:cNvPr id="5" name="Rounded Rectangle 4"/>
          <p:cNvSpPr/>
          <p:nvPr/>
        </p:nvSpPr>
        <p:spPr>
          <a:xfrm>
            <a:off x="6126480" y="1752149"/>
            <a:ext cx="502920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aprendiz</a:t>
            </a:r>
          </a:p>
        </p:txBody>
      </p:sp>
      <p:sp>
        <p:nvSpPr>
          <p:cNvPr id="6" name="Rounded Rectangle 5"/>
          <p:cNvSpPr/>
          <p:nvPr/>
        </p:nvSpPr>
        <p:spPr>
          <a:xfrm>
            <a:off x="612648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Identifica propósito y alcance</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Localiza las referencias</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Explica secuencia, registros y límites</a:t>
            </a:r>
          </a:p>
        </p:txBody>
      </p:sp>
      <p:sp>
        <p:nvSpPr>
          <p:cNvPr id="7" name="Rounded Rectangle 6"/>
          <p:cNvSpPr/>
          <p:nvPr/>
        </p:nvSpPr>
        <p:spPr>
          <a:xfrm>
            <a:off x="731520" y="4740567"/>
            <a:ext cx="1042416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Es satisfactorio cuando:</a:t>
            </a:r>
            <a:r>
              <a:rPr sz="1800" b="0" i="0" u="none">
                <a:solidFill>
                  <a:srgbClr val="182430"/>
                </a:solidFill>
                <a:latin typeface="Montserrat Medium"/>
                <a:ea typeface="Montserrat Medium"/>
                <a:cs typeface="Montserrat Medium"/>
              </a:rPr>
              <a:t> el instructor comprueba el conocimiento aplicado a la tarea. </a:t>
            </a:r>
            <a:r>
              <a:rPr sz="1800" b="1" i="0" u="none">
                <a:solidFill>
                  <a:srgbClr val="0E2A47"/>
                </a:solidFill>
                <a:highlight>
                  <a:srgbClr val="E6CC8F"/>
                </a:highlight>
                <a:latin typeface="Montserrat Medium"/>
                <a:ea typeface="Montserrat Medium"/>
                <a:cs typeface="Montserrat Medium"/>
              </a:rPr>
              <a:t>No se acredita solo por un curso previo.</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4.2.1.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Nivel 2: Demostración</a:t>
            </a:r>
          </a:p>
        </p:txBody>
      </p:sp>
      <p:sp>
        <p:nvSpPr>
          <p:cNvPr id="3" name="Rounded Rectangle 2"/>
          <p:cNvSpPr/>
          <p:nvPr/>
        </p:nvSpPr>
        <p:spPr>
          <a:xfrm>
            <a:off x="731520" y="1752149"/>
            <a:ext cx="5029200" cy="498069"/>
          </a:xfrm>
          <a:prstGeom prst="roundRect">
            <a:avLst>
              <a:gd name="adj" fmla="val 12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instructor OJT</a:t>
            </a:r>
          </a:p>
        </p:txBody>
      </p:sp>
      <p:sp>
        <p:nvSpPr>
          <p:cNvPr id="4" name="Rounded Rectangle 3"/>
          <p:cNvSpPr/>
          <p:nvPr/>
        </p:nvSpPr>
        <p:spPr>
          <a:xfrm>
            <a:off x="73152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Ejecuta y explica la tarea</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Muestra criterios, puntos críticos y registros</a:t>
            </a:r>
          </a:p>
        </p:txBody>
      </p:sp>
      <p:sp>
        <p:nvSpPr>
          <p:cNvPr id="5" name="Rounded Rectangle 4"/>
          <p:cNvSpPr/>
          <p:nvPr/>
        </p:nvSpPr>
        <p:spPr>
          <a:xfrm>
            <a:off x="6126480" y="1752149"/>
            <a:ext cx="5029200" cy="498069"/>
          </a:xfrm>
          <a:prstGeom prst="roundRect">
            <a:avLst>
              <a:gd name="adj" fmla="val 12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aprendiz</a:t>
            </a:r>
          </a:p>
        </p:txBody>
      </p:sp>
      <p:sp>
        <p:nvSpPr>
          <p:cNvPr id="6" name="Rounded Rectangle 5"/>
          <p:cNvSpPr/>
          <p:nvPr/>
        </p:nvSpPr>
        <p:spPr>
          <a:xfrm>
            <a:off x="612648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dirty="0" err="1">
                <a:solidFill>
                  <a:srgbClr val="182430"/>
                </a:solidFill>
                <a:latin typeface="Montserrat Medium"/>
                <a:ea typeface="Montserrat Medium"/>
                <a:cs typeface="Montserrat Medium"/>
              </a:rPr>
              <a:t>Observa</a:t>
            </a:r>
            <a:r>
              <a:rPr sz="1800" b="0" i="0" u="none" dirty="0">
                <a:solidFill>
                  <a:srgbClr val="182430"/>
                </a:solidFill>
                <a:latin typeface="Montserrat Medium"/>
                <a:ea typeface="Montserrat Medium"/>
                <a:cs typeface="Montserrat Medium"/>
              </a:rPr>
              <a:t> y </a:t>
            </a:r>
            <a:r>
              <a:rPr sz="1800" b="0" i="0" u="none" dirty="0" err="1">
                <a:solidFill>
                  <a:srgbClr val="182430"/>
                </a:solidFill>
                <a:latin typeface="Montserrat Medium"/>
                <a:ea typeface="Montserrat Medium"/>
                <a:cs typeface="Montserrat Medium"/>
              </a:rPr>
              <a:t>puede</a:t>
            </a:r>
            <a:r>
              <a:rPr sz="1800" b="0" i="0" u="none" dirty="0">
                <a:solidFill>
                  <a:srgbClr val="182430"/>
                </a:solidFill>
                <a:latin typeface="Montserrat Medium"/>
                <a:ea typeface="Montserrat Medium"/>
                <a:cs typeface="Montserrat Medium"/>
              </a:rPr>
              <a:t> </a:t>
            </a:r>
            <a:r>
              <a:rPr sz="1800" b="0" i="0" u="none" dirty="0" err="1">
                <a:solidFill>
                  <a:srgbClr val="182430"/>
                </a:solidFill>
                <a:latin typeface="Montserrat Medium"/>
                <a:ea typeface="Montserrat Medium"/>
                <a:cs typeface="Montserrat Medium"/>
              </a:rPr>
              <a:t>coadyuvar</a:t>
            </a:r>
            <a:endParaRPr sz="1800" b="0" i="0" u="none" dirty="0">
              <a:solidFill>
                <a:srgbClr val="182430"/>
              </a:solidFill>
              <a:latin typeface="Montserrat Medium"/>
              <a:ea typeface="Montserrat Medium"/>
              <a:cs typeface="Montserrat Medium"/>
            </a:endParaRPr>
          </a:p>
          <a:p>
            <a:pPr marL="228600" indent="-228600" algn="l">
              <a:spcAft>
                <a:spcPts val="600"/>
              </a:spcAft>
              <a:buClr>
                <a:srgbClr val="B98A2E"/>
              </a:buClr>
              <a:buFont typeface="Arial"/>
              <a:buChar char="•"/>
            </a:pPr>
            <a:r>
              <a:rPr sz="1800" b="0" i="0" u="none" dirty="0" err="1">
                <a:solidFill>
                  <a:srgbClr val="182430"/>
                </a:solidFill>
                <a:latin typeface="Montserrat Medium"/>
                <a:ea typeface="Montserrat Medium"/>
                <a:cs typeface="Montserrat Medium"/>
              </a:rPr>
              <a:t>Explica</a:t>
            </a:r>
            <a:r>
              <a:rPr sz="1800" b="0" i="0" u="none" dirty="0">
                <a:solidFill>
                  <a:srgbClr val="182430"/>
                </a:solidFill>
                <a:latin typeface="Montserrat Medium"/>
                <a:ea typeface="Montserrat Medium"/>
                <a:cs typeface="Montserrat Medium"/>
              </a:rPr>
              <a:t> la </a:t>
            </a:r>
            <a:r>
              <a:rPr sz="1800" b="0" i="0" u="none" dirty="0" err="1">
                <a:solidFill>
                  <a:srgbClr val="182430"/>
                </a:solidFill>
                <a:latin typeface="Montserrat Medium"/>
                <a:ea typeface="Montserrat Medium"/>
                <a:cs typeface="Montserrat Medium"/>
              </a:rPr>
              <a:t>secuencia</a:t>
            </a:r>
            <a:r>
              <a:rPr sz="1800" b="0" i="0" u="none" dirty="0">
                <a:solidFill>
                  <a:srgbClr val="182430"/>
                </a:solidFill>
                <a:latin typeface="Montserrat Medium"/>
                <a:ea typeface="Montserrat Medium"/>
                <a:cs typeface="Montserrat Medium"/>
              </a:rPr>
              <a:t> </a:t>
            </a:r>
            <a:r>
              <a:rPr sz="1800" b="0" i="0" u="none" dirty="0" err="1">
                <a:solidFill>
                  <a:srgbClr val="182430"/>
                </a:solidFill>
                <a:latin typeface="Montserrat Medium"/>
                <a:ea typeface="Montserrat Medium"/>
                <a:cs typeface="Montserrat Medium"/>
              </a:rPr>
              <a:t>observada</a:t>
            </a:r>
            <a:endParaRPr sz="1800" b="0" i="0" u="none" dirty="0">
              <a:solidFill>
                <a:srgbClr val="182430"/>
              </a:solidFill>
              <a:latin typeface="Montserrat Medium"/>
              <a:ea typeface="Montserrat Medium"/>
              <a:cs typeface="Montserrat Medium"/>
            </a:endParaRPr>
          </a:p>
          <a:p>
            <a:pPr marL="228600" indent="-228600" algn="l">
              <a:spcAft>
                <a:spcPts val="600"/>
              </a:spcAft>
              <a:buClr>
                <a:srgbClr val="B98A2E"/>
              </a:buClr>
              <a:buFont typeface="Arial"/>
              <a:buChar char="•"/>
            </a:pPr>
            <a:r>
              <a:rPr sz="1800" b="0" i="0" u="none" dirty="0" err="1">
                <a:solidFill>
                  <a:srgbClr val="182430"/>
                </a:solidFill>
                <a:latin typeface="Montserrat Medium"/>
                <a:ea typeface="Montserrat Medium"/>
                <a:cs typeface="Montserrat Medium"/>
              </a:rPr>
              <a:t>Identifica</a:t>
            </a:r>
            <a:r>
              <a:rPr sz="1800" b="0" i="0" u="none" dirty="0">
                <a:solidFill>
                  <a:srgbClr val="182430"/>
                </a:solidFill>
                <a:latin typeface="Montserrat Medium"/>
                <a:ea typeface="Montserrat Medium"/>
                <a:cs typeface="Montserrat Medium"/>
              </a:rPr>
              <a:t> </a:t>
            </a:r>
            <a:r>
              <a:rPr lang="es-MX" dirty="0">
                <a:solidFill>
                  <a:srgbClr val="182430"/>
                </a:solidFill>
                <a:latin typeface="Montserrat Medium"/>
                <a:ea typeface="Montserrat Medium"/>
                <a:cs typeface="Montserrat Medium"/>
              </a:rPr>
              <a:t>puntos clave</a:t>
            </a:r>
            <a:r>
              <a:rPr sz="1800" b="0" i="0" u="none" dirty="0">
                <a:solidFill>
                  <a:srgbClr val="182430"/>
                </a:solidFill>
                <a:latin typeface="Montserrat Medium"/>
                <a:ea typeface="Montserrat Medium"/>
                <a:cs typeface="Montserrat Medium"/>
              </a:rPr>
              <a:t> y </a:t>
            </a:r>
            <a:r>
              <a:rPr sz="1800" b="0" i="0" u="none" dirty="0" err="1">
                <a:solidFill>
                  <a:srgbClr val="182430"/>
                </a:solidFill>
                <a:latin typeface="Montserrat Medium"/>
                <a:ea typeface="Montserrat Medium"/>
                <a:cs typeface="Montserrat Medium"/>
              </a:rPr>
              <a:t>precauciones</a:t>
            </a:r>
            <a:endParaRPr sz="1800" b="0" i="0" u="none" dirty="0">
              <a:solidFill>
                <a:srgbClr val="182430"/>
              </a:solidFill>
              <a:latin typeface="Montserrat Medium"/>
              <a:ea typeface="Montserrat Medium"/>
              <a:cs typeface="Montserrat Medium"/>
            </a:endParaRPr>
          </a:p>
        </p:txBody>
      </p:sp>
      <p:sp>
        <p:nvSpPr>
          <p:cNvPr id="7" name="Rounded Rectangle 6"/>
          <p:cNvSpPr/>
          <p:nvPr/>
        </p:nvSpPr>
        <p:spPr>
          <a:xfrm>
            <a:off x="731520" y="4740567"/>
            <a:ext cx="1042416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Es satisfactorio cuando:</a:t>
            </a:r>
            <a:r>
              <a:rPr sz="1800" b="0" i="0" u="none">
                <a:solidFill>
                  <a:srgbClr val="182430"/>
                </a:solidFill>
                <a:latin typeface="Montserrat Medium"/>
                <a:ea typeface="Montserrat Medium"/>
                <a:cs typeface="Montserrat Medium"/>
              </a:rPr>
              <a:t> se cubrió la demostración y el aprendiz demuestra comprensión. </a:t>
            </a:r>
            <a:r>
              <a:rPr sz="1800" b="1" i="0" u="none">
                <a:solidFill>
                  <a:srgbClr val="0E2A47"/>
                </a:solidFill>
                <a:highlight>
                  <a:srgbClr val="E6CC8F"/>
                </a:highlight>
                <a:latin typeface="Montserrat Medium"/>
                <a:ea typeface="Montserrat Medium"/>
                <a:cs typeface="Montserrat Medium"/>
              </a:rPr>
              <a:t>Coadyuvar no acredita ejecución independiente.</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4.2.2.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Nivel 3: Ejecución supervisada</a:t>
            </a:r>
          </a:p>
        </p:txBody>
      </p:sp>
      <p:sp>
        <p:nvSpPr>
          <p:cNvPr id="3" name="Rounded Rectangle 2"/>
          <p:cNvSpPr/>
          <p:nvPr/>
        </p:nvSpPr>
        <p:spPr>
          <a:xfrm>
            <a:off x="731520" y="1752149"/>
            <a:ext cx="5029200" cy="498069"/>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instructor OJT</a:t>
            </a:r>
          </a:p>
        </p:txBody>
      </p:sp>
      <p:sp>
        <p:nvSpPr>
          <p:cNvPr id="4" name="Rounded Rectangle 3"/>
          <p:cNvSpPr/>
          <p:nvPr/>
        </p:nvSpPr>
        <p:spPr>
          <a:xfrm>
            <a:off x="73152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Observa, supervisa y evalúa</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Documenta cualquier intervención</a:t>
            </a:r>
          </a:p>
        </p:txBody>
      </p:sp>
      <p:sp>
        <p:nvSpPr>
          <p:cNvPr id="5" name="Rounded Rectangle 4"/>
          <p:cNvSpPr/>
          <p:nvPr/>
        </p:nvSpPr>
        <p:spPr>
          <a:xfrm>
            <a:off x="6126480" y="1752149"/>
            <a:ext cx="5029200" cy="498069"/>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El aprendiz</a:t>
            </a:r>
          </a:p>
        </p:txBody>
      </p:sp>
      <p:sp>
        <p:nvSpPr>
          <p:cNvPr id="6" name="Rounded Rectangle 5"/>
          <p:cNvSpPr/>
          <p:nvPr/>
        </p:nvSpPr>
        <p:spPr>
          <a:xfrm>
            <a:off x="6126480" y="2250219"/>
            <a:ext cx="5029200" cy="2282819"/>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Ejecuta la tarea y sus subtareas</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Sustenta sus decisiones</a:t>
            </a:r>
          </a:p>
          <a:p>
            <a:pPr marL="228600" indent="-228600" algn="l">
              <a:spcAft>
                <a:spcPts val="600"/>
              </a:spcAft>
              <a:buClr>
                <a:srgbClr val="B98A2E"/>
              </a:buClr>
              <a:buFont typeface="Arial"/>
              <a:buChar char="•"/>
            </a:pPr>
            <a:r>
              <a:rPr sz="1800" b="0" i="0" u="none">
                <a:solidFill>
                  <a:srgbClr val="182430"/>
                </a:solidFill>
                <a:latin typeface="Montserrat Medium"/>
                <a:ea typeface="Montserrat Medium"/>
                <a:cs typeface="Montserrat Medium"/>
              </a:rPr>
              <a:t>Usa recursos autorizados</a:t>
            </a:r>
          </a:p>
        </p:txBody>
      </p:sp>
      <p:sp>
        <p:nvSpPr>
          <p:cNvPr id="7" name="Rounded Rectangle 6"/>
          <p:cNvSpPr/>
          <p:nvPr/>
        </p:nvSpPr>
        <p:spPr>
          <a:xfrm>
            <a:off x="731520" y="4740567"/>
            <a:ext cx="1042416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Es satisfactorio cuando:</a:t>
            </a:r>
            <a:r>
              <a:rPr sz="1800" b="0" i="0" u="none">
                <a:solidFill>
                  <a:srgbClr val="182430"/>
                </a:solidFill>
                <a:latin typeface="Montserrat Medium"/>
                <a:ea typeface="Montserrat Medium"/>
                <a:cs typeface="Montserrat Medium"/>
              </a:rPr>
              <a:t> cumple los criterios de aceptación y todas las subtareas aplicables. </a:t>
            </a:r>
            <a:r>
              <a:rPr sz="1800" b="1" i="0" u="none">
                <a:solidFill>
                  <a:srgbClr val="0E2A47"/>
                </a:solidFill>
                <a:highlight>
                  <a:srgbClr val="E6CC8F"/>
                </a:highlight>
                <a:latin typeface="Montserrat Medium"/>
                <a:ea typeface="Montserrat Medium"/>
                <a:cs typeface="Montserrat Medium"/>
              </a:rPr>
              <a:t>La acreditación no se extiende a otras tareas.</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4.2.3.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17">
            <a:extLst>
              <a:ext uri="{FF2B5EF4-FFF2-40B4-BE49-F238E27FC236}">
                <a16:creationId xmlns:a16="http://schemas.microsoft.com/office/drawing/2014/main" id="{145BDB81-99C8-B494-6D46-E58474007F07}"/>
              </a:ext>
            </a:extLst>
          </p:cNvPr>
          <p:cNvSpPr/>
          <p:nvPr/>
        </p:nvSpPr>
        <p:spPr>
          <a:xfrm>
            <a:off x="731520" y="1828800"/>
            <a:ext cx="2377440" cy="914400"/>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Evaluación del nivel</a:t>
            </a:r>
          </a:p>
        </p:txBody>
      </p:sp>
      <p:sp>
        <p:nvSpPr>
          <p:cNvPr id="4" name="Right Arrow 18">
            <a:extLst>
              <a:ext uri="{FF2B5EF4-FFF2-40B4-BE49-F238E27FC236}">
                <a16:creationId xmlns:a16="http://schemas.microsoft.com/office/drawing/2014/main" id="{DC3F7369-1EC3-30A8-32A2-675AA198B31D}"/>
              </a:ext>
            </a:extLst>
          </p:cNvPr>
          <p:cNvSpPr/>
          <p:nvPr/>
        </p:nvSpPr>
        <p:spPr>
          <a:xfrm>
            <a:off x="3200400" y="2103120"/>
            <a:ext cx="411480" cy="365760"/>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Diamond 19">
            <a:extLst>
              <a:ext uri="{FF2B5EF4-FFF2-40B4-BE49-F238E27FC236}">
                <a16:creationId xmlns:a16="http://schemas.microsoft.com/office/drawing/2014/main" id="{1D01423A-CBA3-1F27-2A00-DA23D185BFE0}"/>
              </a:ext>
            </a:extLst>
          </p:cNvPr>
          <p:cNvSpPr/>
          <p:nvPr/>
        </p:nvSpPr>
        <p:spPr>
          <a:xfrm>
            <a:off x="3611880" y="1645920"/>
            <a:ext cx="2103120" cy="1280160"/>
          </a:xfrm>
          <a:prstGeom prst="diamond">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300" b="0" i="0" u="none">
                <a:solidFill>
                  <a:srgbClr val="FFFFFF"/>
                </a:solidFill>
                <a:latin typeface="Montserrat SemiBold"/>
                <a:ea typeface="Montserrat SemiBold"/>
                <a:cs typeface="Montserrat SemiBold"/>
              </a:rPr>
              <a:t>¿Aprueba?</a:t>
            </a:r>
          </a:p>
        </p:txBody>
      </p:sp>
      <p:sp>
        <p:nvSpPr>
          <p:cNvPr id="6" name="Right Arrow 20">
            <a:extLst>
              <a:ext uri="{FF2B5EF4-FFF2-40B4-BE49-F238E27FC236}">
                <a16:creationId xmlns:a16="http://schemas.microsoft.com/office/drawing/2014/main" id="{E0C3B1EB-C76A-3FF1-4E4A-886BE6A9A433}"/>
              </a:ext>
            </a:extLst>
          </p:cNvPr>
          <p:cNvSpPr/>
          <p:nvPr/>
        </p:nvSpPr>
        <p:spPr>
          <a:xfrm>
            <a:off x="5760720" y="2103120"/>
            <a:ext cx="685800" cy="365760"/>
          </a:xfrm>
          <a:prstGeom prst="rightArrow">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1">
            <a:extLst>
              <a:ext uri="{FF2B5EF4-FFF2-40B4-BE49-F238E27FC236}">
                <a16:creationId xmlns:a16="http://schemas.microsoft.com/office/drawing/2014/main" id="{A76E0F2B-CC80-8F7E-F059-23FDE94048A7}"/>
              </a:ext>
            </a:extLst>
          </p:cNvPr>
          <p:cNvSpPr txBox="1"/>
          <p:nvPr/>
        </p:nvSpPr>
        <p:spPr>
          <a:xfrm>
            <a:off x="5669280" y="1645920"/>
            <a:ext cx="868680" cy="411480"/>
          </a:xfrm>
          <a:prstGeom prst="rect">
            <a:avLst/>
          </a:prstGeom>
          <a:noFill/>
        </p:spPr>
        <p:txBody>
          <a:bodyPr wrap="square" lIns="45720" rIns="45720" anchor="t">
            <a:spAutoFit/>
          </a:bodyPr>
          <a:lstStyle/>
          <a:p>
            <a:pPr algn="ctr">
              <a:lnSpc>
                <a:spcPct val="100000"/>
              </a:lnSpc>
              <a:spcAft>
                <a:spcPts val="600"/>
              </a:spcAft>
            </a:pPr>
            <a:r>
              <a:rPr sz="1800" b="0" i="0" u="none">
                <a:solidFill>
                  <a:srgbClr val="2F7A4D"/>
                </a:solidFill>
                <a:latin typeface="Montserrat SemiBold"/>
                <a:ea typeface="Montserrat SemiBold"/>
                <a:cs typeface="Montserrat SemiBold"/>
              </a:rPr>
              <a:t>Sí</a:t>
            </a:r>
          </a:p>
        </p:txBody>
      </p:sp>
      <p:sp>
        <p:nvSpPr>
          <p:cNvPr id="8" name="Rounded Rectangle 22">
            <a:extLst>
              <a:ext uri="{FF2B5EF4-FFF2-40B4-BE49-F238E27FC236}">
                <a16:creationId xmlns:a16="http://schemas.microsoft.com/office/drawing/2014/main" id="{1B0DF589-9FC8-6E62-460F-220B73054A9E}"/>
              </a:ext>
            </a:extLst>
          </p:cNvPr>
          <p:cNvSpPr/>
          <p:nvPr/>
        </p:nvSpPr>
        <p:spPr>
          <a:xfrm>
            <a:off x="6583680" y="1828800"/>
            <a:ext cx="4572000" cy="914400"/>
          </a:xfrm>
          <a:prstGeom prst="roundRect">
            <a:avLst>
              <a:gd name="adj" fmla="val 8000"/>
            </a:avLst>
          </a:prstGeom>
          <a:solidFill>
            <a:srgbClr val="2F7A4D"/>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0"/>
              </a:spcAft>
            </a:pPr>
            <a:r>
              <a:rPr sz="1700" b="0" i="0" u="none">
                <a:solidFill>
                  <a:srgbClr val="FFFFFF"/>
                </a:solidFill>
                <a:latin typeface="Montserrat SemiBold"/>
                <a:ea typeface="Montserrat SemiBold"/>
                <a:cs typeface="Montserrat SemiBold"/>
              </a:rPr>
              <a:t>Se registra y el siguiente nivel se programa en fecha posterior</a:t>
            </a:r>
          </a:p>
        </p:txBody>
      </p:sp>
      <p:cxnSp>
        <p:nvCxnSpPr>
          <p:cNvPr id="9" name="Connector 23">
            <a:extLst>
              <a:ext uri="{FF2B5EF4-FFF2-40B4-BE49-F238E27FC236}">
                <a16:creationId xmlns:a16="http://schemas.microsoft.com/office/drawing/2014/main" id="{5E1BD780-CC59-3115-40D2-53E42676CDDD}"/>
              </a:ext>
            </a:extLst>
          </p:cNvPr>
          <p:cNvCxnSpPr/>
          <p:nvPr/>
        </p:nvCxnSpPr>
        <p:spPr>
          <a:xfrm>
            <a:off x="4663440" y="2926080"/>
            <a:ext cx="0" cy="228600"/>
          </a:xfrm>
          <a:prstGeom prst="line">
            <a:avLst/>
          </a:prstGeom>
          <a:ln w="31750">
            <a:solidFill>
              <a:srgbClr val="9A7323"/>
            </a:solidFill>
          </a:ln>
        </p:spPr>
        <p:style>
          <a:lnRef idx="2">
            <a:schemeClr val="accent1"/>
          </a:lnRef>
          <a:fillRef idx="0">
            <a:schemeClr val="accent1"/>
          </a:fillRef>
          <a:effectRef idx="1">
            <a:schemeClr val="accent1"/>
          </a:effectRef>
          <a:fontRef idx="minor">
            <a:schemeClr val="tx1"/>
          </a:fontRef>
        </p:style>
      </p:cxnSp>
      <p:cxnSp>
        <p:nvCxnSpPr>
          <p:cNvPr id="10" name="Connector 24">
            <a:extLst>
              <a:ext uri="{FF2B5EF4-FFF2-40B4-BE49-F238E27FC236}">
                <a16:creationId xmlns:a16="http://schemas.microsoft.com/office/drawing/2014/main" id="{7319B220-C273-8460-6DD8-30399DE5C762}"/>
              </a:ext>
            </a:extLst>
          </p:cNvPr>
          <p:cNvCxnSpPr/>
          <p:nvPr/>
        </p:nvCxnSpPr>
        <p:spPr>
          <a:xfrm flipH="1">
            <a:off x="1920240" y="3154680"/>
            <a:ext cx="2743200" cy="0"/>
          </a:xfrm>
          <a:prstGeom prst="line">
            <a:avLst/>
          </a:prstGeom>
          <a:ln w="31750">
            <a:solidFill>
              <a:srgbClr val="9A7323"/>
            </a:solidFill>
          </a:ln>
        </p:spPr>
        <p:style>
          <a:lnRef idx="2">
            <a:schemeClr val="accent1"/>
          </a:lnRef>
          <a:fillRef idx="0">
            <a:schemeClr val="accent1"/>
          </a:fillRef>
          <a:effectRef idx="1">
            <a:schemeClr val="accent1"/>
          </a:effectRef>
          <a:fontRef idx="minor">
            <a:schemeClr val="tx1"/>
          </a:fontRef>
        </p:style>
      </p:cxnSp>
      <p:cxnSp>
        <p:nvCxnSpPr>
          <p:cNvPr id="11" name="Connector 25">
            <a:extLst>
              <a:ext uri="{FF2B5EF4-FFF2-40B4-BE49-F238E27FC236}">
                <a16:creationId xmlns:a16="http://schemas.microsoft.com/office/drawing/2014/main" id="{CD32AC51-4519-EA9B-E1E1-9FD4C052D094}"/>
              </a:ext>
            </a:extLst>
          </p:cNvPr>
          <p:cNvCxnSpPr/>
          <p:nvPr/>
        </p:nvCxnSpPr>
        <p:spPr>
          <a:xfrm>
            <a:off x="1920240" y="3154680"/>
            <a:ext cx="0" cy="338328"/>
          </a:xfrm>
          <a:prstGeom prst="line">
            <a:avLst/>
          </a:prstGeom>
          <a:ln w="31750">
            <a:solidFill>
              <a:srgbClr val="9A732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26">
            <a:extLst>
              <a:ext uri="{FF2B5EF4-FFF2-40B4-BE49-F238E27FC236}">
                <a16:creationId xmlns:a16="http://schemas.microsoft.com/office/drawing/2014/main" id="{DB3E18A9-DC56-B3CB-8673-43846A504804}"/>
              </a:ext>
            </a:extLst>
          </p:cNvPr>
          <p:cNvSpPr txBox="1"/>
          <p:nvPr/>
        </p:nvSpPr>
        <p:spPr>
          <a:xfrm>
            <a:off x="4754880" y="2862072"/>
            <a:ext cx="731520" cy="365760"/>
          </a:xfrm>
          <a:prstGeom prst="rect">
            <a:avLst/>
          </a:prstGeom>
          <a:noFill/>
        </p:spPr>
        <p:txBody>
          <a:bodyPr wrap="square" lIns="45720" rIns="45720" anchor="t">
            <a:spAutoFit/>
          </a:bodyPr>
          <a:lstStyle/>
          <a:p>
            <a:pPr algn="l">
              <a:lnSpc>
                <a:spcPct val="100000"/>
              </a:lnSpc>
              <a:spcAft>
                <a:spcPts val="600"/>
              </a:spcAft>
            </a:pPr>
            <a:r>
              <a:rPr sz="1800" b="0" i="0" u="none">
                <a:solidFill>
                  <a:srgbClr val="A3352C"/>
                </a:solidFill>
                <a:latin typeface="Montserrat SemiBold"/>
                <a:ea typeface="Montserrat SemiBold"/>
                <a:cs typeface="Montserrat SemiBold"/>
              </a:rPr>
              <a:t>No</a:t>
            </a:r>
          </a:p>
        </p:txBody>
      </p:sp>
      <p:sp>
        <p:nvSpPr>
          <p:cNvPr id="13" name="Rounded Rectangle 27">
            <a:extLst>
              <a:ext uri="{FF2B5EF4-FFF2-40B4-BE49-F238E27FC236}">
                <a16:creationId xmlns:a16="http://schemas.microsoft.com/office/drawing/2014/main" id="{216988C1-92E2-F0E7-E748-82804429B12B}"/>
              </a:ext>
            </a:extLst>
          </p:cNvPr>
          <p:cNvSpPr/>
          <p:nvPr/>
        </p:nvSpPr>
        <p:spPr>
          <a:xfrm>
            <a:off x="73152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Brechas y retroalimentación</a:t>
            </a:r>
          </a:p>
        </p:txBody>
      </p:sp>
      <p:sp>
        <p:nvSpPr>
          <p:cNvPr id="14" name="Right Arrow 28">
            <a:extLst>
              <a:ext uri="{FF2B5EF4-FFF2-40B4-BE49-F238E27FC236}">
                <a16:creationId xmlns:a16="http://schemas.microsoft.com/office/drawing/2014/main" id="{D54385E2-CB61-55B7-9FAC-8F6EC729CA85}"/>
              </a:ext>
            </a:extLst>
          </p:cNvPr>
          <p:cNvSpPr/>
          <p:nvPr/>
        </p:nvSpPr>
        <p:spPr>
          <a:xfrm>
            <a:off x="3136391" y="3822191"/>
            <a:ext cx="228600" cy="310896"/>
          </a:xfrm>
          <a:prstGeom prst="rightArrow">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29">
            <a:extLst>
              <a:ext uri="{FF2B5EF4-FFF2-40B4-BE49-F238E27FC236}">
                <a16:creationId xmlns:a16="http://schemas.microsoft.com/office/drawing/2014/main" id="{500DB928-6337-D194-9AC9-B83778A68B79}"/>
              </a:ext>
            </a:extLst>
          </p:cNvPr>
          <p:cNvSpPr/>
          <p:nvPr/>
        </p:nvSpPr>
        <p:spPr>
          <a:xfrm>
            <a:off x="338328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Reforzamiento</a:t>
            </a:r>
          </a:p>
        </p:txBody>
      </p:sp>
      <p:sp>
        <p:nvSpPr>
          <p:cNvPr id="16" name="Right Arrow 30">
            <a:extLst>
              <a:ext uri="{FF2B5EF4-FFF2-40B4-BE49-F238E27FC236}">
                <a16:creationId xmlns:a16="http://schemas.microsoft.com/office/drawing/2014/main" id="{41327433-7D2D-656A-1005-D08EADC0B242}"/>
              </a:ext>
            </a:extLst>
          </p:cNvPr>
          <p:cNvSpPr/>
          <p:nvPr/>
        </p:nvSpPr>
        <p:spPr>
          <a:xfrm>
            <a:off x="5788152" y="3822191"/>
            <a:ext cx="228600" cy="310896"/>
          </a:xfrm>
          <a:prstGeom prst="rightArrow">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31">
            <a:extLst>
              <a:ext uri="{FF2B5EF4-FFF2-40B4-BE49-F238E27FC236}">
                <a16:creationId xmlns:a16="http://schemas.microsoft.com/office/drawing/2014/main" id="{13B989CE-8EF3-BE57-0493-642D81985DA0}"/>
              </a:ext>
            </a:extLst>
          </p:cNvPr>
          <p:cNvSpPr/>
          <p:nvPr/>
        </p:nvSpPr>
        <p:spPr>
          <a:xfrm>
            <a:off x="603504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Reprogramación por el ICOJT</a:t>
            </a:r>
          </a:p>
        </p:txBody>
      </p:sp>
      <p:sp>
        <p:nvSpPr>
          <p:cNvPr id="18" name="Right Arrow 32">
            <a:extLst>
              <a:ext uri="{FF2B5EF4-FFF2-40B4-BE49-F238E27FC236}">
                <a16:creationId xmlns:a16="http://schemas.microsoft.com/office/drawing/2014/main" id="{0D3FF324-CB35-688B-7BA7-3114960200C3}"/>
              </a:ext>
            </a:extLst>
          </p:cNvPr>
          <p:cNvSpPr/>
          <p:nvPr/>
        </p:nvSpPr>
        <p:spPr>
          <a:xfrm>
            <a:off x="8439912" y="3822191"/>
            <a:ext cx="228600" cy="310896"/>
          </a:xfrm>
          <a:prstGeom prst="rightArrow">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33">
            <a:extLst>
              <a:ext uri="{FF2B5EF4-FFF2-40B4-BE49-F238E27FC236}">
                <a16:creationId xmlns:a16="http://schemas.microsoft.com/office/drawing/2014/main" id="{F7BFCEE8-6D56-A044-7B16-D86C0F7EB037}"/>
              </a:ext>
            </a:extLst>
          </p:cNvPr>
          <p:cNvSpPr/>
          <p:nvPr/>
        </p:nvSpPr>
        <p:spPr>
          <a:xfrm>
            <a:off x="8686800" y="3520440"/>
            <a:ext cx="2377440" cy="914400"/>
          </a:xfrm>
          <a:prstGeom prst="roundRect">
            <a:avLst>
              <a:gd name="adj" fmla="val 8000"/>
            </a:avLst>
          </a:prstGeom>
          <a:solidFill>
            <a:srgbClr val="F6EEDC"/>
          </a:solidFill>
          <a:ln w="15875">
            <a:solidFill>
              <a:srgbClr val="9A7323"/>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700" b="0" i="0" u="none">
                <a:solidFill>
                  <a:srgbClr val="0E2A47"/>
                </a:solidFill>
                <a:latin typeface="Montserrat SemiBold"/>
                <a:ea typeface="Montserrat SemiBold"/>
                <a:cs typeface="Montserrat SemiBold"/>
              </a:rPr>
              <a:t>Nueva evaluación</a:t>
            </a:r>
          </a:p>
        </p:txBody>
      </p:sp>
      <p:sp>
        <p:nvSpPr>
          <p:cNvPr id="20" name="TextBox 15">
            <a:extLst>
              <a:ext uri="{FF2B5EF4-FFF2-40B4-BE49-F238E27FC236}">
                <a16:creationId xmlns:a16="http://schemas.microsoft.com/office/drawing/2014/main" id="{05EF59B3-4D15-4855-013B-CF38FAA094A2}"/>
              </a:ext>
            </a:extLst>
          </p:cNvPr>
          <p:cNvSpPr txBox="1"/>
          <p:nvPr/>
        </p:nvSpPr>
        <p:spPr>
          <a:xfrm>
            <a:off x="731520" y="4910168"/>
            <a:ext cx="10424160" cy="1245174"/>
          </a:xfrm>
          <a:prstGeom prst="rect">
            <a:avLst/>
          </a:prstGeom>
          <a:noFill/>
        </p:spPr>
        <p:txBody>
          <a:bodyPr wrap="square" lIns="45720" rIns="45720" anchor="t">
            <a:spAutoFit/>
          </a:bodyPr>
          <a:lstStyle/>
          <a:p>
            <a:pPr marL="347472" indent="-347472" algn="l">
              <a:lnSpc>
                <a:spcPct val="100000"/>
              </a:lnSpc>
              <a:spcAft>
                <a:spcPts val="600"/>
              </a:spcAft>
              <a:buClr>
                <a:srgbClr val="B98A2E"/>
              </a:buClr>
              <a:buFont typeface="Arial"/>
              <a:buChar char="•"/>
            </a:pPr>
            <a:r>
              <a:rPr sz="1800" b="0" i="0" u="none" dirty="0" err="1">
                <a:solidFill>
                  <a:srgbClr val="182430"/>
                </a:solidFill>
                <a:latin typeface="Montserrat Medium"/>
                <a:ea typeface="Montserrat Medium"/>
                <a:cs typeface="Montserrat Medium"/>
              </a:rPr>
              <a:t>Interrupción</a:t>
            </a:r>
            <a:r>
              <a:rPr sz="1800" b="0" i="0" u="none" dirty="0">
                <a:solidFill>
                  <a:srgbClr val="182430"/>
                </a:solidFill>
                <a:latin typeface="Montserrat Medium"/>
                <a:ea typeface="Montserrat Medium"/>
                <a:cs typeface="Montserrat Medium"/>
              </a:rPr>
              <a:t> externa: </a:t>
            </a:r>
            <a:r>
              <a:rPr sz="1800" b="0" i="0" u="none" dirty="0" err="1">
                <a:solidFill>
                  <a:srgbClr val="182430"/>
                </a:solidFill>
                <a:latin typeface="Montserrat Medium"/>
                <a:ea typeface="Montserrat Medium"/>
                <a:cs typeface="Montserrat Medium"/>
              </a:rPr>
              <a:t>queda</a:t>
            </a:r>
            <a:r>
              <a:rPr sz="1800" b="0" i="0" u="none" dirty="0">
                <a:solidFill>
                  <a:srgbClr val="182430"/>
                </a:solidFill>
                <a:latin typeface="Montserrat Medium"/>
                <a:ea typeface="Montserrat Medium"/>
                <a:cs typeface="Montserrat Medium"/>
              </a:rPr>
              <a:t> </a:t>
            </a:r>
            <a:r>
              <a:rPr sz="1800" b="1" i="0" u="none" dirty="0" err="1">
                <a:solidFill>
                  <a:srgbClr val="0E2A47"/>
                </a:solidFill>
                <a:highlight>
                  <a:srgbClr val="EFDDB0"/>
                </a:highlight>
                <a:latin typeface="Montserrat Medium"/>
                <a:ea typeface="Montserrat Medium"/>
                <a:cs typeface="Montserrat Medium"/>
              </a:rPr>
              <a:t>pendiente</a:t>
            </a:r>
            <a:r>
              <a:rPr sz="1800" b="0" i="0" u="none" dirty="0">
                <a:solidFill>
                  <a:srgbClr val="182430"/>
                </a:solidFill>
                <a:latin typeface="Montserrat Medium"/>
                <a:ea typeface="Montserrat Medium"/>
                <a:cs typeface="Montserrat Medium"/>
              </a:rPr>
              <a:t>, no es </a:t>
            </a:r>
            <a:r>
              <a:rPr sz="1800" b="0" i="0" u="none" dirty="0" err="1">
                <a:solidFill>
                  <a:srgbClr val="182430"/>
                </a:solidFill>
                <a:latin typeface="Montserrat Medium"/>
                <a:ea typeface="Montserrat Medium"/>
                <a:cs typeface="Montserrat Medium"/>
              </a:rPr>
              <a:t>falta</a:t>
            </a:r>
            <a:r>
              <a:rPr sz="1800" b="0" i="0" u="none" dirty="0">
                <a:solidFill>
                  <a:srgbClr val="182430"/>
                </a:solidFill>
                <a:latin typeface="Montserrat Medium"/>
                <a:ea typeface="Montserrat Medium"/>
                <a:cs typeface="Montserrat Medium"/>
              </a:rPr>
              <a:t> de </a:t>
            </a:r>
            <a:r>
              <a:rPr sz="1800" b="0" i="0" u="none" dirty="0" err="1">
                <a:solidFill>
                  <a:srgbClr val="182430"/>
                </a:solidFill>
                <a:latin typeface="Montserrat Medium"/>
                <a:ea typeface="Montserrat Medium"/>
                <a:cs typeface="Montserrat Medium"/>
              </a:rPr>
              <a:t>competencia</a:t>
            </a:r>
            <a:r>
              <a:rPr sz="1800" b="0" i="0" u="none" dirty="0">
                <a:solidFill>
                  <a:srgbClr val="182430"/>
                </a:solidFill>
                <a:latin typeface="Montserrat Medium"/>
                <a:ea typeface="Montserrat Medium"/>
                <a:cs typeface="Montserrat Medium"/>
              </a:rPr>
              <a:t>.</a:t>
            </a:r>
          </a:p>
          <a:p>
            <a:pPr marL="347472" indent="-347472" algn="l">
              <a:lnSpc>
                <a:spcPct val="100000"/>
              </a:lnSpc>
              <a:spcAft>
                <a:spcPts val="600"/>
              </a:spcAft>
              <a:buClr>
                <a:srgbClr val="B98A2E"/>
              </a:buClr>
              <a:buFont typeface="Arial"/>
              <a:buChar char="•"/>
            </a:pPr>
            <a:r>
              <a:rPr sz="1800" b="0" i="0" u="none" dirty="0">
                <a:solidFill>
                  <a:srgbClr val="182430"/>
                </a:solidFill>
                <a:latin typeface="Montserrat Medium"/>
                <a:ea typeface="Montserrat Medium"/>
                <a:cs typeface="Montserrat Medium"/>
              </a:rPr>
              <a:t>Hasta </a:t>
            </a:r>
            <a:r>
              <a:rPr sz="1800" b="1" i="0" u="none" dirty="0">
                <a:solidFill>
                  <a:srgbClr val="0E2A47"/>
                </a:solidFill>
                <a:highlight>
                  <a:srgbClr val="EFDDB0"/>
                </a:highlight>
                <a:latin typeface="Montserrat Medium"/>
                <a:ea typeface="Montserrat Medium"/>
                <a:cs typeface="Montserrat Medium"/>
              </a:rPr>
              <a:t>2 </a:t>
            </a:r>
            <a:r>
              <a:rPr sz="1800" b="1" i="0" u="none" dirty="0" err="1">
                <a:solidFill>
                  <a:srgbClr val="0E2A47"/>
                </a:solidFill>
                <a:highlight>
                  <a:srgbClr val="EFDDB0"/>
                </a:highlight>
                <a:latin typeface="Montserrat Medium"/>
                <a:ea typeface="Montserrat Medium"/>
                <a:cs typeface="Montserrat Medium"/>
              </a:rPr>
              <a:t>reprogramaciones</a:t>
            </a:r>
            <a:r>
              <a:rPr sz="1800" b="0" i="0" u="none" dirty="0">
                <a:solidFill>
                  <a:srgbClr val="182430"/>
                </a:solidFill>
                <a:latin typeface="Montserrat Medium"/>
                <a:ea typeface="Montserrat Medium"/>
                <a:cs typeface="Montserrat Medium"/>
              </a:rPr>
              <a:t> </a:t>
            </a:r>
            <a:r>
              <a:rPr sz="1800" b="0" i="0" u="none" dirty="0" err="1">
                <a:solidFill>
                  <a:srgbClr val="182430"/>
                </a:solidFill>
                <a:latin typeface="Montserrat Medium"/>
                <a:ea typeface="Montserrat Medium"/>
                <a:cs typeface="Montserrat Medium"/>
              </a:rPr>
              <a:t>adicionales</a:t>
            </a:r>
            <a:r>
              <a:rPr sz="1800" b="0" i="0" u="none" dirty="0">
                <a:solidFill>
                  <a:srgbClr val="182430"/>
                </a:solidFill>
                <a:latin typeface="Montserrat Medium"/>
                <a:ea typeface="Montserrat Medium"/>
                <a:cs typeface="Montserrat Medium"/>
              </a:rPr>
              <a:t> </a:t>
            </a:r>
            <a:r>
              <a:rPr sz="1800" b="0" i="0" u="none" dirty="0" err="1">
                <a:solidFill>
                  <a:srgbClr val="182430"/>
                </a:solidFill>
                <a:latin typeface="Montserrat Medium"/>
                <a:ea typeface="Montserrat Medium"/>
                <a:cs typeface="Montserrat Medium"/>
              </a:rPr>
              <a:t>por</a:t>
            </a:r>
            <a:r>
              <a:rPr sz="1800" b="0" i="0" u="none" dirty="0">
                <a:solidFill>
                  <a:srgbClr val="182430"/>
                </a:solidFill>
                <a:latin typeface="Montserrat Medium"/>
                <a:ea typeface="Montserrat Medium"/>
                <a:cs typeface="Montserrat Medium"/>
              </a:rPr>
              <a:t> causa </a:t>
            </a:r>
            <a:r>
              <a:rPr sz="1800" b="0" i="0" u="none" dirty="0" err="1">
                <a:solidFill>
                  <a:srgbClr val="182430"/>
                </a:solidFill>
                <a:latin typeface="Montserrat Medium"/>
                <a:ea typeface="Montserrat Medium"/>
                <a:cs typeface="Montserrat Medium"/>
              </a:rPr>
              <a:t>justificada</a:t>
            </a:r>
            <a:r>
              <a:rPr sz="1800" b="0" i="0" u="none" dirty="0">
                <a:solidFill>
                  <a:srgbClr val="182430"/>
                </a:solidFill>
                <a:latin typeface="Montserrat Medium"/>
                <a:ea typeface="Montserrat Medium"/>
                <a:cs typeface="Montserrat Medium"/>
              </a:rPr>
              <a:t>.</a:t>
            </a:r>
          </a:p>
        </p:txBody>
      </p:sp>
      <p:sp>
        <p:nvSpPr>
          <p:cNvPr id="21" name="TextBox 16">
            <a:extLst>
              <a:ext uri="{FF2B5EF4-FFF2-40B4-BE49-F238E27FC236}">
                <a16:creationId xmlns:a16="http://schemas.microsoft.com/office/drawing/2014/main" id="{4EDEF350-C6FA-82AF-E0F8-A045DF8E7BE7}"/>
              </a:ext>
            </a:extLst>
          </p:cNvPr>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3.4.5 g), 3.4.8 y 4.2.5.</a:t>
            </a:r>
          </a:p>
        </p:txBody>
      </p:sp>
      <p:sp>
        <p:nvSpPr>
          <p:cNvPr id="22" name="Title 1">
            <a:extLst>
              <a:ext uri="{FF2B5EF4-FFF2-40B4-BE49-F238E27FC236}">
                <a16:creationId xmlns:a16="http://schemas.microsoft.com/office/drawing/2014/main" id="{998C54F6-B797-D919-A377-F8EB55F152C8}"/>
              </a:ext>
            </a:extLst>
          </p:cNvPr>
          <p:cNvSpPr>
            <a:spLocks noGrp="1"/>
          </p:cNvSpPr>
          <p:nvPr>
            <p:ph type="title"/>
          </p:nvPr>
        </p:nvSpPr>
        <p:spPr>
          <a:xfrm>
            <a:off x="3246120" y="109728"/>
            <a:ext cx="8641080" cy="1188720"/>
          </a:xfrm>
        </p:spPr>
        <p:txBody>
          <a:bodyPr wrap="square" anchor="ctr"/>
          <a:lstStyle/>
          <a:p>
            <a:pPr algn="l">
              <a:spcAft>
                <a:spcPts val="200"/>
              </a:spcAft>
            </a:pPr>
            <a:r>
              <a:rPr sz="1200" b="0" i="0" u="none" dirty="0">
                <a:solidFill>
                  <a:srgbClr val="E8D3A3"/>
                </a:solidFill>
                <a:latin typeface="Montserrat SemiBold"/>
                <a:ea typeface="Montserrat SemiBold"/>
                <a:cs typeface="Montserrat SemiBold"/>
              </a:rPr>
              <a:t>2.2 NIVELES DE ENTRENAMIENTO OJT: 1, 2 Y 3</a:t>
            </a:r>
          </a:p>
          <a:p>
            <a:pPr algn="l"/>
            <a:r>
              <a:rPr sz="2800" b="0" i="0" u="none" dirty="0">
                <a:solidFill>
                  <a:srgbClr val="FFFFFF"/>
                </a:solidFill>
                <a:latin typeface="Montserrat SemiBold"/>
                <a:ea typeface="Montserrat SemiBold"/>
                <a:cs typeface="Montserrat SemiBold"/>
              </a:rPr>
              <a:t>¿Y </a:t>
            </a:r>
            <a:r>
              <a:rPr sz="2800" b="0" i="0" u="none" dirty="0" err="1">
                <a:solidFill>
                  <a:srgbClr val="FFFFFF"/>
                </a:solidFill>
                <a:latin typeface="Montserrat SemiBold"/>
                <a:ea typeface="Montserrat SemiBold"/>
                <a:cs typeface="Montserrat SemiBold"/>
              </a:rPr>
              <a:t>si</a:t>
            </a:r>
            <a:r>
              <a:rPr sz="2800" b="0" i="0" u="none" dirty="0">
                <a:solidFill>
                  <a:srgbClr val="FFFFFF"/>
                </a:solidFill>
                <a:latin typeface="Montserrat SemiBold"/>
                <a:ea typeface="Montserrat SemiBold"/>
                <a:cs typeface="Montserrat SemiBold"/>
              </a:rPr>
              <a:t> el </a:t>
            </a:r>
            <a:r>
              <a:rPr sz="2800" b="0" i="0" u="none" dirty="0" err="1">
                <a:solidFill>
                  <a:srgbClr val="FFFFFF"/>
                </a:solidFill>
                <a:latin typeface="Montserrat SemiBold"/>
                <a:ea typeface="Montserrat SemiBold"/>
                <a:cs typeface="Montserrat SemiBold"/>
              </a:rPr>
              <a:t>resultado</a:t>
            </a:r>
            <a:r>
              <a:rPr sz="2800" b="0" i="0" u="none" dirty="0">
                <a:solidFill>
                  <a:srgbClr val="FFFFFF"/>
                </a:solidFill>
                <a:latin typeface="Montserrat SemiBold"/>
                <a:ea typeface="Montserrat SemiBold"/>
                <a:cs typeface="Montserrat SemiBold"/>
              </a:rPr>
              <a:t> no es </a:t>
            </a:r>
            <a:r>
              <a:rPr sz="2800" b="0" i="0" u="none" dirty="0" err="1">
                <a:solidFill>
                  <a:srgbClr val="FFFFFF"/>
                </a:solidFill>
                <a:latin typeface="Montserrat SemiBold"/>
                <a:ea typeface="Montserrat SemiBold"/>
                <a:cs typeface="Montserrat SemiBold"/>
              </a:rPr>
              <a:t>satisfactorio</a:t>
            </a:r>
            <a:r>
              <a:rPr sz="2800" b="0" i="0" u="none" dirty="0">
                <a:solidFill>
                  <a:srgbClr val="FFFFFF"/>
                </a:solidFill>
                <a:latin typeface="Montserrat SemiBold"/>
                <a:ea typeface="Montserrat SemiBold"/>
                <a:cs typeface="Montserrat SemiBold"/>
              </a:rPr>
              <a:t>?</a:t>
            </a:r>
          </a:p>
        </p:txBody>
      </p:sp>
    </p:spTree>
    <p:extLst>
      <p:ext uri="{BB962C8B-B14F-4D97-AF65-F5344CB8AC3E}">
        <p14:creationId xmlns:p14="http://schemas.microsoft.com/office/powerpoint/2010/main" val="1014977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2.2 NIVELES DE ENTRENAMIENTO OJT: 1, 2 Y 3</a:t>
            </a:r>
          </a:p>
          <a:p>
            <a:pPr algn="l"/>
            <a:r>
              <a:rPr sz="2800" b="0" i="0" u="none">
                <a:solidFill>
                  <a:srgbClr val="FFFFFF"/>
                </a:solidFill>
                <a:latin typeface="Montserrat SemiBold"/>
                <a:ea typeface="Montserrat SemiBold"/>
                <a:cs typeface="Montserrat SemiBold"/>
              </a:rPr>
              <a:t>Entrenamiento previo: convalidación</a:t>
            </a:r>
          </a:p>
        </p:txBody>
      </p:sp>
      <p:sp>
        <p:nvSpPr>
          <p:cNvPr id="3" name="Rounded Rectangle 2"/>
          <p:cNvSpPr/>
          <p:nvPr/>
        </p:nvSpPr>
        <p:spPr>
          <a:xfrm>
            <a:off x="731520" y="1835161"/>
            <a:ext cx="5029200" cy="581081"/>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Modalidad 1: Formato OJT anterior</a:t>
            </a:r>
          </a:p>
        </p:txBody>
      </p:sp>
      <p:sp>
        <p:nvSpPr>
          <p:cNvPr id="4" name="Rounded Rectangle 3"/>
          <p:cNvSpPr/>
          <p:nvPr/>
        </p:nvSpPr>
        <p:spPr>
          <a:xfrm>
            <a:off x="731520" y="2416242"/>
            <a:ext cx="5029200" cy="1577220"/>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0"/>
              </a:spcAft>
            </a:pPr>
            <a:r>
              <a:rPr sz="1800" b="0" i="0" u="none">
                <a:solidFill>
                  <a:srgbClr val="182430"/>
                </a:solidFill>
                <a:latin typeface="Montserrat Medium"/>
                <a:ea typeface="Montserrat Medium"/>
                <a:cs typeface="Montserrat Medium"/>
              </a:rPr>
              <a:t>Se examina el entrenamiento ya documentado, con sus firmas y evidencias originales.</a:t>
            </a:r>
          </a:p>
        </p:txBody>
      </p:sp>
      <p:sp>
        <p:nvSpPr>
          <p:cNvPr id="5" name="Rounded Rectangle 4"/>
          <p:cNvSpPr/>
          <p:nvPr/>
        </p:nvSpPr>
        <p:spPr>
          <a:xfrm>
            <a:off x="6035040" y="1835161"/>
            <a:ext cx="5029200" cy="581081"/>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Modalidad 2: Evidencia documental</a:t>
            </a:r>
          </a:p>
        </p:txBody>
      </p:sp>
      <p:sp>
        <p:nvSpPr>
          <p:cNvPr id="6" name="Rounded Rectangle 5"/>
          <p:cNvSpPr/>
          <p:nvPr/>
        </p:nvSpPr>
        <p:spPr>
          <a:xfrm>
            <a:off x="6035040" y="2416242"/>
            <a:ext cx="5029200" cy="1577220"/>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ctr">
              <a:spcAft>
                <a:spcPts val="0"/>
              </a:spcAft>
            </a:pPr>
            <a:r>
              <a:rPr sz="1800" b="0" i="0" u="none">
                <a:solidFill>
                  <a:srgbClr val="182430"/>
                </a:solidFill>
                <a:latin typeface="Montserrat Medium"/>
                <a:ea typeface="Montserrat Medium"/>
                <a:cs typeface="Montserrat Medium"/>
              </a:rPr>
              <a:t>Se examinan actividades previas por tarea, nivel, evento y fecha real.</a:t>
            </a:r>
          </a:p>
        </p:txBody>
      </p:sp>
      <p:sp>
        <p:nvSpPr>
          <p:cNvPr id="7" name="TextBox 6"/>
          <p:cNvSpPr txBox="1"/>
          <p:nvPr/>
        </p:nvSpPr>
        <p:spPr>
          <a:xfrm>
            <a:off x="731520" y="4242497"/>
            <a:ext cx="10424160" cy="1577220"/>
          </a:xfrm>
          <a:prstGeom prst="rect">
            <a:avLst/>
          </a:prstGeom>
          <a:noFill/>
        </p:spPr>
        <p:txBody>
          <a:bodyPr wrap="square" lIns="45720" rIns="45720" anchor="t">
            <a:spAutoFit/>
          </a:bodyPr>
          <a:lstStyle/>
          <a:p>
            <a:pPr marL="347472" indent="-347472" algn="l">
              <a:lnSpc>
                <a:spcPct val="100000"/>
              </a:lnSpc>
              <a:spcAft>
                <a:spcPts val="800"/>
              </a:spcAft>
              <a:buClr>
                <a:srgbClr val="B98A2E"/>
              </a:buClr>
              <a:buFont typeface="Arial"/>
              <a:buChar char="•"/>
            </a:pPr>
            <a:r>
              <a:rPr sz="2200" b="0" i="0" u="none">
                <a:solidFill>
                  <a:srgbClr val="182430"/>
                </a:solidFill>
                <a:latin typeface="Montserrat Medium"/>
                <a:ea typeface="Montserrat Medium"/>
                <a:cs typeface="Montserrat Medium"/>
              </a:rPr>
              <a:t>La </a:t>
            </a:r>
            <a:r>
              <a:rPr sz="2200" b="1" i="0" u="none">
                <a:solidFill>
                  <a:srgbClr val="0E2A47"/>
                </a:solidFill>
                <a:highlight>
                  <a:srgbClr val="EFDDB0"/>
                </a:highlight>
                <a:latin typeface="Montserrat Medium"/>
                <a:ea typeface="Montserrat Medium"/>
                <a:cs typeface="Montserrat Medium"/>
              </a:rPr>
              <a:t>antigüedad</a:t>
            </a:r>
            <a:r>
              <a:rPr sz="2200" b="0" i="0" u="none">
                <a:solidFill>
                  <a:srgbClr val="182430"/>
                </a:solidFill>
                <a:latin typeface="Montserrat Medium"/>
                <a:ea typeface="Montserrat Medium"/>
                <a:cs typeface="Montserrat Medium"/>
              </a:rPr>
              <a:t> por sí sola no acredita.</a:t>
            </a:r>
          </a:p>
          <a:p>
            <a:pPr marL="347472" indent="-347472" algn="l">
              <a:lnSpc>
                <a:spcPct val="100000"/>
              </a:lnSpc>
              <a:spcAft>
                <a:spcPts val="800"/>
              </a:spcAft>
              <a:buClr>
                <a:srgbClr val="B98A2E"/>
              </a:buClr>
              <a:buFont typeface="Arial"/>
              <a:buChar char="•"/>
            </a:pPr>
            <a:r>
              <a:rPr sz="2200" b="0" i="0" u="none">
                <a:solidFill>
                  <a:srgbClr val="182430"/>
                </a:solidFill>
                <a:latin typeface="Montserrat Medium"/>
                <a:ea typeface="Montserrat Medium"/>
                <a:cs typeface="Montserrat Medium"/>
              </a:rPr>
              <a:t>Sin sustento: se registra la brecha y se programa el entrenamiento.</a:t>
            </a:r>
          </a:p>
        </p:txBody>
      </p:sp>
      <p:sp>
        <p:nvSpPr>
          <p:cNvPr id="8" name="TextBox 7"/>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4.4 y 4.5 (P-DCIA-CPEPT-02-R04).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2.3 ESPECIALIDADES TÉCNICAS DEL IVA (24)</a:t>
            </a:r>
          </a:p>
          <a:p>
            <a:pPr algn="l"/>
            <a:r>
              <a:rPr sz="2800" b="0" i="0" u="none">
                <a:solidFill>
                  <a:srgbClr val="FFFFFF"/>
                </a:solidFill>
                <a:latin typeface="Montserrat SemiBold"/>
                <a:ea typeface="Montserrat SemiBold"/>
                <a:cs typeface="Montserrat SemiBold"/>
              </a:rPr>
              <a:t>Especialidades técnicas del IVA (1 de 3)</a:t>
            </a:r>
          </a:p>
        </p:txBody>
      </p:sp>
      <p:sp>
        <p:nvSpPr>
          <p:cNvPr id="3" name="Rounded Rectangle 2"/>
          <p:cNvSpPr/>
          <p:nvPr/>
        </p:nvSpPr>
        <p:spPr>
          <a:xfrm>
            <a:off x="73152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lang="es-MX" sz="1600" dirty="0">
                <a:solidFill>
                  <a:srgbClr val="FFFFFF"/>
                </a:solidFill>
                <a:latin typeface="Montserrat SemiBold"/>
                <a:ea typeface="Montserrat SemiBold"/>
                <a:cs typeface="Montserrat SemiBold"/>
              </a:rPr>
              <a:t>L</a:t>
            </a:r>
            <a:r>
              <a:rPr sz="1600" b="0" i="0" u="none" dirty="0" err="1">
                <a:solidFill>
                  <a:srgbClr val="FFFFFF"/>
                </a:solidFill>
                <a:latin typeface="Montserrat SemiBold"/>
                <a:ea typeface="Montserrat SemiBold"/>
                <a:cs typeface="Montserrat SemiBold"/>
              </a:rPr>
              <a:t>icencias</a:t>
            </a:r>
            <a:endParaRPr sz="1600" b="0" i="0" u="none" dirty="0">
              <a:solidFill>
                <a:srgbClr val="FFFFFF"/>
              </a:solidFill>
              <a:latin typeface="Montserrat SemiBold"/>
              <a:ea typeface="Montserrat SemiBold"/>
              <a:cs typeface="Montserrat SemiBold"/>
            </a:endParaRPr>
          </a:p>
        </p:txBody>
      </p:sp>
      <p:sp>
        <p:nvSpPr>
          <p:cNvPr id="4" name="Rounded Rectangle 3"/>
          <p:cNvSpPr/>
          <p:nvPr/>
        </p:nvSpPr>
        <p:spPr>
          <a:xfrm>
            <a:off x="73152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a:t>
            </a:r>
          </a:p>
        </p:txBody>
      </p:sp>
      <p:sp>
        <p:nvSpPr>
          <p:cNvPr id="5" name="Rounded Rectangle 4"/>
          <p:cNvSpPr/>
          <p:nvPr/>
        </p:nvSpPr>
        <p:spPr>
          <a:xfrm>
            <a:off x="118872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IVA-L</a:t>
            </a:r>
          </a:p>
        </p:txBody>
      </p:sp>
      <p:sp>
        <p:nvSpPr>
          <p:cNvPr id="6" name="Rounded Rectangle 5"/>
          <p:cNvSpPr/>
          <p:nvPr/>
        </p:nvSpPr>
        <p:spPr>
          <a:xfrm>
            <a:off x="283463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Licencias</a:t>
            </a:r>
          </a:p>
        </p:txBody>
      </p:sp>
      <p:sp>
        <p:nvSpPr>
          <p:cNvPr id="7" name="Rounded Rectangle 6"/>
          <p:cNvSpPr/>
          <p:nvPr/>
        </p:nvSpPr>
        <p:spPr>
          <a:xfrm>
            <a:off x="73152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a:t>
            </a:r>
          </a:p>
        </p:txBody>
      </p:sp>
      <p:sp>
        <p:nvSpPr>
          <p:cNvPr id="8" name="Rounded Rectangle 7"/>
          <p:cNvSpPr/>
          <p:nvPr/>
        </p:nvSpPr>
        <p:spPr>
          <a:xfrm>
            <a:off x="118872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IVA-ES</a:t>
            </a:r>
          </a:p>
        </p:txBody>
      </p:sp>
      <p:sp>
        <p:nvSpPr>
          <p:cNvPr id="9" name="Rounded Rectangle 8"/>
          <p:cNvSpPr/>
          <p:nvPr/>
        </p:nvSpPr>
        <p:spPr>
          <a:xfrm>
            <a:off x="283463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Escuelas</a:t>
            </a:r>
          </a:p>
        </p:txBody>
      </p:sp>
      <p:sp>
        <p:nvSpPr>
          <p:cNvPr id="10" name="Rounded Rectangle 9"/>
          <p:cNvSpPr/>
          <p:nvPr/>
        </p:nvSpPr>
        <p:spPr>
          <a:xfrm>
            <a:off x="73152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3</a:t>
            </a:r>
          </a:p>
        </p:txBody>
      </p:sp>
      <p:sp>
        <p:nvSpPr>
          <p:cNvPr id="11" name="Rounded Rectangle 10"/>
          <p:cNvSpPr/>
          <p:nvPr/>
        </p:nvSpPr>
        <p:spPr>
          <a:xfrm>
            <a:off x="118872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IVA-EX</a:t>
            </a:r>
          </a:p>
        </p:txBody>
      </p:sp>
      <p:sp>
        <p:nvSpPr>
          <p:cNvPr id="12" name="Rounded Rectangle 11"/>
          <p:cNvSpPr/>
          <p:nvPr/>
        </p:nvSpPr>
        <p:spPr>
          <a:xfrm>
            <a:off x="283463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Exámenes</a:t>
            </a:r>
          </a:p>
        </p:txBody>
      </p:sp>
      <p:sp>
        <p:nvSpPr>
          <p:cNvPr id="13" name="Rounded Rectangle 12"/>
          <p:cNvSpPr/>
          <p:nvPr/>
        </p:nvSpPr>
        <p:spPr>
          <a:xfrm>
            <a:off x="731520" y="378593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4</a:t>
            </a:r>
          </a:p>
        </p:txBody>
      </p:sp>
      <p:sp>
        <p:nvSpPr>
          <p:cNvPr id="14" name="Rounded Rectangle 13"/>
          <p:cNvSpPr/>
          <p:nvPr/>
        </p:nvSpPr>
        <p:spPr>
          <a:xfrm>
            <a:off x="1188720" y="378593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IVA-CL</a:t>
            </a:r>
          </a:p>
        </p:txBody>
      </p:sp>
      <p:sp>
        <p:nvSpPr>
          <p:cNvPr id="15" name="Rounded Rectangle 14"/>
          <p:cNvSpPr/>
          <p:nvPr/>
        </p:nvSpPr>
        <p:spPr>
          <a:xfrm>
            <a:off x="2834639" y="378593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Competencia Lingüística</a:t>
            </a:r>
          </a:p>
        </p:txBody>
      </p:sp>
      <p:sp>
        <p:nvSpPr>
          <p:cNvPr id="16" name="Rounded Rectangle 15"/>
          <p:cNvSpPr/>
          <p:nvPr/>
        </p:nvSpPr>
        <p:spPr>
          <a:xfrm>
            <a:off x="731520" y="4317208"/>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5</a:t>
            </a:r>
          </a:p>
        </p:txBody>
      </p:sp>
      <p:sp>
        <p:nvSpPr>
          <p:cNvPr id="17" name="Rounded Rectangle 16"/>
          <p:cNvSpPr/>
          <p:nvPr/>
        </p:nvSpPr>
        <p:spPr>
          <a:xfrm>
            <a:off x="1188720" y="4317208"/>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IVA-ME</a:t>
            </a:r>
          </a:p>
        </p:txBody>
      </p:sp>
      <p:sp>
        <p:nvSpPr>
          <p:cNvPr id="18" name="Rounded Rectangle 17"/>
          <p:cNvSpPr/>
          <p:nvPr/>
        </p:nvSpPr>
        <p:spPr>
          <a:xfrm>
            <a:off x="2834639" y="4317208"/>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Médico Evaluador</a:t>
            </a:r>
          </a:p>
        </p:txBody>
      </p:sp>
      <p:sp>
        <p:nvSpPr>
          <p:cNvPr id="19" name="Rounded Rectangle 18"/>
          <p:cNvSpPr/>
          <p:nvPr/>
        </p:nvSpPr>
        <p:spPr>
          <a:xfrm>
            <a:off x="603504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Operaciones</a:t>
            </a:r>
          </a:p>
        </p:txBody>
      </p:sp>
      <p:sp>
        <p:nvSpPr>
          <p:cNvPr id="20" name="Rounded Rectangle 19"/>
          <p:cNvSpPr/>
          <p:nvPr/>
        </p:nvSpPr>
        <p:spPr>
          <a:xfrm>
            <a:off x="603504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6</a:t>
            </a:r>
          </a:p>
        </p:txBody>
      </p:sp>
      <p:sp>
        <p:nvSpPr>
          <p:cNvPr id="21" name="Rounded Rectangle 20"/>
          <p:cNvSpPr/>
          <p:nvPr/>
        </p:nvSpPr>
        <p:spPr>
          <a:xfrm>
            <a:off x="649224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IVA-OT</a:t>
            </a:r>
          </a:p>
        </p:txBody>
      </p:sp>
      <p:sp>
        <p:nvSpPr>
          <p:cNvPr id="22" name="Rounded Rectangle 21"/>
          <p:cNvSpPr/>
          <p:nvPr/>
        </p:nvSpPr>
        <p:spPr>
          <a:xfrm>
            <a:off x="813815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Operaciones Tierra</a:t>
            </a:r>
          </a:p>
        </p:txBody>
      </p:sp>
      <p:sp>
        <p:nvSpPr>
          <p:cNvPr id="23" name="Rounded Rectangle 22"/>
          <p:cNvSpPr/>
          <p:nvPr/>
        </p:nvSpPr>
        <p:spPr>
          <a:xfrm>
            <a:off x="603504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7</a:t>
            </a:r>
          </a:p>
        </p:txBody>
      </p:sp>
      <p:sp>
        <p:nvSpPr>
          <p:cNvPr id="24" name="Rounded Rectangle 23"/>
          <p:cNvSpPr/>
          <p:nvPr/>
        </p:nvSpPr>
        <p:spPr>
          <a:xfrm>
            <a:off x="649224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IVA-OMP</a:t>
            </a:r>
          </a:p>
        </p:txBody>
      </p:sp>
      <p:sp>
        <p:nvSpPr>
          <p:cNvPr id="25" name="Rounded Rectangle 24"/>
          <p:cNvSpPr/>
          <p:nvPr/>
        </p:nvSpPr>
        <p:spPr>
          <a:xfrm>
            <a:off x="813815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Mercancías Peligrosas</a:t>
            </a:r>
          </a:p>
        </p:txBody>
      </p:sp>
      <p:sp>
        <p:nvSpPr>
          <p:cNvPr id="26" name="Rounded Rectangle 25"/>
          <p:cNvSpPr/>
          <p:nvPr/>
        </p:nvSpPr>
        <p:spPr>
          <a:xfrm>
            <a:off x="603504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8</a:t>
            </a:r>
          </a:p>
        </p:txBody>
      </p:sp>
      <p:sp>
        <p:nvSpPr>
          <p:cNvPr id="27" name="Rounded Rectangle 26"/>
          <p:cNvSpPr/>
          <p:nvPr/>
        </p:nvSpPr>
        <p:spPr>
          <a:xfrm>
            <a:off x="649224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IVA-OV</a:t>
            </a:r>
          </a:p>
        </p:txBody>
      </p:sp>
      <p:sp>
        <p:nvSpPr>
          <p:cNvPr id="28" name="Rounded Rectangle 27"/>
          <p:cNvSpPr/>
          <p:nvPr/>
        </p:nvSpPr>
        <p:spPr>
          <a:xfrm>
            <a:off x="813815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Operaciones Vuelo</a:t>
            </a:r>
          </a:p>
        </p:txBody>
      </p:sp>
      <p:sp>
        <p:nvSpPr>
          <p:cNvPr id="29" name="Rounded Rectangle 28"/>
          <p:cNvSpPr/>
          <p:nvPr/>
        </p:nvSpPr>
        <p:spPr>
          <a:xfrm>
            <a:off x="6035040" y="378593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9</a:t>
            </a:r>
          </a:p>
        </p:txBody>
      </p:sp>
      <p:sp>
        <p:nvSpPr>
          <p:cNvPr id="30" name="Rounded Rectangle 29"/>
          <p:cNvSpPr/>
          <p:nvPr/>
        </p:nvSpPr>
        <p:spPr>
          <a:xfrm>
            <a:off x="6492240" y="378593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IVA-OC</a:t>
            </a:r>
          </a:p>
        </p:txBody>
      </p:sp>
      <p:sp>
        <p:nvSpPr>
          <p:cNvPr id="31" name="Rounded Rectangle 30"/>
          <p:cNvSpPr/>
          <p:nvPr/>
        </p:nvSpPr>
        <p:spPr>
          <a:xfrm>
            <a:off x="8138159" y="378593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Operaciones Cabina</a:t>
            </a:r>
          </a:p>
        </p:txBody>
      </p:sp>
      <p:sp>
        <p:nvSpPr>
          <p:cNvPr id="32" name="TextBox 3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4.3 (conforme a la Carta de Política vigente). Agrupación didáctica.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2.3 ESPECIALIDADES TÉCNICAS DEL IVA (24)</a:t>
            </a:r>
          </a:p>
          <a:p>
            <a:pPr algn="l"/>
            <a:r>
              <a:rPr sz="2800" b="0" i="0" u="none">
                <a:solidFill>
                  <a:srgbClr val="FFFFFF"/>
                </a:solidFill>
                <a:latin typeface="Montserrat SemiBold"/>
                <a:ea typeface="Montserrat SemiBold"/>
                <a:cs typeface="Montserrat SemiBold"/>
              </a:rPr>
              <a:t>Especialidades técnicas del IVA (2 de 3)</a:t>
            </a:r>
          </a:p>
        </p:txBody>
      </p:sp>
      <p:sp>
        <p:nvSpPr>
          <p:cNvPr id="3" name="Rounded Rectangle 2"/>
          <p:cNvSpPr/>
          <p:nvPr/>
        </p:nvSpPr>
        <p:spPr>
          <a:xfrm>
            <a:off x="73152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Aeronavegabilidad</a:t>
            </a:r>
          </a:p>
        </p:txBody>
      </p:sp>
      <p:sp>
        <p:nvSpPr>
          <p:cNvPr id="4" name="Rounded Rectangle 3"/>
          <p:cNvSpPr/>
          <p:nvPr/>
        </p:nvSpPr>
        <p:spPr>
          <a:xfrm>
            <a:off x="73152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10</a:t>
            </a:r>
          </a:p>
        </p:txBody>
      </p:sp>
      <p:sp>
        <p:nvSpPr>
          <p:cNvPr id="5" name="Rounded Rectangle 4"/>
          <p:cNvSpPr/>
          <p:nvPr/>
        </p:nvSpPr>
        <p:spPr>
          <a:xfrm>
            <a:off x="118872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a:t>
            </a:r>
          </a:p>
        </p:txBody>
      </p:sp>
      <p:sp>
        <p:nvSpPr>
          <p:cNvPr id="6" name="Rounded Rectangle 5"/>
          <p:cNvSpPr/>
          <p:nvPr/>
        </p:nvSpPr>
        <p:spPr>
          <a:xfrm>
            <a:off x="283463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Aeronavegabilidad</a:t>
            </a:r>
          </a:p>
        </p:txBody>
      </p:sp>
      <p:sp>
        <p:nvSpPr>
          <p:cNvPr id="7" name="Rounded Rectangle 6"/>
          <p:cNvSpPr/>
          <p:nvPr/>
        </p:nvSpPr>
        <p:spPr>
          <a:xfrm>
            <a:off x="73152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11</a:t>
            </a:r>
          </a:p>
        </p:txBody>
      </p:sp>
      <p:sp>
        <p:nvSpPr>
          <p:cNvPr id="8" name="Rounded Rectangle 7"/>
          <p:cNvSpPr/>
          <p:nvPr/>
        </p:nvSpPr>
        <p:spPr>
          <a:xfrm>
            <a:off x="118872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IVA-ING</a:t>
            </a:r>
          </a:p>
        </p:txBody>
      </p:sp>
      <p:sp>
        <p:nvSpPr>
          <p:cNvPr id="9" name="Rounded Rectangle 8"/>
          <p:cNvSpPr/>
          <p:nvPr/>
        </p:nvSpPr>
        <p:spPr>
          <a:xfrm>
            <a:off x="283463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Ingeniería y Producción</a:t>
            </a:r>
          </a:p>
        </p:txBody>
      </p:sp>
      <p:sp>
        <p:nvSpPr>
          <p:cNvPr id="10" name="Rounded Rectangle 9"/>
          <p:cNvSpPr/>
          <p:nvPr/>
        </p:nvSpPr>
        <p:spPr>
          <a:xfrm>
            <a:off x="603504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Navegación aérea</a:t>
            </a:r>
          </a:p>
        </p:txBody>
      </p:sp>
      <p:sp>
        <p:nvSpPr>
          <p:cNvPr id="11" name="Rounded Rectangle 10"/>
          <p:cNvSpPr/>
          <p:nvPr/>
        </p:nvSpPr>
        <p:spPr>
          <a:xfrm>
            <a:off x="603504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12</a:t>
            </a:r>
          </a:p>
        </p:txBody>
      </p:sp>
      <p:sp>
        <p:nvSpPr>
          <p:cNvPr id="12" name="Rounded Rectangle 11"/>
          <p:cNvSpPr/>
          <p:nvPr/>
        </p:nvSpPr>
        <p:spPr>
          <a:xfrm>
            <a:off x="649224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IVA-AIS</a:t>
            </a:r>
          </a:p>
        </p:txBody>
      </p:sp>
      <p:sp>
        <p:nvSpPr>
          <p:cNvPr id="13" name="Rounded Rectangle 12"/>
          <p:cNvSpPr/>
          <p:nvPr/>
        </p:nvSpPr>
        <p:spPr>
          <a:xfrm>
            <a:off x="813815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Información Aeronáutica</a:t>
            </a:r>
          </a:p>
        </p:txBody>
      </p:sp>
      <p:sp>
        <p:nvSpPr>
          <p:cNvPr id="14" name="Rounded Rectangle 13"/>
          <p:cNvSpPr/>
          <p:nvPr/>
        </p:nvSpPr>
        <p:spPr>
          <a:xfrm>
            <a:off x="603504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13</a:t>
            </a:r>
          </a:p>
        </p:txBody>
      </p:sp>
      <p:sp>
        <p:nvSpPr>
          <p:cNvPr id="15" name="Rounded Rectangle 14"/>
          <p:cNvSpPr/>
          <p:nvPr/>
        </p:nvSpPr>
        <p:spPr>
          <a:xfrm>
            <a:off x="649224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IVA-CNS</a:t>
            </a:r>
          </a:p>
        </p:txBody>
      </p:sp>
      <p:sp>
        <p:nvSpPr>
          <p:cNvPr id="16" name="Rounded Rectangle 15"/>
          <p:cNvSpPr/>
          <p:nvPr/>
        </p:nvSpPr>
        <p:spPr>
          <a:xfrm>
            <a:off x="813815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Comunicaciones, Navegación y Vigilancia</a:t>
            </a:r>
          </a:p>
        </p:txBody>
      </p:sp>
      <p:sp>
        <p:nvSpPr>
          <p:cNvPr id="17" name="Rounded Rectangle 16"/>
          <p:cNvSpPr/>
          <p:nvPr/>
        </p:nvSpPr>
        <p:spPr>
          <a:xfrm>
            <a:off x="603504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14</a:t>
            </a:r>
          </a:p>
        </p:txBody>
      </p:sp>
      <p:sp>
        <p:nvSpPr>
          <p:cNvPr id="18" name="Rounded Rectangle 17"/>
          <p:cNvSpPr/>
          <p:nvPr/>
        </p:nvSpPr>
        <p:spPr>
          <a:xfrm>
            <a:off x="649224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IVA-ATS</a:t>
            </a:r>
          </a:p>
        </p:txBody>
      </p:sp>
      <p:sp>
        <p:nvSpPr>
          <p:cNvPr id="19" name="Rounded Rectangle 18"/>
          <p:cNvSpPr/>
          <p:nvPr/>
        </p:nvSpPr>
        <p:spPr>
          <a:xfrm>
            <a:off x="813815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Tránsito Aéreo</a:t>
            </a:r>
          </a:p>
        </p:txBody>
      </p:sp>
      <p:sp>
        <p:nvSpPr>
          <p:cNvPr id="20" name="Rounded Rectangle 19"/>
          <p:cNvSpPr/>
          <p:nvPr/>
        </p:nvSpPr>
        <p:spPr>
          <a:xfrm>
            <a:off x="6035040" y="378593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15</a:t>
            </a:r>
          </a:p>
        </p:txBody>
      </p:sp>
      <p:sp>
        <p:nvSpPr>
          <p:cNvPr id="21" name="Rounded Rectangle 20"/>
          <p:cNvSpPr/>
          <p:nvPr/>
        </p:nvSpPr>
        <p:spPr>
          <a:xfrm>
            <a:off x="6492240" y="378593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IVA-PANS-OPS</a:t>
            </a:r>
          </a:p>
        </p:txBody>
      </p:sp>
      <p:sp>
        <p:nvSpPr>
          <p:cNvPr id="22" name="Rounded Rectangle 21"/>
          <p:cNvSpPr/>
          <p:nvPr/>
        </p:nvSpPr>
        <p:spPr>
          <a:xfrm>
            <a:off x="8138159" y="378593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Diseño de Procedimientos de Vuelo</a:t>
            </a:r>
          </a:p>
        </p:txBody>
      </p:sp>
      <p:sp>
        <p:nvSpPr>
          <p:cNvPr id="23" name="Rounded Rectangle 22"/>
          <p:cNvSpPr/>
          <p:nvPr/>
        </p:nvSpPr>
        <p:spPr>
          <a:xfrm>
            <a:off x="6035040" y="4317208"/>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16</a:t>
            </a:r>
          </a:p>
        </p:txBody>
      </p:sp>
      <p:sp>
        <p:nvSpPr>
          <p:cNvPr id="24" name="Rounded Rectangle 23"/>
          <p:cNvSpPr/>
          <p:nvPr/>
        </p:nvSpPr>
        <p:spPr>
          <a:xfrm>
            <a:off x="6492240" y="4317208"/>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IVA-MET</a:t>
            </a:r>
          </a:p>
        </p:txBody>
      </p:sp>
      <p:sp>
        <p:nvSpPr>
          <p:cNvPr id="25" name="Rounded Rectangle 24"/>
          <p:cNvSpPr/>
          <p:nvPr/>
        </p:nvSpPr>
        <p:spPr>
          <a:xfrm>
            <a:off x="8138159" y="4317208"/>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Meteorología Aeronáutica</a:t>
            </a:r>
          </a:p>
        </p:txBody>
      </p:sp>
      <p:sp>
        <p:nvSpPr>
          <p:cNvPr id="26" name="Rounded Rectangle 25"/>
          <p:cNvSpPr/>
          <p:nvPr/>
        </p:nvSpPr>
        <p:spPr>
          <a:xfrm>
            <a:off x="6035040" y="4848482"/>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17</a:t>
            </a:r>
          </a:p>
        </p:txBody>
      </p:sp>
      <p:sp>
        <p:nvSpPr>
          <p:cNvPr id="27" name="Rounded Rectangle 26"/>
          <p:cNvSpPr/>
          <p:nvPr/>
        </p:nvSpPr>
        <p:spPr>
          <a:xfrm>
            <a:off x="6492240" y="4848482"/>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IVA-CARTAS</a:t>
            </a:r>
          </a:p>
        </p:txBody>
      </p:sp>
      <p:sp>
        <p:nvSpPr>
          <p:cNvPr id="28" name="Rounded Rectangle 27"/>
          <p:cNvSpPr/>
          <p:nvPr/>
        </p:nvSpPr>
        <p:spPr>
          <a:xfrm>
            <a:off x="8138159" y="4848482"/>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Cartografía Aeronáutica</a:t>
            </a:r>
          </a:p>
        </p:txBody>
      </p:sp>
      <p:sp>
        <p:nvSpPr>
          <p:cNvPr id="29" name="TextBox 28"/>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4.3 (conforme a la Carta de Política vigente). Agrupación didáctica.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2.3 ESPECIALIDADES TÉCNICAS DEL IVA (24)</a:t>
            </a:r>
          </a:p>
          <a:p>
            <a:pPr algn="l"/>
            <a:r>
              <a:rPr sz="2800" b="0" i="0" u="none">
                <a:solidFill>
                  <a:srgbClr val="FFFFFF"/>
                </a:solidFill>
                <a:latin typeface="Montserrat SemiBold"/>
                <a:ea typeface="Montserrat SemiBold"/>
                <a:cs typeface="Montserrat SemiBold"/>
              </a:rPr>
              <a:t>Especialidades técnicas del IVA (3 de 3)</a:t>
            </a:r>
          </a:p>
        </p:txBody>
      </p:sp>
      <p:sp>
        <p:nvSpPr>
          <p:cNvPr id="3" name="Rounded Rectangle 2"/>
          <p:cNvSpPr/>
          <p:nvPr/>
        </p:nvSpPr>
        <p:spPr>
          <a:xfrm>
            <a:off x="73152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Aeródromos y seguridad</a:t>
            </a:r>
          </a:p>
        </p:txBody>
      </p:sp>
      <p:sp>
        <p:nvSpPr>
          <p:cNvPr id="4" name="Rounded Rectangle 3"/>
          <p:cNvSpPr/>
          <p:nvPr/>
        </p:nvSpPr>
        <p:spPr>
          <a:xfrm>
            <a:off x="73152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18</a:t>
            </a:r>
          </a:p>
        </p:txBody>
      </p:sp>
      <p:sp>
        <p:nvSpPr>
          <p:cNvPr id="5" name="Rounded Rectangle 4"/>
          <p:cNvSpPr/>
          <p:nvPr/>
        </p:nvSpPr>
        <p:spPr>
          <a:xfrm>
            <a:off x="118872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IVA-AE</a:t>
            </a:r>
          </a:p>
        </p:txBody>
      </p:sp>
      <p:sp>
        <p:nvSpPr>
          <p:cNvPr id="6" name="Rounded Rectangle 5"/>
          <p:cNvSpPr/>
          <p:nvPr/>
        </p:nvSpPr>
        <p:spPr>
          <a:xfrm>
            <a:off x="283463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Aeródromos</a:t>
            </a:r>
          </a:p>
        </p:txBody>
      </p:sp>
      <p:sp>
        <p:nvSpPr>
          <p:cNvPr id="7" name="Rounded Rectangle 6"/>
          <p:cNvSpPr/>
          <p:nvPr/>
        </p:nvSpPr>
        <p:spPr>
          <a:xfrm>
            <a:off x="73152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19</a:t>
            </a:r>
          </a:p>
        </p:txBody>
      </p:sp>
      <p:sp>
        <p:nvSpPr>
          <p:cNvPr id="8" name="Rounded Rectangle 7"/>
          <p:cNvSpPr/>
          <p:nvPr/>
        </p:nvSpPr>
        <p:spPr>
          <a:xfrm>
            <a:off x="118872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IVA-AVSEC</a:t>
            </a:r>
          </a:p>
        </p:txBody>
      </p:sp>
      <p:sp>
        <p:nvSpPr>
          <p:cNvPr id="9" name="Rounded Rectangle 8"/>
          <p:cNvSpPr/>
          <p:nvPr/>
        </p:nvSpPr>
        <p:spPr>
          <a:xfrm>
            <a:off x="283463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Seguridad de la Aviación Civil</a:t>
            </a:r>
          </a:p>
        </p:txBody>
      </p:sp>
      <p:sp>
        <p:nvSpPr>
          <p:cNvPr id="10" name="Rounded Rectangle 9"/>
          <p:cNvSpPr/>
          <p:nvPr/>
        </p:nvSpPr>
        <p:spPr>
          <a:xfrm>
            <a:off x="731520" y="325465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20</a:t>
            </a:r>
          </a:p>
        </p:txBody>
      </p:sp>
      <p:sp>
        <p:nvSpPr>
          <p:cNvPr id="11" name="Rounded Rectangle 10"/>
          <p:cNvSpPr/>
          <p:nvPr/>
        </p:nvSpPr>
        <p:spPr>
          <a:xfrm>
            <a:off x="1188720" y="325465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IVA-SMS/SSP</a:t>
            </a:r>
          </a:p>
        </p:txBody>
      </p:sp>
      <p:sp>
        <p:nvSpPr>
          <p:cNvPr id="12" name="Rounded Rectangle 11"/>
          <p:cNvSpPr/>
          <p:nvPr/>
        </p:nvSpPr>
        <p:spPr>
          <a:xfrm>
            <a:off x="2834639" y="325465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Sistemas de Gestión de Seguridad Operacional</a:t>
            </a:r>
          </a:p>
        </p:txBody>
      </p:sp>
      <p:sp>
        <p:nvSpPr>
          <p:cNvPr id="13" name="Rounded Rectangle 12"/>
          <p:cNvSpPr/>
          <p:nvPr/>
        </p:nvSpPr>
        <p:spPr>
          <a:xfrm>
            <a:off x="6035040" y="1710643"/>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Instrucción</a:t>
            </a:r>
          </a:p>
        </p:txBody>
      </p:sp>
      <p:sp>
        <p:nvSpPr>
          <p:cNvPr id="14" name="Rounded Rectangle 13"/>
          <p:cNvSpPr/>
          <p:nvPr/>
        </p:nvSpPr>
        <p:spPr>
          <a:xfrm>
            <a:off x="6035040" y="2192110"/>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21</a:t>
            </a:r>
          </a:p>
        </p:txBody>
      </p:sp>
      <p:sp>
        <p:nvSpPr>
          <p:cNvPr id="15" name="Rounded Rectangle 14"/>
          <p:cNvSpPr/>
          <p:nvPr/>
        </p:nvSpPr>
        <p:spPr>
          <a:xfrm>
            <a:off x="6492240" y="2192110"/>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IIFTA</a:t>
            </a:r>
          </a:p>
        </p:txBody>
      </p:sp>
      <p:sp>
        <p:nvSpPr>
          <p:cNvPr id="16" name="Rounded Rectangle 15"/>
          <p:cNvSpPr/>
          <p:nvPr/>
        </p:nvSpPr>
        <p:spPr>
          <a:xfrm>
            <a:off x="8138159" y="2192110"/>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Instructor de Formación Técnica Aeronáutica</a:t>
            </a:r>
          </a:p>
        </p:txBody>
      </p:sp>
      <p:sp>
        <p:nvSpPr>
          <p:cNvPr id="17" name="Rounded Rectangle 16"/>
          <p:cNvSpPr/>
          <p:nvPr/>
        </p:nvSpPr>
        <p:spPr>
          <a:xfrm>
            <a:off x="6035040" y="2723385"/>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22</a:t>
            </a:r>
          </a:p>
        </p:txBody>
      </p:sp>
      <p:sp>
        <p:nvSpPr>
          <p:cNvPr id="18" name="Rounded Rectangle 17"/>
          <p:cNvSpPr/>
          <p:nvPr/>
        </p:nvSpPr>
        <p:spPr>
          <a:xfrm>
            <a:off x="6492240" y="2723385"/>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IIOJT</a:t>
            </a:r>
          </a:p>
        </p:txBody>
      </p:sp>
      <p:sp>
        <p:nvSpPr>
          <p:cNvPr id="19" name="Rounded Rectangle 18"/>
          <p:cNvSpPr/>
          <p:nvPr/>
        </p:nvSpPr>
        <p:spPr>
          <a:xfrm>
            <a:off x="8138159" y="2723385"/>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Instructor del OJT</a:t>
            </a:r>
          </a:p>
        </p:txBody>
      </p:sp>
      <p:sp>
        <p:nvSpPr>
          <p:cNvPr id="20" name="Rounded Rectangle 19"/>
          <p:cNvSpPr/>
          <p:nvPr/>
        </p:nvSpPr>
        <p:spPr>
          <a:xfrm>
            <a:off x="731520" y="3951957"/>
            <a:ext cx="5029200" cy="415058"/>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Jurídico y económico</a:t>
            </a:r>
          </a:p>
        </p:txBody>
      </p:sp>
      <p:sp>
        <p:nvSpPr>
          <p:cNvPr id="21" name="Rounded Rectangle 20"/>
          <p:cNvSpPr/>
          <p:nvPr/>
        </p:nvSpPr>
        <p:spPr>
          <a:xfrm>
            <a:off x="731520" y="4433424"/>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23</a:t>
            </a:r>
          </a:p>
        </p:txBody>
      </p:sp>
      <p:sp>
        <p:nvSpPr>
          <p:cNvPr id="22" name="Rounded Rectangle 21"/>
          <p:cNvSpPr/>
          <p:nvPr/>
        </p:nvSpPr>
        <p:spPr>
          <a:xfrm>
            <a:off x="1188720" y="4433424"/>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IV-JL</a:t>
            </a:r>
          </a:p>
        </p:txBody>
      </p:sp>
      <p:sp>
        <p:nvSpPr>
          <p:cNvPr id="23" name="Rounded Rectangle 22"/>
          <p:cNvSpPr/>
          <p:nvPr/>
        </p:nvSpPr>
        <p:spPr>
          <a:xfrm>
            <a:off x="2834639" y="4433424"/>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Jurídico Legal</a:t>
            </a:r>
          </a:p>
        </p:txBody>
      </p:sp>
      <p:sp>
        <p:nvSpPr>
          <p:cNvPr id="24" name="Rounded Rectangle 23"/>
          <p:cNvSpPr/>
          <p:nvPr/>
        </p:nvSpPr>
        <p:spPr>
          <a:xfrm>
            <a:off x="731520" y="4964699"/>
            <a:ext cx="457200" cy="464865"/>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500" b="0" i="0" u="none">
                <a:solidFill>
                  <a:srgbClr val="5C6B7A"/>
                </a:solidFill>
                <a:latin typeface="Montserrat SemiBold"/>
                <a:ea typeface="Montserrat SemiBold"/>
                <a:cs typeface="Montserrat SemiBold"/>
              </a:rPr>
              <a:t>24</a:t>
            </a:r>
          </a:p>
        </p:txBody>
      </p:sp>
      <p:sp>
        <p:nvSpPr>
          <p:cNvPr id="25" name="Rounded Rectangle 24"/>
          <p:cNvSpPr/>
          <p:nvPr/>
        </p:nvSpPr>
        <p:spPr>
          <a:xfrm>
            <a:off x="1188720" y="4964699"/>
            <a:ext cx="1600200" cy="464865"/>
          </a:xfrm>
          <a:prstGeom prst="roundRect">
            <a:avLst>
              <a:gd name="adj" fmla="val 15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400" b="0" i="0" u="none">
                <a:solidFill>
                  <a:srgbClr val="FFFFFF"/>
                </a:solidFill>
                <a:latin typeface="Montserrat SemiBold"/>
                <a:ea typeface="Montserrat SemiBold"/>
                <a:cs typeface="Montserrat SemiBold"/>
              </a:rPr>
              <a:t>IV-TTA</a:t>
            </a:r>
          </a:p>
        </p:txBody>
      </p:sp>
      <p:sp>
        <p:nvSpPr>
          <p:cNvPr id="26" name="Rounded Rectangle 25"/>
          <p:cNvSpPr/>
          <p:nvPr/>
        </p:nvSpPr>
        <p:spPr>
          <a:xfrm>
            <a:off x="2834639" y="4964699"/>
            <a:ext cx="2926080" cy="464865"/>
          </a:xfrm>
          <a:prstGeom prst="roundRect">
            <a:avLst>
              <a:gd name="adj" fmla="val 12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0"/>
              </a:spcAft>
            </a:pPr>
            <a:r>
              <a:rPr sz="1500" b="0" i="0" u="none">
                <a:solidFill>
                  <a:srgbClr val="182430"/>
                </a:solidFill>
                <a:latin typeface="Montserrat Medium"/>
                <a:ea typeface="Montserrat Medium"/>
                <a:cs typeface="Montserrat Medium"/>
              </a:rPr>
              <a:t>Tarifas, Competencia y Regulación Económica</a:t>
            </a:r>
          </a:p>
        </p:txBody>
      </p:sp>
      <p:sp>
        <p:nvSpPr>
          <p:cNvPr id="27" name="TextBox 26"/>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4.3 (conforme a la Carta de Política vigente). Agrupación didáctica.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2.4 DESIGNACIÓN DE INSTRUCTORES Y CRITERIOS DE SELECCIÓN</a:t>
            </a:r>
          </a:p>
          <a:p>
            <a:pPr algn="l"/>
            <a:r>
              <a:rPr sz="2800" b="0" i="0" u="none">
                <a:solidFill>
                  <a:srgbClr val="FFFFFF"/>
                </a:solidFill>
                <a:latin typeface="Montserrat SemiBold"/>
                <a:ea typeface="Montserrat SemiBold"/>
                <a:cs typeface="Montserrat SemiBold"/>
              </a:rPr>
              <a:t>¿Quién designa a las figuras OJT?</a:t>
            </a:r>
          </a:p>
        </p:txBody>
      </p:sp>
      <p:sp>
        <p:nvSpPr>
          <p:cNvPr id="3" name="TextBox 2"/>
          <p:cNvSpPr txBox="1"/>
          <p:nvPr/>
        </p:nvSpPr>
        <p:spPr>
          <a:xfrm>
            <a:off x="731520" y="1669137"/>
            <a:ext cx="10424160" cy="830116"/>
          </a:xfrm>
          <a:prstGeom prst="rect">
            <a:avLst/>
          </a:prstGeom>
          <a:noFill/>
        </p:spPr>
        <p:txBody>
          <a:bodyPr wrap="square" lIns="45720" rIns="45720" anchor="t">
            <a:spAutoFit/>
          </a:bodyPr>
          <a:lstStyle/>
          <a:p>
            <a:pPr algn="ctr">
              <a:lnSpc>
                <a:spcPct val="100000"/>
              </a:lnSpc>
              <a:spcAft>
                <a:spcPts val="600"/>
              </a:spcAft>
            </a:pPr>
            <a:r>
              <a:rPr sz="1800" b="0" i="0" u="none">
                <a:solidFill>
                  <a:srgbClr val="182430"/>
                </a:solidFill>
                <a:latin typeface="Montserrat Medium"/>
                <a:ea typeface="Montserrat Medium"/>
                <a:cs typeface="Montserrat Medium"/>
              </a:rPr>
              <a:t>Los </a:t>
            </a:r>
            <a:r>
              <a:rPr sz="1800" b="1" i="0" u="none">
                <a:solidFill>
                  <a:srgbClr val="0E2A47"/>
                </a:solidFill>
                <a:highlight>
                  <a:srgbClr val="EFDDB0"/>
                </a:highlight>
                <a:latin typeface="Montserrat Medium"/>
                <a:ea typeface="Montserrat Medium"/>
                <a:cs typeface="Montserrat Medium"/>
              </a:rPr>
              <a:t>titulares de las Direcciones Ejecutivas, de Área y Comandancias</a:t>
            </a:r>
            <a:r>
              <a:rPr sz="1800" b="0" i="0" u="none">
                <a:solidFill>
                  <a:srgbClr val="182430"/>
                </a:solidFill>
                <a:latin typeface="Montserrat Medium"/>
                <a:ea typeface="Montserrat Medium"/>
                <a:cs typeface="Montserrat Medium"/>
              </a:rPr>
              <a:t> (AICM, AIFA y Regionales), a solicitud del CIAAC por medio de la CPEPT.</a:t>
            </a:r>
          </a:p>
        </p:txBody>
      </p:sp>
      <p:sp>
        <p:nvSpPr>
          <p:cNvPr id="4" name="Rounded Rectangle 3"/>
          <p:cNvSpPr/>
          <p:nvPr/>
        </p:nvSpPr>
        <p:spPr>
          <a:xfrm>
            <a:off x="73152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ICOJT</a:t>
            </a:r>
          </a:p>
        </p:txBody>
      </p:sp>
      <p:sp>
        <p:nvSpPr>
          <p:cNvPr id="5" name="Rounded Rectangle 4"/>
          <p:cNvSpPr/>
          <p:nvPr/>
        </p:nvSpPr>
        <p:spPr>
          <a:xfrm>
            <a:off x="73152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Uno por Dirección de área. Nivel de Enlace a Subdirector. ≥ 1 año en el programa OJT.</a:t>
            </a:r>
          </a:p>
        </p:txBody>
      </p:sp>
      <p:sp>
        <p:nvSpPr>
          <p:cNvPr id="6" name="Rounded Rectangle 5"/>
          <p:cNvSpPr/>
          <p:nvPr/>
        </p:nvSpPr>
        <p:spPr>
          <a:xfrm>
            <a:off x="338328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ICOJT-S</a:t>
            </a:r>
          </a:p>
        </p:txBody>
      </p:sp>
      <p:sp>
        <p:nvSpPr>
          <p:cNvPr id="7" name="Rounded Rectangle 6"/>
          <p:cNvSpPr/>
          <p:nvPr/>
        </p:nvSpPr>
        <p:spPr>
          <a:xfrm>
            <a:off x="338328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Suplente: apoya al ICOJT en sus ausencias.</a:t>
            </a:r>
          </a:p>
        </p:txBody>
      </p:sp>
      <p:sp>
        <p:nvSpPr>
          <p:cNvPr id="8" name="Rounded Rectangle 7"/>
          <p:cNvSpPr/>
          <p:nvPr/>
        </p:nvSpPr>
        <p:spPr>
          <a:xfrm>
            <a:off x="603504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IPOJT</a:t>
            </a:r>
          </a:p>
        </p:txBody>
      </p:sp>
      <p:sp>
        <p:nvSpPr>
          <p:cNvPr id="9" name="Rounded Rectangle 8"/>
          <p:cNvSpPr/>
          <p:nvPr/>
        </p:nvSpPr>
        <p:spPr>
          <a:xfrm>
            <a:off x="603504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Uno o más, según las necesidades del área.</a:t>
            </a:r>
          </a:p>
        </p:txBody>
      </p:sp>
      <p:sp>
        <p:nvSpPr>
          <p:cNvPr id="10" name="Rounded Rectangle 9"/>
          <p:cNvSpPr/>
          <p:nvPr/>
        </p:nvSpPr>
        <p:spPr>
          <a:xfrm>
            <a:off x="8686800" y="2706783"/>
            <a:ext cx="2468880" cy="581081"/>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IOJT</a:t>
            </a:r>
          </a:p>
        </p:txBody>
      </p:sp>
      <p:sp>
        <p:nvSpPr>
          <p:cNvPr id="11" name="Rounded Rectangle 10"/>
          <p:cNvSpPr/>
          <p:nvPr/>
        </p:nvSpPr>
        <p:spPr>
          <a:xfrm>
            <a:off x="8686800" y="3287864"/>
            <a:ext cx="2468880" cy="2324325"/>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0"/>
              </a:spcAft>
            </a:pPr>
            <a:r>
              <a:rPr sz="1500" b="0" i="0" u="none">
                <a:solidFill>
                  <a:srgbClr val="182430"/>
                </a:solidFill>
                <a:latin typeface="Montserrat Medium"/>
                <a:ea typeface="Montserrat Medium"/>
                <a:cs typeface="Montserrat Medium"/>
              </a:rPr>
              <a:t>Uno o más, según las necesidades del área.</a:t>
            </a:r>
          </a:p>
        </p:txBody>
      </p:sp>
      <p:sp>
        <p:nvSpPr>
          <p:cNvPr id="12" name="TextBox 11"/>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2.4 DESIGNACIÓN DE INSTRUCTORES Y CRITERIOS DE SELECCIÓN</a:t>
            </a:r>
          </a:p>
          <a:p>
            <a:pPr algn="l"/>
            <a:r>
              <a:rPr sz="2800" b="0" i="0" u="none">
                <a:solidFill>
                  <a:srgbClr val="FFFFFF"/>
                </a:solidFill>
                <a:latin typeface="Montserrat SemiBold"/>
                <a:ea typeface="Montserrat SemiBold"/>
                <a:cs typeface="Montserrat SemiBold"/>
              </a:rPr>
              <a:t>Procedimiento de designación</a:t>
            </a:r>
          </a:p>
        </p:txBody>
      </p:sp>
      <p:sp>
        <p:nvSpPr>
          <p:cNvPr id="3" name="Oval 2"/>
          <p:cNvSpPr/>
          <p:nvPr/>
        </p:nvSpPr>
        <p:spPr>
          <a:xfrm>
            <a:off x="164592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1</a:t>
            </a:r>
          </a:p>
        </p:txBody>
      </p:sp>
      <p:sp>
        <p:nvSpPr>
          <p:cNvPr id="4" name="Rounded Rectangle 3"/>
          <p:cNvSpPr/>
          <p:nvPr/>
        </p:nvSpPr>
        <p:spPr>
          <a:xfrm>
            <a:off x="73152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CPEPT solicita la designación</a:t>
            </a:r>
          </a:p>
        </p:txBody>
      </p:sp>
      <p:sp>
        <p:nvSpPr>
          <p:cNvPr id="5" name="Oval 4"/>
          <p:cNvSpPr/>
          <p:nvPr/>
        </p:nvSpPr>
        <p:spPr>
          <a:xfrm>
            <a:off x="429768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2</a:t>
            </a:r>
          </a:p>
        </p:txBody>
      </p:sp>
      <p:sp>
        <p:nvSpPr>
          <p:cNvPr id="6" name="Rounded Rectangle 5"/>
          <p:cNvSpPr/>
          <p:nvPr/>
        </p:nvSpPr>
        <p:spPr>
          <a:xfrm>
            <a:off x="338328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El área propone por oficio</a:t>
            </a:r>
          </a:p>
        </p:txBody>
      </p:sp>
      <p:sp>
        <p:nvSpPr>
          <p:cNvPr id="7" name="Oval 6"/>
          <p:cNvSpPr/>
          <p:nvPr/>
        </p:nvSpPr>
        <p:spPr>
          <a:xfrm>
            <a:off x="694944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3</a:t>
            </a:r>
          </a:p>
        </p:txBody>
      </p:sp>
      <p:sp>
        <p:nvSpPr>
          <p:cNvPr id="8" name="Rounded Rectangle 7"/>
          <p:cNvSpPr/>
          <p:nvPr/>
        </p:nvSpPr>
        <p:spPr>
          <a:xfrm>
            <a:off x="603504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CPEPT revisa el expediente</a:t>
            </a:r>
          </a:p>
        </p:txBody>
      </p:sp>
      <p:sp>
        <p:nvSpPr>
          <p:cNvPr id="9" name="Oval 8"/>
          <p:cNvSpPr/>
          <p:nvPr/>
        </p:nvSpPr>
        <p:spPr>
          <a:xfrm>
            <a:off x="9601200" y="1835161"/>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4</a:t>
            </a:r>
          </a:p>
        </p:txBody>
      </p:sp>
      <p:sp>
        <p:nvSpPr>
          <p:cNvPr id="10" name="Rounded Rectangle 9"/>
          <p:cNvSpPr/>
          <p:nvPr/>
        </p:nvSpPr>
        <p:spPr>
          <a:xfrm>
            <a:off x="8686800" y="241624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Coord. de Programas corrobora datos</a:t>
            </a:r>
          </a:p>
        </p:txBody>
      </p:sp>
      <p:sp>
        <p:nvSpPr>
          <p:cNvPr id="11" name="Oval 10"/>
          <p:cNvSpPr/>
          <p:nvPr/>
        </p:nvSpPr>
        <p:spPr>
          <a:xfrm>
            <a:off x="164592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5</a:t>
            </a:r>
          </a:p>
        </p:txBody>
      </p:sp>
      <p:sp>
        <p:nvSpPr>
          <p:cNvPr id="12" name="Rounded Rectangle 11"/>
          <p:cNvSpPr/>
          <p:nvPr/>
        </p:nvSpPr>
        <p:spPr>
          <a:xfrm>
            <a:off x="731520" y="4200992"/>
            <a:ext cx="2377440" cy="996139"/>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CPEPT emite oficio de aprobación</a:t>
            </a:r>
          </a:p>
        </p:txBody>
      </p:sp>
      <p:sp>
        <p:nvSpPr>
          <p:cNvPr id="13" name="Oval 12"/>
          <p:cNvSpPr/>
          <p:nvPr/>
        </p:nvSpPr>
        <p:spPr>
          <a:xfrm>
            <a:off x="429768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6</a:t>
            </a:r>
          </a:p>
        </p:txBody>
      </p:sp>
      <p:sp>
        <p:nvSpPr>
          <p:cNvPr id="14" name="Rounded Rectangle 13"/>
          <p:cNvSpPr/>
          <p:nvPr/>
        </p:nvSpPr>
        <p:spPr>
          <a:xfrm>
            <a:off x="3383280" y="420099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El área notifica al IVA</a:t>
            </a:r>
          </a:p>
        </p:txBody>
      </p:sp>
      <p:sp>
        <p:nvSpPr>
          <p:cNvPr id="15" name="Oval 14"/>
          <p:cNvSpPr/>
          <p:nvPr/>
        </p:nvSpPr>
        <p:spPr>
          <a:xfrm>
            <a:off x="694944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7</a:t>
            </a:r>
          </a:p>
        </p:txBody>
      </p:sp>
      <p:sp>
        <p:nvSpPr>
          <p:cNvPr id="16" name="Rounded Rectangle 15"/>
          <p:cNvSpPr/>
          <p:nvPr/>
        </p:nvSpPr>
        <p:spPr>
          <a:xfrm>
            <a:off x="6035040" y="420099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IVA acusa de recibo</a:t>
            </a:r>
          </a:p>
        </p:txBody>
      </p:sp>
      <p:sp>
        <p:nvSpPr>
          <p:cNvPr id="17" name="Oval 16"/>
          <p:cNvSpPr/>
          <p:nvPr/>
        </p:nvSpPr>
        <p:spPr>
          <a:xfrm>
            <a:off x="9601200" y="3619909"/>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8</a:t>
            </a:r>
          </a:p>
        </p:txBody>
      </p:sp>
      <p:sp>
        <p:nvSpPr>
          <p:cNvPr id="18" name="Rounded Rectangle 17"/>
          <p:cNvSpPr/>
          <p:nvPr/>
        </p:nvSpPr>
        <p:spPr>
          <a:xfrm>
            <a:off x="8686800" y="4200992"/>
            <a:ext cx="2377440" cy="996139"/>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182430"/>
                </a:solidFill>
                <a:latin typeface="Montserrat Medium"/>
                <a:ea typeface="Montserrat Medium"/>
                <a:cs typeface="Montserrat Medium"/>
              </a:rPr>
              <a:t>Acuse al expediente e informe trimestral</a:t>
            </a:r>
          </a:p>
        </p:txBody>
      </p:sp>
      <p:sp>
        <p:nvSpPr>
          <p:cNvPr id="19" name="TextBox 18"/>
          <p:cNvSpPr txBox="1"/>
          <p:nvPr/>
        </p:nvSpPr>
        <p:spPr>
          <a:xfrm>
            <a:off x="731520" y="5487672"/>
            <a:ext cx="10424160" cy="415058"/>
          </a:xfrm>
          <a:prstGeom prst="rect">
            <a:avLst/>
          </a:prstGeom>
          <a:noFill/>
        </p:spPr>
        <p:txBody>
          <a:bodyPr wrap="square" lIns="45720" rIns="45720" anchor="t">
            <a:spAutoFit/>
          </a:bodyPr>
          <a:lstStyle/>
          <a:p>
            <a:pPr algn="ctr">
              <a:lnSpc>
                <a:spcPct val="100000"/>
              </a:lnSpc>
              <a:spcAft>
                <a:spcPts val="600"/>
              </a:spcAft>
            </a:pPr>
            <a:r>
              <a:rPr sz="1600" b="0" i="0" u="none">
                <a:solidFill>
                  <a:srgbClr val="0E2A47"/>
                </a:solidFill>
                <a:latin typeface="Montserrat Medium"/>
                <a:ea typeface="Montserrat Medium"/>
                <a:cs typeface="Montserrat Medium"/>
              </a:rPr>
              <a:t>Si hay inconsistencias en el perfil, la CPEPT emite oficio con observaciones.</a:t>
            </a:r>
          </a:p>
        </p:txBody>
      </p:sp>
      <p:sp>
        <p:nvSpPr>
          <p:cNvPr id="20" name="TextBox 19"/>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4.7 (P-DCIA-CPEPT-03-R04).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2.4 DESIGNACIÓN DE INSTRUCTORES Y CRITERIOS DE SELECCIÓN</a:t>
            </a:r>
          </a:p>
          <a:p>
            <a:pPr algn="l"/>
            <a:r>
              <a:rPr sz="2800" b="0" i="0" u="none">
                <a:solidFill>
                  <a:srgbClr val="FFFFFF"/>
                </a:solidFill>
                <a:latin typeface="Montserrat SemiBold"/>
                <a:ea typeface="Montserrat SemiBold"/>
                <a:cs typeface="Montserrat SemiBold"/>
              </a:rPr>
              <a:t>Criterios para seleccionar instructores</a:t>
            </a:r>
          </a:p>
        </p:txBody>
      </p:sp>
      <p:sp>
        <p:nvSpPr>
          <p:cNvPr id="3" name="Rounded Rectangle 2"/>
          <p:cNvSpPr/>
          <p:nvPr/>
        </p:nvSpPr>
        <p:spPr>
          <a:xfrm>
            <a:off x="731520" y="1752149"/>
            <a:ext cx="502920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Técnicos</a:t>
            </a:r>
          </a:p>
        </p:txBody>
      </p:sp>
      <p:sp>
        <p:nvSpPr>
          <p:cNvPr id="4" name="Rounded Rectangle 3"/>
          <p:cNvSpPr/>
          <p:nvPr/>
        </p:nvSpPr>
        <p:spPr>
          <a:xfrm>
            <a:off x="731520" y="233322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Curso de Instructor OJT aprobado</a:t>
            </a:r>
          </a:p>
        </p:txBody>
      </p:sp>
      <p:sp>
        <p:nvSpPr>
          <p:cNvPr id="5" name="Rounded Rectangle 4"/>
          <p:cNvSpPr/>
          <p:nvPr/>
        </p:nvSpPr>
        <p:spPr>
          <a:xfrm>
            <a:off x="731520" y="3163346"/>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Curso básico o recurrente de la especialidad</a:t>
            </a:r>
          </a:p>
        </p:txBody>
      </p:sp>
      <p:sp>
        <p:nvSpPr>
          <p:cNvPr id="6" name="Rounded Rectangle 5"/>
          <p:cNvSpPr/>
          <p:nvPr/>
        </p:nvSpPr>
        <p:spPr>
          <a:xfrm>
            <a:off x="731520" y="3993463"/>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5 años en la especialidad o 1 año continuo en la actividad</a:t>
            </a:r>
          </a:p>
        </p:txBody>
      </p:sp>
      <p:sp>
        <p:nvSpPr>
          <p:cNvPr id="7" name="Rounded Rectangle 6"/>
          <p:cNvSpPr/>
          <p:nvPr/>
        </p:nvSpPr>
        <p:spPr>
          <a:xfrm>
            <a:off x="731520" y="482357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Niveles OJT acreditados en las tareas que impartirá</a:t>
            </a:r>
          </a:p>
        </p:txBody>
      </p:sp>
      <p:sp>
        <p:nvSpPr>
          <p:cNvPr id="8" name="Rounded Rectangle 7"/>
          <p:cNvSpPr/>
          <p:nvPr/>
        </p:nvSpPr>
        <p:spPr>
          <a:xfrm>
            <a:off x="6035040" y="1752149"/>
            <a:ext cx="5029200" cy="498069"/>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Actitudinales</a:t>
            </a:r>
          </a:p>
        </p:txBody>
      </p:sp>
      <p:sp>
        <p:nvSpPr>
          <p:cNvPr id="9" name="Rounded Rectangle 8"/>
          <p:cNvSpPr/>
          <p:nvPr/>
        </p:nvSpPr>
        <p:spPr>
          <a:xfrm>
            <a:off x="6035040" y="233322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Comunicación, escucha y paciencia</a:t>
            </a:r>
          </a:p>
        </p:txBody>
      </p:sp>
      <p:sp>
        <p:nvSpPr>
          <p:cNvPr id="10" name="Rounded Rectangle 9"/>
          <p:cNvSpPr/>
          <p:nvPr/>
        </p:nvSpPr>
        <p:spPr>
          <a:xfrm>
            <a:off x="6035040" y="3163346"/>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Interés en la capacitación OJT</a:t>
            </a:r>
          </a:p>
        </p:txBody>
      </p:sp>
      <p:sp>
        <p:nvSpPr>
          <p:cNvPr id="11" name="Rounded Rectangle 10"/>
          <p:cNvSpPr/>
          <p:nvPr/>
        </p:nvSpPr>
        <p:spPr>
          <a:xfrm>
            <a:off x="6035040" y="3993463"/>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Respeto por sus compañeros</a:t>
            </a:r>
          </a:p>
        </p:txBody>
      </p:sp>
      <p:sp>
        <p:nvSpPr>
          <p:cNvPr id="12" name="Rounded Rectangle 11"/>
          <p:cNvSpPr/>
          <p:nvPr/>
        </p:nvSpPr>
        <p:spPr>
          <a:xfrm>
            <a:off x="6035040" y="4823579"/>
            <a:ext cx="5029200" cy="73050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0"/>
              </a:spcAft>
            </a:pPr>
            <a:r>
              <a:rPr sz="1500" b="0" i="0" u="none">
                <a:solidFill>
                  <a:srgbClr val="182430"/>
                </a:solidFill>
                <a:latin typeface="Montserrat Medium"/>
                <a:ea typeface="Montserrat Medium"/>
                <a:cs typeface="Montserrat Medium"/>
              </a:rPr>
              <a:t>Disposición a seguir las directrices</a:t>
            </a:r>
          </a:p>
        </p:txBody>
      </p:sp>
      <p:sp>
        <p:nvSpPr>
          <p:cNvPr id="13" name="TextBox 12"/>
          <p:cNvSpPr txBox="1"/>
          <p:nvPr/>
        </p:nvSpPr>
        <p:spPr>
          <a:xfrm>
            <a:off x="731520" y="5944236"/>
            <a:ext cx="8686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4.8.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pPr algn="ctr"/>
            <a:r>
              <a:rPr sz="3700" b="0" i="0" u="none">
                <a:solidFill>
                  <a:srgbClr val="0E2A47"/>
                </a:solidFill>
                <a:latin typeface="Montserrat SemiBold"/>
                <a:ea typeface="Montserrat SemiBold"/>
                <a:cs typeface="Montserrat SemiBold"/>
              </a:rPr>
              <a:t>¡Gracias!</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14912</TotalTime>
  <Words>2002</Words>
  <Application>Microsoft Office PowerPoint</Application>
  <PresentationFormat>Panorámica</PresentationFormat>
  <Paragraphs>258</Paragraphs>
  <Slides>17</Slides>
  <Notes>14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17</vt:i4>
      </vt:variant>
    </vt:vector>
  </HeadingPairs>
  <TitlesOfParts>
    <vt:vector size="25" baseType="lpstr">
      <vt:lpstr>Aptos</vt:lpstr>
      <vt:lpstr>Aptos Display</vt:lpstr>
      <vt:lpstr>Arial</vt:lpstr>
      <vt:lpstr>Montserrat</vt:lpstr>
      <vt:lpstr>Montserrat Medium</vt:lpstr>
      <vt:lpstr>Montserrat SemiBold</vt:lpstr>
      <vt:lpstr>Noto Sans</vt:lpstr>
      <vt:lpstr>Tema de Office</vt:lpstr>
      <vt:lpstr>Módulo 2 Requisitos de implementación del Programa OJT Programa de Entrenamiento en el Puesto de Trabajo</vt:lpstr>
      <vt:lpstr>ACTIVIDAD DE INICIO Para iniciar, reflexiona</vt:lpstr>
      <vt:lpstr>2.1 REQUISITOS GENERALES PARA EL ENTRENAMIENTO OJT Requisitos para realizar el OJT</vt:lpstr>
      <vt:lpstr>2.1 REQUISITOS GENERALES PARA EL ENTRENAMIENTO OJT Lista de verificación antes de iniciar</vt:lpstr>
      <vt:lpstr>2.2 NIVELES DE ENTRENAMIENTO OJT: 1, 2 Y 3 Tres niveles progresivos por tarea</vt:lpstr>
      <vt:lpstr>2.2 NIVELES DE ENTRENAMIENTO OJT: 1, 2 Y 3 Nivel 1: Conocimiento aplicado</vt:lpstr>
      <vt:lpstr>2.2 NIVELES DE ENTRENAMIENTO OJT: 1, 2 Y 3 Nivel 2: Demostración</vt:lpstr>
      <vt:lpstr>2.2 NIVELES DE ENTRENAMIENTO OJT: 1, 2 Y 3 Nivel 3: Ejecución supervisada</vt:lpstr>
      <vt:lpstr>2.2 NIVELES DE ENTRENAMIENTO OJT: 1, 2 Y 3 ¿Y si el resultado no es satisfactorio?</vt:lpstr>
      <vt:lpstr>2.2 NIVELES DE ENTRENAMIENTO OJT: 1, 2 Y 3 Entrenamiento previo: convalidación</vt:lpstr>
      <vt:lpstr>2.3 ESPECIALIDADES TÉCNICAS DEL IVA (24) Especialidades técnicas del IVA (1 de 3)</vt:lpstr>
      <vt:lpstr>2.3 ESPECIALIDADES TÉCNICAS DEL IVA (24) Especialidades técnicas del IVA (2 de 3)</vt:lpstr>
      <vt:lpstr>2.3 ESPECIALIDADES TÉCNICAS DEL IVA (24) Especialidades técnicas del IVA (3 de 3)</vt:lpstr>
      <vt:lpstr>2.4 DESIGNACIÓN DE INSTRUCTORES Y CRITERIOS DE SELECCIÓN ¿Quién designa a las figuras OJT?</vt:lpstr>
      <vt:lpstr>2.4 DESIGNACIÓN DE INSTRUCTORES Y CRITERIOS DE SELECCIÓN Procedimiento de designación</vt:lpstr>
      <vt:lpstr>2.4 DESIGNACIÓN DE INSTRUCTORES Y CRITERIOS DE SELECCIÓN Criterios para seleccionar instructores</vt:lpstr>
      <vt:lpstr>¡Gracias!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AVANZADO PARA EL INSPECTOR VERIFICADOR AERONÁUTICO DE INVESTIGACIÓN ADMINISTRATIVA Y SEGURIDAD AÉREA (IVA-IASA)</dc:title>
  <dc:creator>Ricardo Elias Delgado Villalobos</dc:creator>
  <cp:lastModifiedBy>Jose Manuel Figueroa Hernandez</cp:lastModifiedBy>
  <cp:revision>218</cp:revision>
  <dcterms:created xsi:type="dcterms:W3CDTF">2025-01-15T19:01:35Z</dcterms:created>
  <dcterms:modified xsi:type="dcterms:W3CDTF">2026-09-24T01:27:12Z</dcterms:modified>
</cp:coreProperties>
</file>